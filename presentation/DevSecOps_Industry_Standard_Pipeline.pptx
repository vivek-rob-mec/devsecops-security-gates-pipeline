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DevSecOps brings development, security and operations into one delivery process. This course uses a small online shop as a running example. The project is a reference architecture with scanner wrappers and integration templates; it is not a deployed application. Slides introduce the ideas, these notes explain them, and the handbook preserves the explanations for offline study. The existing filename is retained for compatibility; no universal industry standard mandates this exact pipeline.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beginner should be able to explain why a dependency scan cannot detect every bug in application code. An intermediate engineer should be able to interpret a finding and fix its cause. A professional should be able to show that the reports describe the exact artifact being released and that missing evidence blocks promotion. Use the companion handbook for the full notes and the glossary for terms. Sources are linked for verification and future maintenance, not required to follow the course.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is the code and configuration people edit. A deliverable, also called an artifact, is the package or container produced by the build. A running service includes that artifact plus environment, accounts, network access and data. These are different inspection targets. A secret scanner, dependency scanner, code analyzer, configuration checker and behavior test each answer a different question. Business authorization needs explicit tests that understand which customer owns which order.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CD can also mean Continuous Deployment, where passing changes are automatically deployed. State which meaning your team uses. A runner or agent is the machine that executes pipeline jobs. A registry stores container images; an artifact repository can also store packages and other build products. A commit identifies a source snapshot. A digest is a cryptographic identifier of content. Staging should resemble production closely enough for meaningful testing, while using controlled test accounts and data.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means the application is not exercised as a running target. Dynamic means tests send requests to a running target and observe results. Composition means the third-party pieces the software contains. Infrastructure as Code can describe a virtual network, storage permissions, a container build or a Kubernetes workload. An SBOM records components; it does not by itself say that all components are safe. A gate can reject findings, incomplete scans or missing evidence. JSON is a structured data format; SARIF is Static Analysis Results Interchange Format.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CVE identifies a specific vulnerability; its year is part of the identifier and is not a guaranteed discovery date. A CWE describes a weakness category and can describe problems that have no CVE. CVSS describes technical severity, rather than the probability of an attack against your service. A vector records the metric choices behind a score. A scanner alert may identify a custom rule, a weakness or an advisory without any CVE. The informal abbreviation CV is ambiguous; use CVE for identifiers and CVSS for severity.</a:t>
            </a:r>
          </a:p>
          <a:p/>
          <a:p>
            <a:r>
              <a:t>Primary sources (reviewed 2026-09-16):</a:t>
            </a:r>
          </a:p>
          <a:p>
            <a:r>
              <a:t>CVE identifier lifecycle: https://www.cve.org/about/Process</a:t>
            </a:r>
          </a:p>
          <a:p>
            <a:r>
              <a:t>MITRE Common Weakness Enumeration: https://cwe.mitre.org/about/index.html</a:t>
            </a:r>
          </a:p>
          <a:p>
            <a:r>
              <a:t>FIRST CVSS v4.0 specification: https://www.first.org/cvss/v4.0/specification-document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EPSS provides daily estimates for the probability of exploitation in the wild over the next 30 days. A percentile describes relative rank, not probability. CISA maintains KEV based on evidence of exploitation; absence from KEV is not proof of safety. Reachability asks whether execution can reach vulnerable functionality, subject to the analyzer's limits. Example policy: investigate a high-severity exposed component in KEV immediately; do not automatically dismiss another vulnerability because its EPSS is low. The repository wrappers implement severity thresholds, not automated EPSS, KEV or reachability enrichment.</a:t>
            </a:r>
          </a:p>
          <a:p/>
          <a:p>
            <a:r>
              <a:t>Primary sources (reviewed 2026-09-16):</a:t>
            </a:r>
          </a:p>
          <a:p>
            <a:r>
              <a:t>FIRST CVSS v4.0 specification: https://www.first.org/cvss/v4.0/specification-document</a:t>
            </a:r>
          </a:p>
          <a:p>
            <a:r>
              <a:t>FIRST Exploit Prediction Scoring System: https://www.first.org/epss/</a:t>
            </a:r>
          </a:p>
          <a:p>
            <a:r>
              <a:t>CISA official KEV data mirror: https://github.com/cisagov/kev-data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checkout, independent scans can run in parallel. Language-specific analysis may need dependency resolution or a compilation step first. Build the release artifact once. Container signing commonly acts on an image already pushed to a restricted candidate registry, because its digest must be known and signatures are stored alongside it. Candidate publication is not production approval. Later promotion changes availability or deployment references while preserving the approved digest. Runtime findings and new advisories start a new remediation cycle.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trust boundary is where data or control crosses between different levels of trust, such as a browser sending input to an application server. For the shop, an abuse case is customer A requesting customer B's order. Turn the threat into a requirement: every order lookup must authorize the authenticated customer against the order owner. Then write a test with two users. Threat modeling uses structured reasoning and architecture knowledge; it does not download a CVE database. See threat-model/template.md for a starting worksheet.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lockfile records resolved dependency versions; a manifest may only express broad constraints. Resolve dependencies in an isolated runner because installation and build scripts can execute third-party code. A unit test checks a small behavior; integration tests check cooperating components. Neither guarantees security unless the intended security behavior is asserted. A merge gate belongs on a protected branch and must be required by the hosting platform. Merely adding a YAML file under pipelines/ does not activate a GitHub workflow.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image tag such as latest is a changeable name. A reference containing @sha256: followed by 64 hexadecimal characters identifies specific content. Different builds of the same source may differ because dependencies, base images or timestamps changed. Provenance is a statement describing a build's inputs and builder. Signing provides an integrity and identity assertion; verifying the signature against an approved identity is a separate step. A signed artifact can still contain vulnerabilities. Multi-platform images require care: test and scan every deployable platform digest or define an explicit platform policy.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Application Programming Interface, or API, means the structured interface used by another program or client. DAST and API tests should exercise the same candidate that will be released. If an artifact changes after scanning, repeat the affected checks. A production rollout can initially serve a small share of traffic, called a canary. Rollback restores an earlier approved version; database changes may require a separate recovery plan. New vulnerability information requires rescanning retained artifacts or SBOMs even when no source code changes.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every security product compares against the National Vulnerability Database, abbreviated NVD. A code rule may recognize unsafe SQL construction without knowing a CVE. An admission rule may reject privileged containers without any vulnerability feed. A signature verifier compares cryptographic evidence with a trust policy. The relevant freshness question may be the advisory snapshot, the rule revision, the analyzer version or the certificate trust root. Record the specific data source used by each control.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Gitleaks combines configured detection rules with exclusions. Updating the executable refreshes embedded rules; a custom rules file changes through a reviewed configuration update. This project explicitly loads configs/gitleaks/.gitleaks.toml, extending the default rules. The wrapper checks the worktree and also reachable Git history when Git metadata exists. A downloaded ZIP contains no history. It redacts report secrets. A match requires investigation; any real exposed credential needs revocation or rotation, even if the code is deleted. Avoid broad allowlists that hide future exposures.</a:t>
            </a:r>
          </a:p>
          <a:p/>
          <a:p>
            <a:r>
              <a:t>Primary sources (reviewed 2026-09-16):</a:t>
            </a:r>
          </a:p>
          <a:p>
            <a:r>
              <a:t>Gitleaks detection and configuration: https://github.com/gitleaks/gitleaks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direct dependency is one the application requests; a transitive dependency is requested by another dependency. Package names alone are insufficient because names can overlap between ecosystems. Package URL, written purl, is a standardized component coordinate; Common Platform Enumeration, or CPE, identifies product/platform attributes and is common in NVD applicability data. Missing metadata, unsupported formats, repackaged libraries and unresolved versions can prevent correct identification. SCA matches known advisory information; it does not prove that an arbitrary unknown package is trustworthy.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Comparison is not a text search for the CVE string inside source files. It is an identity lookup followed by version-range evaluation. Lexical string comparison is wrong: a version containing 10 is not necessarily older than a version containing 9. Debian and RPM package revisions, epochs and distribution releases have their own ordering rules. A backport applies a security fix to an older maintained release without adopting the newest upstream version. Use the advisory for the actual package origin. A reported fixed version is a candidate remediation that still needs compatibility testing.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Trivy selects advisory sources according to package type and origin. Vendor advisories help account for distribution backports. The JSON report can identify the severity source, so two scanners can legitimately show different ratings. The source wrapper uses trivy fs; the image wrapper uses trivy image with an immutable reference. Config scanning is a separate operation. The current wrappers block HIGH and CRITICAL findings, including those without fixes. They do not calculate application reachability. The local Trivy configuration is now explicitly passed rather than merely stored in the repository.</a:t>
            </a:r>
          </a:p>
          <a:p/>
          <a:p>
            <a:r>
              <a:t>Primary sources (reviewed 2026-09-16):</a:t>
            </a:r>
          </a:p>
          <a:p>
            <a:r>
              <a:t>Trivy: vulnerability matching: https://trivy.dev/docs/latest/scanner/vulnerability/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Dependency-Check is common in Java projects but has multiple analyzers. An ambiguous product name can produce an incorrect CPE candidate; inspect evidence and scope any suppression to the proven mismatch. OSV aligns vulnerability records to open-source ecosystems, and advisories can have aliases such as CVE or GHSA identifiers. Grype uses its own provider aggregation and matching behavior. These are alternatives or targeted secondary checks, not mandatory duplicates. The repository only directly wraps Trivy. A product being mentioned in a tool matrix does not mean that it is installed or integrated.</a:t>
            </a:r>
          </a:p>
          <a:p/>
          <a:p>
            <a:r>
              <a:t>Primary sources (reviewed 2026-09-16):</a:t>
            </a:r>
          </a:p>
          <a:p>
            <a:r>
              <a:t>Dependency-Check detection model: https://devguide.owasp.org/en/05-implementation/02-dependencies/01-dependency-check/</a:t>
            </a:r>
          </a:p>
          <a:p>
            <a:r>
              <a:t>Open Source Vulnerabilities: https://osv.dev/</a:t>
            </a:r>
          </a:p>
          <a:p>
            <a:r>
              <a:t>Grype vulnerability scanning: https://github.com/anchore/grype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source is where untrusted input originates; a sink is where misuse can cause harm. Taint analysis tracks whether that input can reach the sink under the model used by the analyzer. An Abstract Syntax Tree, or AST, represents the structure of parsed code. Structural matching can recognize code patterns despite formatting changes. More advanced analysis may inspect control flow and relationships across functions or files. Framework support, reflection, generated code and missing build context can limit coverage. These techniques identify weakness patterns, not just known library CVEs.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project's Semgrep rule is deliberately small and is not a full application-security ruleset. It looks for shell failure suppression in scripts and pipeline templates. The wrapper now explicitly selects it, rather than fetching an automatically chosen ruleset. Set SEMGREP_CONFIG to an approved local rules directory when integrating an application. Community and commercial analysis capabilities differ; do not assume cross-file coverage from the product name alone. Semgrep scan ordinarily reports findings without necessarily returning a failing status unless error behavior is requested.</a:t>
            </a:r>
          </a:p>
          <a:p/>
          <a:p>
            <a:r>
              <a:t>Primary sources (reviewed 2026-09-16):</a:t>
            </a:r>
          </a:p>
          <a:p>
            <a:r>
              <a:t>Semgrep rule and analysis concepts: https://semgrep.dev/docs/writing-rules/glossary</a:t>
            </a:r>
          </a:p>
          <a:p>
            <a:r>
              <a:t>Semgrep command and exit semantics: https://docs.semgrep.dev/cli-reference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CodeQL creates a database from the target code and runs query suites against it; this database is not an NVD copy. Query-pack and analyzer updates affect coverage. SonarQube receives analyzer results and applies server-side configuration; a security hotspot may need human review rather than representing a confirmed vulnerability. Plugin, server and edition capabilities matter. Both tools need a functioning analysis integration and an enforced result in CI. This repository has guidance and an example Sonar configuration, but no complete server or CodeQL setup.</a:t>
            </a:r>
          </a:p>
          <a:p/>
          <a:p>
            <a:r>
              <a:t>Primary sources (reviewed 2026-09-16):</a:t>
            </a:r>
          </a:p>
          <a:p>
            <a:r>
              <a:t>CodeQL database and query model: https://docs.github.com/en/code-security/concepts/code-scanning/codeql/codeql-cli</a:t>
            </a:r>
          </a:p>
          <a:p>
            <a:r>
              <a:t>SonarQube analysis overview: https://docs.sonarsource.com/sonarqube-server/analyzing-source-code/overview</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Trivy config and Checkov inspect supported infrastructure formats. Checkov includes attribute and graph-based checks; graph analysis reasons about connected resources such as a service linked to a public network. A rule must consider explicit and inherited configuration, not just whether one string appears. Update the tool and policy bundles with review. Variables, dynamic templates and unmanaged changes can reduce accuracy, so inspect rendered manifests or plans when supported and audit the deployed environment separately. The current Trivy wrapper blocks HIGH and CRITICAL configuration findings.</a:t>
            </a:r>
          </a:p>
          <a:p/>
          <a:p>
            <a:r>
              <a:t>Primary sources (reviewed 2026-09-16):</a:t>
            </a:r>
          </a:p>
          <a:p>
            <a:r>
              <a:t>Checkov configuration and graph checks: https://www.checkov.io/1.Welcome/What%20is%20Checkov.html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image is a packaged filesystem and configuration. A container is a running instance of an image. Removing a file in a later layer does not necessarily remove its content from earlier layers, so never bake credentials into builds. Vulnerability, secret and configuration checks are distinct capabilities. This repository's image wrapper explicitly scans vulnerabilities and requires a digest; it does not claim to scan every image secret or enforce runtime hardening. New base-image vulnerabilities require rebuilding from an updated base and then rescanning the newly produced digest.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SBOM is analogous to an ingredient list: it supports later questions about whether an affected component is present. It can contain names, versions, identifiers, relationships, hashes and licenses, depending on format and producer. Syft is an inventory generator, rather than a CVE matching engine. A generator does not need a vulnerability database to list packages. The quality of later vulnerability matching depends on inventory completeness. This project can generate CycloneDX JSON for a digest, but does not validate a full release evidence package or perform automatic inventory ingestion.</a:t>
            </a:r>
          </a:p>
          <a:p/>
          <a:p>
            <a:r>
              <a:t>Primary sources (reviewed 2026-09-16):</a:t>
            </a:r>
          </a:p>
          <a:p>
            <a:r>
              <a:t>Syft software inventory: https://github.com/anchore/syft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Cosign supports verification using public keys or certificate identity and issuer constraints. OpenID Connect, or OIDC, can provide a short-lived workload identity used in keyless signing flows. Fulcio and Rekor are Sigstore services involved in certificates and transparency evidence. A transparency log records evidence; it does not prove the software has no vulnerabilities. Never accept any valid signer when only one build workflow is trusted. The project signing wrapper signs an explicit digest but leaves key or workload-identity setup to the organization; production verification remains an integration requirement.</a:t>
            </a:r>
          </a:p>
          <a:p/>
          <a:p>
            <a:r>
              <a:t>Primary sources (reviewed 2026-09-16):</a:t>
            </a:r>
          </a:p>
          <a:p>
            <a:r>
              <a:t>Cosign signature verification: https://docs.sigstore.dev/cosign/verifying/verify/</a:t>
            </a:r>
          </a:p>
          <a:p>
            <a:r>
              <a:t>SLSA v1.2 specification: https://slsa.dev/spec/v1.2/</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Crawling means visiting reachable links to discover pages. A traditional spider may miss JavaScript routes; browser-assisted discovery may improve coverage. Passive scanning observes messages without attack payloads. Active scanning sends test inputs and can change state or consume resources. The comparison knowledge is usually scanner rules and expected behavior, not just a downloaded list of CVEs. A running target can also be fingerprinted for known components, but that does not replace dependency analysis. Authentication and route coverage are essential to interpret a clean result.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baseline script generally exits 0 on success, 1 for configured FAIL alerts, 2 for WARN alerts without FAILs, and 3 for other failure. The full-scan script adds active scanning. Do not silence these distinctions with shell failure suppression. Keep the ZAP image or version and add-on list with the report. Updating add-ons changes the installed rules; there is no universal ZAP CVE refresh interval. The current project DAST wrapper is an integration stub: it now exits with an error instead of pretending that a scan occurred.</a:t>
            </a:r>
          </a:p>
          <a:p/>
          <a:p>
            <a:r>
              <a:t>Primary sources (reviewed 2026-09-16):</a:t>
            </a:r>
          </a:p>
          <a:p>
            <a:r>
              <a:t>ZAP baseline scope and exit codes: https://www.zaproxy.org/docs/docker/baseline-scan/</a:t>
            </a:r>
          </a:p>
          <a:p>
            <a:r>
              <a:t>ZAP full scan: https://www.zaproxy.org/docs/docker/full-scan/</a:t>
            </a:r>
          </a:p>
          <a:p>
            <a:r>
              <a:t>ZAP add-ons and rules: https://www.zaproxy.org/docs/desktop/addons/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Authentication answers who the requester is. Authorization answers whether that requester may perform this action on this object. Broken Object Level Authorization, or BOLA, and Insecure Direct Object Reference, or IDOR, describe related object-access failures. A generic scanner usually cannot infer the intended customer ownership model. API schema testing can find malformed input handling, while deliberate role and ownership tests establish business rules. Save expected and observed results, but redact tokens and customer information. Run these tests against the same candidate digest used for other staging checks.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Kubernetes is a platform for running containerized workloads. A Pod groups containers scheduled together. Admission policy can require non-root execution, restrict registries or verify images. Open Policy Agent is commonly shortened to OPA; Gatekeeper integrates OPA policies with Kubernetes. Policy definitions and engine releases are the update sources, rather than a CVE feed. The sample require-non-root rule only illustrates ordinary-container checks and uses Audit. Extend and test it for inherited settings, init containers and ephemeral containers before enforcing a real cluster policy.</a:t>
            </a:r>
          </a:p>
          <a:p/>
          <a:p>
            <a:r>
              <a:t>Primary sources (reviewed 2026-09-16):</a:t>
            </a:r>
          </a:p>
          <a:p>
            <a:r>
              <a:t>Kyverno admission validation: https://kyverno.io/docs/policy-types/cluster-policy/validate/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Falco rules define event conditions and alert messages. Depending on deployment, a driver or plugin supplies the events. This is behavior detection, not an inventory-to-CVE comparison. Rules, exceptions and engine support need maintenance. Starting a shell inside an application container may be suspicious but can also be an authorized operational action, so context matters. SIEM means Security Information and Event Management, a system for collecting and correlating events. EDR means Endpoint Detection and Response. The repository documents these controls but does not install a runtime sensor or automate incident response.</a:t>
            </a:r>
          </a:p>
          <a:p/>
          <a:p>
            <a:r>
              <a:t>Primary sources (reviewed 2026-09-16):</a:t>
            </a:r>
          </a:p>
          <a:p>
            <a:r>
              <a:t>Falco runtime rules: https://falco.org/docs/concepts/rules/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CVE Numbering Authority, or CNA, assigns identifiers within its scope. NVD adds vulnerability information and applicability data, but enrichment can lag publication. Vendor and ecosystem advisories may have usable information earlier. No scanner can guarantee detection of every newly discovered issue immediately. A database is a snapshot rather than a live assertion about the whole world. Track source publication, provider build, local download and actual scan times separately. Corrected or rejected records also need to propagate.</a:t>
            </a:r>
          </a:p>
          <a:p/>
          <a:p>
            <a:r>
              <a:t>Primary sources (reviewed 2026-09-16):</a:t>
            </a:r>
          </a:p>
          <a:p>
            <a:r>
              <a:t>CVE identifier lifecycle: https://www.cve.org/about/Process</a:t>
            </a:r>
          </a:p>
          <a:p>
            <a:r>
              <a:t>NVD vulnerability enrichment: https://nvd.nist.gov/general/FAQ-Sections/CVE-FAQs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Trivy DB repository documents a six-hour build schedule and a default metadata update interval of 24 hours; these are not the same promise. Its workflow confirms the publication schedule. Inspect your actual metadata and tool version to establish local behavior. The Java database maps Java artifacts to package coordinates; vulnerability decisions still need vulnerability intelligence. A Java index may be used when package identity is not already available from metadata. Do not write “all Trivy databases update every six hours” in an operational policy.</a:t>
            </a:r>
          </a:p>
          <a:p/>
          <a:p>
            <a:r>
              <a:t>Primary sources (reviewed 2026-09-16):</a:t>
            </a:r>
          </a:p>
          <a:p>
            <a:r>
              <a:t>Trivy database build and metadata: https://github.com/aquasecurity/trivy-db</a:t>
            </a:r>
          </a:p>
          <a:p>
            <a:r>
              <a:t>Trivy database publication schedule: https://raw.githubusercontent.com/aquasecurity/trivy-db/main/.github/workflows/cron.yml</a:t>
            </a:r>
          </a:p>
          <a:p>
            <a:r>
              <a:t>Trivy Java index: https://github.com/aquasecurity/trivy-java-db</a:t>
            </a:r>
          </a:p>
          <a:p>
            <a:r>
              <a:t>Java index publication schedule: https://raw.githubusercontent.com/aquasecurity/trivy-java-db/main/.github/workflows/cron.yml</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Dependency-Check exposes nvdValidForHours and updateonly; noupdate disables its automatic update behavior. API credentials and rate limits affect refresh success. A scanner update and a database update are different operations: a current executable can use stale advisory data, while a fresh database cannot repair an unsupported package parser. Grype, OSV services and commercial platforms have their own provider and client refresh behavior. Verify the pinned release's documentation and observed timestamps rather than promising one universal interval.</a:t>
            </a:r>
          </a:p>
          <a:p/>
          <a:p>
            <a:r>
              <a:t>Primary sources (reviewed 2026-09-16):</a:t>
            </a:r>
          </a:p>
          <a:p>
            <a:r>
              <a:t>Dependency-Check update options: https://dependency-check.github.io/DependencyCheck/dependency-check-cli/arguments.html</a:t>
            </a:r>
          </a:p>
          <a:p>
            <a:r>
              <a:t>FIRST Exploit Prediction Scoring System: https://www.first.org/epss/</a:t>
            </a:r>
          </a:p>
          <a:p>
            <a:r>
              <a:t>CISA official KEV data mirror: https://github.com/cisagov/kev-data</a:t>
            </a:r>
          </a:p>
          <a:p>
            <a:r>
              <a:t>ZAP add-ons and rules: https://www.zaproxy.org/docs/desktop/addons/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organization policy: permit an advisory snapshot up to 24 hours old for ordinary builds, with a stricter emergency response when an exploited vulnerability is announced. That threshold is a local decision. Offline environments need an approved mirror, verified transferred data, recorded origin and an expiry rule. Trivy supports download-only and skip-update options; skipping updates requires a separate freshness control. Cache data to reduce network load, but do not treat a cache hit as a quality guarantee. This repository explains this control; it does not yet enforce database age automatically.</a:t>
            </a:r>
          </a:p>
          <a:p/>
          <a:p>
            <a:r>
              <a:t>Primary sources (reviewed 2026-09-16):</a:t>
            </a:r>
          </a:p>
          <a:p>
            <a:r>
              <a:t>Trivy database refresh controls: https://trivy.dev/docs/latest/configuration/db/</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by confirming that the report belongs to the intended artifact and platform. Then verify package identification and advisory applicability. An empty fixed-version field usually means the source has not provided a fix; it does not mean safe. Multiple advisory aliases can describe the same vulnerability, so normalize aliases for counting without discarding separate affected components. Retain the raw report alongside normalized findings. The small reports/examples files in this repository are illustrative shapes, not complete vendor schemas or proof that a scan ran.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Triage means investigating and assigning a finding. Validate identity, version, advisory source and execution context before suppressing it. A suppression should name the exact issue, reason, scope, owner and review date. Vulnerability Exploitability eXchange, or VEX, can carry statements about whether a product is affected, with justification; assess the producer and applicability before relying on it. Unknown status is not the same as pass. A useful review includes scan coverage and errors, rather than merely a zero count.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policy documents describe richer future decisions involving reachability, KEV, approvals and exceptions. Those decisions are not implemented by the scanner wrappers. The executable defaults intentionally differ: a suspected secret match blocks for review, and a high vulnerability can block even when no fix exists. A shell exit status is a process result; a release decision requires verified evidence from all mandatory controls. Store reports in an always-run artifact step while preserving the failed job status. Do not accept an old report simply because it remains in a working directory.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Fail closed means uncertainty prevents promotion until a required condition is resolved. Reports supplied by an untrusted pull request are not trustworthy just because they parse as JSON. Generate evidence in the trusted build context, protect its storage and verify its binding to the candidate artifact. Independently verify signature and provenance; never substitute a user-editable signature_verified: true field. A deploy job should depend on the gate result and receive the exact digest from that decision. See docs/implementation/release-contract.md for the acceptance checklist and integration boundary.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UTC means Coordinated Universal Time, used to avoid ambiguous expiry checks across time zones. A compensating control reduces risk while the underlying issue is unresolved, such as disabling an affected feature. It must be evidenced, not assumed. An exception is different from a false-positive suppression: the former accepts a real risk, while the latter records that the reported condition does not apply. This project does not implement an exception parser or approval service. Do not bypass scanner errors by adding a blanket success override; integrate an authenticated decision system if exceptions are required.</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Retain both machine-readable data and logs explaining execution. A JSON report may not contain every required version or database timestamp, so preserve supplementary metadata. Reports may contain code paths, URLs or credentials; restrict access and redact secrets. Retention should match organizational needs. Evidence should be tied to a specific run and protected from modification by untrusted contributors. Hashes detect changes only when the expected hash itself comes from a trusted source. An SBOM and its attestation should refer to the same artifact as the release decision.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is no application to build or deploy in this folder. The directories named examples contain stack guidance, not complete services. CI files under pipelines are templates and must be installed into the appropriate application repository. A standard hosted runner is not guaranteed to include Gitleaks, Trivy or Semgrep. Provision reviewed tool versions before executing the wrappers. DAST and release gate entry points now intentionally return failure until application-specific implementations exist. This makes the template's limits visible rather than producing a misleading green release.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WSL means Windows Subsystem for Linux. PowerShell does not interpret Bash syntax directly; launch the scripts with a compatible bash executable. Use the repository root as the working directory. Preflight now checks that source-scan tools exist and fails when they are missing. Trivy needs an initialized current database or access to download one. The source ZIP has no Git history, but the worktree secret scan still runs. To test image or SBOM commands, set IMAGE_REF to a real approved registry image pinned by digest. No scanner binaries are bundled with this project.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manifest tells a package manager what is requested; resolved dependencies tell you what the build selected. A final image can contain additional system components absent from application lockfiles. Native tooling can improve ecosystem context, but its version and advisory service must also be tracked. Test the actual supported input formats for the scanner release you choose. A dependency may be used only during development, still present in the build environment, or shipped in production: these have different exposure. Retain enough evidence to distinguish them.</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Jenkins uses agents and pipeline stages; GitHub Actions uses workflows and jobs; GitLab CI uses jobs organized by stages; Azure DevOps uses pipelines, jobs and environments. The repository examples need a real tool-provisioning step or a reviewed runner image. Pin third-party actions to verified commit identifiers and container tools to digests, then maintain them through reviewed updates. Do not put privileged secrets on jobs that run untrusted pull-request code. A manual approval button does not replace artifact verification or completed security checks.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old release placeholder returned success without evaluating anything, and DAST printed instructions without scanning. Both now fail explicitly. Trivy commands now pass the supplied configuration and request a non-zero status for blocking findings. Semgrep uses the reviewed local demonstration rule with explicit finding/error behavior. The image, SBOM and signing wrappers reject mutable image references. Jenkins and GitLab no longer mask scanner or SBOM failures. A dedicated validation report records what was actually checked and which external integrations remain untested.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PATH is the operating system's command search list. If commands work in one terminal but not CI, compare environments and executable versions. A database schema mismatch may require a compatible tool/cache refresh rather than bypassing updates. A source scan with no supported dependencies can produce no vulnerability findings even though nothing meaningful was assessed. For DAST, confirm login success and route coverage. For SAST, check supported language parsers, skipped files and configuration loading. Report status and useful error messages should be preserved during failure.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Service Level Agreement, or SLA, often refers here to an internal remediation deadline rather than an external service contract. Define severity and exposure criteria and an escalation owner. Mean Time to Remediate, or MTTR, measures elapsed remediation time, but state when the clock starts and stops. A rescan alone does not patch production. The team must update dependencies or configuration, test the change and release a new artifact. Track supported versions and end-of-life components; unavailable maintenance changes the remediation options.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NIST is the National Institute of Standards and Technology. This material references the named SSDF v1.1 publication rather than claiming it is always the latest revision. SLSA is often pronounced salsa. Implementing a signature alone does not establish a SLSA level; the applicable requirements and builder properties matter. OWASP ASVS means Application Security Verification Standard; SAMM means Software Assurance Maturity Model. CIS means Center for Internet Security, whose benchmarks provide configuration guidance. Mapping a control to a standard is not equivalent to certification or a compliance determination.</a:t>
            </a:r>
          </a:p>
          <a:p/>
          <a:p>
            <a:r>
              <a:t>Primary sources (reviewed 2026-09-16):</a:t>
            </a:r>
          </a:p>
          <a:p>
            <a:r>
              <a:t>NIST SP 800-218 SSDF v1.1: https://csrc.nist.gov/pubs/sp/800/218/final</a:t>
            </a:r>
          </a:p>
          <a:p>
            <a:r>
              <a:t>SLSA v1.2 specification: https://slsa.dev/spec/v1.2/</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new control, first establish coverage and ownership, then test a passing case, a genuine violation and an operational failure. A control that works only on success is incomplete. Define an explicit observation period if tuning is necessary, and label results as advisory until enforcement is enabled. Measure scan coverage, freshness violations, bypasses, finding recurrence and remediation time alongside pipeline duration. Prioritize stable control ownership over accumulating products. The sample project is intentionally not an attempt to deploy every tool mentioned.</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1: the advisory data changed, so a new scan can match an existing component to newly available vulnerability information. Answer 2: baseline scanning primarily crawls and passively inspects discovered responses; business authorization requires authenticated users, ownership expectations and deliberate assertions. Answer 3: the report describes different content and cannot establish the release candidate's assessment. Additional exercise: explain why a Gitleaks match is not proof that a token is active, why an SBOM is not a vulnerability report, and why signing still requires identity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remaining two questions are who owns residual risk and what happens when new evidence appears. An effective DevSecOps system connects technical results with owners and operational response. No scanner guarantees that an application is free of vulnerabilities. The practical goal is to establish repeatable checks, make their limits visible, prevent unsupported promotion and respond quickly when knowledge changes. Read the handbook alongside the implementation quickstart and project review before adapting the pipeline.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references support the tool-specific descriptions. Review behavior against your pinned versions when maintaining the project. Product behavior and publication schedules can change.</a:t>
            </a:r>
          </a:p>
          <a:p/>
          <a:p>
            <a:r>
              <a:t>Primary sources (reviewed 2026-09-16):</a:t>
            </a:r>
          </a:p>
          <a:p>
            <a:r>
              <a:t>CVE identifier lifecycle: https://www.cve.org/about/Process</a:t>
            </a:r>
          </a:p>
          <a:p>
            <a:r>
              <a:t>NVD vulnerability enrichment: https://nvd.nist.gov/general/FAQ-Sections/CVE-FAQs</a:t>
            </a:r>
          </a:p>
          <a:p>
            <a:r>
              <a:t>Trivy: vulnerability matching: https://trivy.dev/docs/latest/scanner/vulnerability/</a:t>
            </a:r>
          </a:p>
          <a:p>
            <a:r>
              <a:t>Trivy database build and metadata: https://github.com/aquasecurity/trivy-db</a:t>
            </a:r>
          </a:p>
          <a:p>
            <a:r>
              <a:t>Trivy database publication schedule: https://raw.githubusercontent.com/aquasecurity/trivy-db/main/.github/workflows/cron.yml</a:t>
            </a:r>
          </a:p>
          <a:p>
            <a:r>
              <a:t>Trivy Java index: https://github.com/aquasecurity/trivy-java-db</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references support the tool-specific descriptions. Review behavior against your pinned versions when maintaining the project. Product behavior and publication schedules can change.</a:t>
            </a:r>
          </a:p>
          <a:p/>
          <a:p>
            <a:r>
              <a:t>Primary sources (reviewed 2026-09-16):</a:t>
            </a:r>
          </a:p>
          <a:p>
            <a:r>
              <a:t>Java index publication schedule: https://raw.githubusercontent.com/aquasecurity/trivy-java-db/main/.github/workflows/cron.yml</a:t>
            </a:r>
          </a:p>
          <a:p>
            <a:r>
              <a:t>Trivy database refresh controls: https://trivy.dev/docs/latest/configuration/db/</a:t>
            </a:r>
          </a:p>
          <a:p>
            <a:r>
              <a:t>Dependency-Check detection model: https://devguide.owasp.org/en/05-implementation/02-dependencies/01-dependency-check/</a:t>
            </a:r>
          </a:p>
          <a:p>
            <a:r>
              <a:t>Dependency-Check update options: https://dependency-check.github.io/DependencyCheck/dependency-check-cli/arguments.html</a:t>
            </a:r>
          </a:p>
          <a:p>
            <a:r>
              <a:t>Gitleaks detection and configuration: https://github.com/gitleaks/gitleaks</a:t>
            </a:r>
          </a:p>
          <a:p>
            <a:r>
              <a:t>Semgrep rule and analysis concepts: https://semgrep.dev/docs/writing-rules/glossary</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references support the tool-specific descriptions. Review behavior against your pinned versions when maintaining the project. Product behavior and publication schedules can change.</a:t>
            </a:r>
          </a:p>
          <a:p/>
          <a:p>
            <a:r>
              <a:t>Primary sources (reviewed 2026-09-16):</a:t>
            </a:r>
          </a:p>
          <a:p>
            <a:r>
              <a:t>Semgrep command and exit semantics: https://docs.semgrep.dev/cli-reference</a:t>
            </a:r>
          </a:p>
          <a:p>
            <a:r>
              <a:t>CodeQL database and query model: https://docs.github.com/en/code-security/concepts/code-scanning/codeql/codeql-cli</a:t>
            </a:r>
          </a:p>
          <a:p>
            <a:r>
              <a:t>SonarQube analysis overview: https://docs.sonarsource.com/sonarqube-server/analyzing-source-code/overview</a:t>
            </a:r>
          </a:p>
          <a:p>
            <a:r>
              <a:t>Checkov configuration and graph checks: https://www.checkov.io/1.Welcome/What%20is%20Checkov.html</a:t>
            </a:r>
          </a:p>
          <a:p>
            <a:r>
              <a:t>ZAP baseline scope and exit codes: https://www.zaproxy.org/docs/docker/baseline-scan/</a:t>
            </a:r>
          </a:p>
          <a:p>
            <a:r>
              <a:t>ZAP full scan: https://www.zaproxy.org/docs/docker/full-scan/</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references support the tool-specific descriptions. Review behavior against your pinned versions when maintaining the project. Product behavior and publication schedules can change.</a:t>
            </a:r>
          </a:p>
          <a:p/>
          <a:p>
            <a:r>
              <a:t>Primary sources (reviewed 2026-09-16):</a:t>
            </a:r>
          </a:p>
          <a:p>
            <a:r>
              <a:t>ZAP add-ons and rules: https://www.zaproxy.org/docs/desktop/addons/</a:t>
            </a:r>
          </a:p>
          <a:p>
            <a:r>
              <a:t>Syft software inventory: https://github.com/anchore/syft</a:t>
            </a:r>
          </a:p>
          <a:p>
            <a:r>
              <a:t>Grype vulnerability scanning: https://github.com/anchore/grype</a:t>
            </a:r>
          </a:p>
          <a:p>
            <a:r>
              <a:t>Cosign signature verification: https://docs.sigstore.dev/cosign/verifying/verify/</a:t>
            </a:r>
          </a:p>
          <a:p>
            <a:r>
              <a:t>Kyverno admission validation: https://kyverno.io/docs/policy-types/cluster-policy/validate/</a:t>
            </a:r>
          </a:p>
          <a:p>
            <a:r>
              <a:t>Falco runtime rules: https://falco.org/docs/concepts/rules/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references support the tool-specific descriptions. Review behavior against your pinned versions when maintaining the project. Product behavior and publication schedules can change.</a:t>
            </a:r>
          </a:p>
          <a:p/>
          <a:p>
            <a:r>
              <a:t>Primary sources (reviewed 2026-09-16):</a:t>
            </a:r>
          </a:p>
          <a:p>
            <a:r>
              <a:t>FIRST Exploit Prediction Scoring System: https://www.first.org/epss/</a:t>
            </a:r>
          </a:p>
          <a:p>
            <a:r>
              <a:t>FIRST CVSS v4.0 specification: https://www.first.org/cvss/v4.0/specification-document</a:t>
            </a:r>
          </a:p>
          <a:p>
            <a:r>
              <a:t>CISA official KEV data mirror: https://github.com/cisagov/kev-data</a:t>
            </a:r>
          </a:p>
          <a:p>
            <a:r>
              <a:t>MITRE Common Weakness Enumeration: https://cwe.mitre.org/about/index.html</a:t>
            </a:r>
          </a:p>
          <a:p>
            <a:r>
              <a:t>Open Source Vulnerabilities: https://osv.dev/</a:t>
            </a:r>
          </a:p>
          <a:p>
            <a:r>
              <a:t>NIST SP 800-218 SSDF v1.1: https://csrc.nist.gov/pubs/sp/800/218/final</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references support the tool-specific descriptions. Review behavior against your pinned versions when maintaining the project. Product behavior and publication schedules can change.</a:t>
            </a:r>
          </a:p>
          <a:p/>
          <a:p>
            <a:r>
              <a:t>Primary sources (reviewed 2026-09-16):</a:t>
            </a:r>
          </a:p>
          <a:p>
            <a:r>
              <a:t>SLSA v1.2 specification: https://slsa.dev/spec/v1.2/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START</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DevSecOps, explained from first principles</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Understand the flow. Understand the findings. Make a defensible release decision.</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FOUNDATIONS</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What each stage does, why it</a:t>
            </a:r>
          </a:p>
          <a:p>
            <a:pPr>
              <a:lnSpc>
                <a:spcPts val="2108"/>
              </a:lnSpc>
              <a:spcBef>
                <a:spcPts val="0"/>
              </a:spcBef>
              <a:spcAft>
                <a:spcPts val="0"/>
              </a:spcAft>
              <a:defRPr sz="1700" b="0">
                <a:solidFill>
                  <a:srgbClr val="182F45"/>
                </a:solidFill>
                <a:latin typeface="Arial"/>
              </a:defRPr>
            </a:pPr>
            <a:r>
              <a:t>exists, and the terms you need.</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DETECTION</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Inputs, working principles,</a:t>
            </a:r>
          </a:p>
          <a:p>
            <a:pPr>
              <a:lnSpc>
                <a:spcPts val="2108"/>
              </a:lnSpc>
              <a:spcBef>
                <a:spcPts val="0"/>
              </a:spcBef>
              <a:spcAft>
                <a:spcPts val="0"/>
              </a:spcAft>
              <a:defRPr sz="1700" b="0">
                <a:solidFill>
                  <a:srgbClr val="182F45"/>
                </a:solidFill>
                <a:latin typeface="Arial"/>
              </a:defRPr>
            </a:pPr>
            <a:r>
              <a:t>comparison data, updates and</a:t>
            </a:r>
          </a:p>
          <a:p>
            <a:pPr>
              <a:lnSpc>
                <a:spcPts val="2108"/>
              </a:lnSpc>
              <a:spcBef>
                <a:spcPts val="0"/>
              </a:spcBef>
              <a:spcAft>
                <a:spcPts val="0"/>
              </a:spcAft>
              <a:defRPr sz="1700" b="0">
                <a:solidFill>
                  <a:srgbClr val="182F45"/>
                </a:solidFill>
                <a:latin typeface="Arial"/>
              </a:defRPr>
            </a:pPr>
            <a:r>
              <a:t>blind spots.</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IMPLEMENTATION</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Repository commands, real gate</a:t>
            </a:r>
          </a:p>
          <a:p>
            <a:pPr>
              <a:lnSpc>
                <a:spcPts val="2108"/>
              </a:lnSpc>
              <a:spcBef>
                <a:spcPts val="0"/>
              </a:spcBef>
              <a:spcAft>
                <a:spcPts val="0"/>
              </a:spcAft>
              <a:defRPr sz="1700" b="0">
                <a:solidFill>
                  <a:srgbClr val="182F45"/>
                </a:solidFill>
                <a:latin typeface="Arial"/>
              </a:defRPr>
            </a:pPr>
            <a:r>
              <a:t>behavior, evidence and release</a:t>
            </a:r>
          </a:p>
          <a:p>
            <a:pPr>
              <a:lnSpc>
                <a:spcPts val="2108"/>
              </a:lnSpc>
              <a:spcBef>
                <a:spcPts val="0"/>
              </a:spcBef>
              <a:spcAft>
                <a:spcPts val="0"/>
              </a:spcAft>
              <a:defRPr sz="1700" b="0">
                <a:solidFill>
                  <a:srgbClr val="182F45"/>
                </a:solidFill>
                <a:latin typeface="Arial"/>
              </a:defRPr>
            </a:pPr>
            <a:r>
              <a:t>integration.</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Three learning paths, one consistent explanation.</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Project guidance • examples are illustrative</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01 / 57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START</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Choose a path through the material</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Read the main course in sequence; return to technical sections when implementing.</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BEGINNER</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Start with foundations and the</a:t>
            </a:r>
          </a:p>
          <a:p>
            <a:pPr>
              <a:lnSpc>
                <a:spcPts val="2108"/>
              </a:lnSpc>
              <a:spcBef>
                <a:spcPts val="0"/>
              </a:spcBef>
              <a:spcAft>
                <a:spcPts val="0"/>
              </a:spcAft>
              <a:defRPr sz="1700" b="0">
                <a:solidFill>
                  <a:srgbClr val="182F45"/>
                </a:solidFill>
                <a:latin typeface="Arial"/>
              </a:defRPr>
            </a:pPr>
            <a:r>
              <a:t>four pipeline phases. Read every</a:t>
            </a:r>
          </a:p>
          <a:p>
            <a:pPr>
              <a:lnSpc>
                <a:spcPts val="2108"/>
              </a:lnSpc>
              <a:spcBef>
                <a:spcPts val="0"/>
              </a:spcBef>
              <a:spcAft>
                <a:spcPts val="0"/>
              </a:spcAft>
              <a:defRPr sz="1700" b="0">
                <a:solidFill>
                  <a:srgbClr val="182F45"/>
                </a:solidFill>
                <a:latin typeface="Arial"/>
              </a:defRPr>
            </a:pPr>
            <a:r>
              <a:t>term and worked example.</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INTERMEDIATE</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Focus on detection, database</a:t>
            </a:r>
          </a:p>
          <a:p>
            <a:pPr>
              <a:lnSpc>
                <a:spcPts val="2108"/>
              </a:lnSpc>
              <a:spcBef>
                <a:spcPts val="0"/>
              </a:spcBef>
              <a:spcAft>
                <a:spcPts val="0"/>
              </a:spcAft>
              <a:defRPr sz="1700" b="0">
                <a:solidFill>
                  <a:srgbClr val="182F45"/>
                </a:solidFill>
                <a:latin typeface="Arial"/>
              </a:defRPr>
            </a:pPr>
            <a:r>
              <a:t>freshness, command behavior</a:t>
            </a:r>
          </a:p>
          <a:p>
            <a:pPr>
              <a:lnSpc>
                <a:spcPts val="2108"/>
              </a:lnSpc>
              <a:spcBef>
                <a:spcPts val="0"/>
              </a:spcBef>
              <a:spcAft>
                <a:spcPts val="0"/>
              </a:spcAft>
              <a:defRPr sz="1700" b="0">
                <a:solidFill>
                  <a:srgbClr val="182F45"/>
                </a:solidFill>
                <a:latin typeface="Arial"/>
              </a:defRPr>
            </a:pPr>
            <a:r>
              <a:t>and troubleshooting.</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PROFESSIONAL</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Review trust boundaries,</a:t>
            </a:r>
          </a:p>
          <a:p>
            <a:pPr>
              <a:lnSpc>
                <a:spcPts val="2108"/>
              </a:lnSpc>
              <a:spcBef>
                <a:spcPts val="0"/>
              </a:spcBef>
              <a:spcAft>
                <a:spcPts val="0"/>
              </a:spcAft>
              <a:defRPr sz="1700" b="0">
                <a:solidFill>
                  <a:srgbClr val="182F45"/>
                </a:solidFill>
                <a:latin typeface="Arial"/>
              </a:defRPr>
            </a:pPr>
            <a:r>
              <a:t>evidence integrity, exceptions</a:t>
            </a:r>
          </a:p>
          <a:p>
            <a:pPr>
              <a:lnSpc>
                <a:spcPts val="2108"/>
              </a:lnSpc>
              <a:spcBef>
                <a:spcPts val="0"/>
              </a:spcBef>
              <a:spcAft>
                <a:spcPts val="0"/>
              </a:spcAft>
              <a:defRPr sz="1700" b="0">
                <a:solidFill>
                  <a:srgbClr val="182F45"/>
                </a:solidFill>
                <a:latin typeface="Arial"/>
              </a:defRPr>
            </a:pPr>
            <a:r>
              <a:t>and the release contract.</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A scanner finding, a policy decision and a production release are different events.</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Project guidance • examples are illustrative</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02 / 57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01 FOUNDATIONS</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The problem: one change can carry many risks</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Example: a developer changes checkout in an online shop.</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SOURCE</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A token enters a file. A database</a:t>
            </a:r>
          </a:p>
          <a:p>
            <a:pPr>
              <a:lnSpc>
                <a:spcPts val="2108"/>
              </a:lnSpc>
              <a:spcBef>
                <a:spcPts val="0"/>
              </a:spcBef>
              <a:spcAft>
                <a:spcPts val="0"/>
              </a:spcAft>
              <a:defRPr sz="1700" b="0">
                <a:solidFill>
                  <a:srgbClr val="182F45"/>
                </a:solidFill>
                <a:latin typeface="Arial"/>
              </a:defRPr>
            </a:pPr>
            <a:r>
              <a:t>query uses unsafe input. A new</a:t>
            </a:r>
          </a:p>
          <a:p>
            <a:pPr>
              <a:lnSpc>
                <a:spcPts val="2108"/>
              </a:lnSpc>
              <a:spcBef>
                <a:spcPts val="0"/>
              </a:spcBef>
              <a:spcAft>
                <a:spcPts val="0"/>
              </a:spcAft>
              <a:defRPr sz="1700" b="0">
                <a:solidFill>
                  <a:srgbClr val="182F45"/>
                </a:solidFill>
                <a:latin typeface="Arial"/>
              </a:defRPr>
            </a:pPr>
            <a:r>
              <a:t>package brings old</a:t>
            </a:r>
          </a:p>
          <a:p>
            <a:pPr>
              <a:lnSpc>
                <a:spcPts val="2108"/>
              </a:lnSpc>
              <a:spcBef>
                <a:spcPts val="0"/>
              </a:spcBef>
              <a:spcAft>
                <a:spcPts val="0"/>
              </a:spcAft>
              <a:defRPr sz="1700" b="0">
                <a:solidFill>
                  <a:srgbClr val="182F45"/>
                </a:solidFill>
                <a:latin typeface="Arial"/>
              </a:defRPr>
            </a:pPr>
            <a:r>
              <a:t>dependencies.</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DELIVERABLE</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The container includes an</a:t>
            </a:r>
          </a:p>
          <a:p>
            <a:pPr>
              <a:lnSpc>
                <a:spcPts val="2108"/>
              </a:lnSpc>
              <a:spcBef>
                <a:spcPts val="0"/>
              </a:spcBef>
              <a:spcAft>
                <a:spcPts val="0"/>
              </a:spcAft>
              <a:defRPr sz="1700" b="0">
                <a:solidFill>
                  <a:srgbClr val="182F45"/>
                </a:solidFill>
                <a:latin typeface="Arial"/>
              </a:defRPr>
            </a:pPr>
            <a:r>
              <a:t>outdated system library. Its</a:t>
            </a:r>
          </a:p>
          <a:p>
            <a:pPr>
              <a:lnSpc>
                <a:spcPts val="2108"/>
              </a:lnSpc>
              <a:spcBef>
                <a:spcPts val="0"/>
              </a:spcBef>
              <a:spcAft>
                <a:spcPts val="0"/>
              </a:spcAft>
              <a:defRPr sz="1700" b="0">
                <a:solidFill>
                  <a:srgbClr val="182F45"/>
                </a:solidFill>
                <a:latin typeface="Arial"/>
              </a:defRPr>
            </a:pPr>
            <a:r>
              <a:t>deployment requests excessive</a:t>
            </a:r>
          </a:p>
          <a:p>
            <a:pPr>
              <a:lnSpc>
                <a:spcPts val="2108"/>
              </a:lnSpc>
              <a:spcBef>
                <a:spcPts val="0"/>
              </a:spcBef>
              <a:spcAft>
                <a:spcPts val="0"/>
              </a:spcAft>
              <a:defRPr sz="1700" b="0">
                <a:solidFill>
                  <a:srgbClr val="182F45"/>
                </a:solidFill>
                <a:latin typeface="Arial"/>
              </a:defRPr>
            </a:pPr>
            <a:r>
              <a:t>privilege.</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RUNNING SERVICE</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One customer can access</a:t>
            </a:r>
          </a:p>
          <a:p>
            <a:pPr>
              <a:lnSpc>
                <a:spcPts val="2108"/>
              </a:lnSpc>
              <a:spcBef>
                <a:spcPts val="0"/>
              </a:spcBef>
              <a:spcAft>
                <a:spcPts val="0"/>
              </a:spcAft>
              <a:defRPr sz="1700" b="0">
                <a:solidFill>
                  <a:srgbClr val="182F45"/>
                </a:solidFill>
                <a:latin typeface="Arial"/>
              </a:defRPr>
            </a:pPr>
            <a:r>
              <a:t>another customer's order. A</a:t>
            </a:r>
          </a:p>
          <a:p>
            <a:pPr>
              <a:lnSpc>
                <a:spcPts val="2108"/>
              </a:lnSpc>
              <a:spcBef>
                <a:spcPts val="0"/>
              </a:spcBef>
              <a:spcAft>
                <a:spcPts val="0"/>
              </a:spcAft>
              <a:defRPr sz="1700" b="0">
                <a:solidFill>
                  <a:srgbClr val="182F45"/>
                </a:solidFill>
                <a:latin typeface="Arial"/>
              </a:defRPr>
            </a:pPr>
            <a:r>
              <a:t>compromised process starts a</a:t>
            </a:r>
          </a:p>
          <a:p>
            <a:pPr>
              <a:lnSpc>
                <a:spcPts val="2108"/>
              </a:lnSpc>
              <a:spcBef>
                <a:spcPts val="0"/>
              </a:spcBef>
              <a:spcAft>
                <a:spcPts val="0"/>
              </a:spcAft>
              <a:defRPr sz="1700" b="0">
                <a:solidFill>
                  <a:srgbClr val="182F45"/>
                </a:solidFill>
                <a:latin typeface="Arial"/>
              </a:defRPr>
            </a:pPr>
            <a:r>
              <a:t>shell.</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Choose controls according to the risk and the object being inspected.</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Project guidance • examples are illustrative</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03 / 57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01 FOUNDATIONS</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The delivery vocabulary</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Expand the terms before reading a pipeline diagram.</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CI / CD</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Continuous Integration: merge</a:t>
            </a:r>
          </a:p>
          <a:p>
            <a:pPr>
              <a:lnSpc>
                <a:spcPts val="2108"/>
              </a:lnSpc>
              <a:spcBef>
                <a:spcPts val="0"/>
              </a:spcBef>
              <a:spcAft>
                <a:spcPts val="0"/>
              </a:spcAft>
              <a:defRPr sz="1700" b="0">
                <a:solidFill>
                  <a:srgbClr val="182F45"/>
                </a:solidFill>
                <a:latin typeface="Arial"/>
              </a:defRPr>
            </a:pPr>
            <a:r>
              <a:t>and verify changes frequently.</a:t>
            </a:r>
          </a:p>
          <a:p>
            <a:pPr>
              <a:lnSpc>
                <a:spcPts val="2108"/>
              </a:lnSpc>
              <a:spcBef>
                <a:spcPts val="0"/>
              </a:spcBef>
              <a:spcAft>
                <a:spcPts val="0"/>
              </a:spcAft>
              <a:defRPr sz="1700" b="0">
                <a:solidFill>
                  <a:srgbClr val="182F45"/>
                </a:solidFill>
                <a:latin typeface="Arial"/>
              </a:defRPr>
            </a:pPr>
            <a:r>
              <a:t>Continuous Delivery: keep</a:t>
            </a:r>
          </a:p>
          <a:p>
            <a:pPr>
              <a:lnSpc>
                <a:spcPts val="2108"/>
              </a:lnSpc>
              <a:spcBef>
                <a:spcPts val="0"/>
              </a:spcBef>
              <a:spcAft>
                <a:spcPts val="0"/>
              </a:spcAft>
              <a:defRPr sz="1700" b="0">
                <a:solidFill>
                  <a:srgbClr val="182F45"/>
                </a:solidFill>
                <a:latin typeface="Arial"/>
              </a:defRPr>
            </a:pPr>
            <a:r>
              <a:t>releases ready for approval.</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PR / BUILD</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Pull Request: propose a</a:t>
            </a:r>
          </a:p>
          <a:p>
            <a:pPr>
              <a:lnSpc>
                <a:spcPts val="2108"/>
              </a:lnSpc>
              <a:spcBef>
                <a:spcPts val="0"/>
              </a:spcBef>
              <a:spcAft>
                <a:spcPts val="0"/>
              </a:spcAft>
              <a:defRPr sz="1700" b="0">
                <a:solidFill>
                  <a:srgbClr val="182F45"/>
                </a:solidFill>
                <a:latin typeface="Arial"/>
              </a:defRPr>
            </a:pPr>
            <a:r>
              <a:t>reviewed change. Build: turn</a:t>
            </a:r>
          </a:p>
          <a:p>
            <a:pPr>
              <a:lnSpc>
                <a:spcPts val="2108"/>
              </a:lnSpc>
              <a:spcBef>
                <a:spcPts val="0"/>
              </a:spcBef>
              <a:spcAft>
                <a:spcPts val="0"/>
              </a:spcAft>
              <a:defRPr sz="1700" b="0">
                <a:solidFill>
                  <a:srgbClr val="182F45"/>
                </a:solidFill>
                <a:latin typeface="Arial"/>
              </a:defRPr>
            </a:pPr>
            <a:r>
              <a:t>source and dependencies into a</a:t>
            </a:r>
          </a:p>
          <a:p>
            <a:pPr>
              <a:lnSpc>
                <a:spcPts val="2108"/>
              </a:lnSpc>
              <a:spcBef>
                <a:spcPts val="0"/>
              </a:spcBef>
              <a:spcAft>
                <a:spcPts val="0"/>
              </a:spcAft>
              <a:defRPr sz="1700" b="0">
                <a:solidFill>
                  <a:srgbClr val="182F45"/>
                </a:solidFill>
                <a:latin typeface="Arial"/>
              </a:defRPr>
            </a:pPr>
            <a:r>
              <a:t>distributable artifact.</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STAGE / RELEASE</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Staging: a controlled test</a:t>
            </a:r>
          </a:p>
          <a:p>
            <a:pPr>
              <a:lnSpc>
                <a:spcPts val="2108"/>
              </a:lnSpc>
              <a:spcBef>
                <a:spcPts val="0"/>
              </a:spcBef>
              <a:spcAft>
                <a:spcPts val="0"/>
              </a:spcAft>
              <a:defRPr sz="1700" b="0">
                <a:solidFill>
                  <a:srgbClr val="182F45"/>
                </a:solidFill>
                <a:latin typeface="Arial"/>
              </a:defRPr>
            </a:pPr>
            <a:r>
              <a:t>environment. Release: approve</a:t>
            </a:r>
          </a:p>
          <a:p>
            <a:pPr>
              <a:lnSpc>
                <a:spcPts val="2108"/>
              </a:lnSpc>
              <a:spcBef>
                <a:spcPts val="0"/>
              </a:spcBef>
              <a:spcAft>
                <a:spcPts val="0"/>
              </a:spcAft>
              <a:defRPr sz="1700" b="0">
                <a:solidFill>
                  <a:srgbClr val="182F45"/>
                </a:solidFill>
                <a:latin typeface="Arial"/>
              </a:defRPr>
            </a:pPr>
            <a:r>
              <a:t>a specific artifact for use.</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This course uses CD to mean Continuous Delivery with an explicit release decision.</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Project guidance • examples are illustrative</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04 / 57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01 FOUNDATIONS</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The security vocabulary</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Each acronym names a different activity.</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SCA / SAST</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Software Composition Analysis:</a:t>
            </a:r>
          </a:p>
          <a:p>
            <a:pPr>
              <a:lnSpc>
                <a:spcPts val="2108"/>
              </a:lnSpc>
              <a:spcBef>
                <a:spcPts val="0"/>
              </a:spcBef>
              <a:spcAft>
                <a:spcPts val="0"/>
              </a:spcAft>
              <a:defRPr sz="1700" b="0">
                <a:solidFill>
                  <a:srgbClr val="182F45"/>
                </a:solidFill>
                <a:latin typeface="Arial"/>
              </a:defRPr>
            </a:pPr>
            <a:r>
              <a:t>inspect dependencies. Static</a:t>
            </a:r>
          </a:p>
          <a:p>
            <a:pPr>
              <a:lnSpc>
                <a:spcPts val="2108"/>
              </a:lnSpc>
              <a:spcBef>
                <a:spcPts val="0"/>
              </a:spcBef>
              <a:spcAft>
                <a:spcPts val="0"/>
              </a:spcAft>
              <a:defRPr sz="1700" b="0">
                <a:solidFill>
                  <a:srgbClr val="182F45"/>
                </a:solidFill>
                <a:latin typeface="Arial"/>
              </a:defRPr>
            </a:pPr>
            <a:r>
              <a:t>Application Security Testing:</a:t>
            </a:r>
          </a:p>
          <a:p>
            <a:pPr>
              <a:lnSpc>
                <a:spcPts val="2108"/>
              </a:lnSpc>
              <a:spcBef>
                <a:spcPts val="0"/>
              </a:spcBef>
              <a:spcAft>
                <a:spcPts val="0"/>
              </a:spcAft>
              <a:defRPr sz="1700" b="0">
                <a:solidFill>
                  <a:srgbClr val="182F45"/>
                </a:solidFill>
                <a:latin typeface="Arial"/>
              </a:defRPr>
            </a:pPr>
            <a:r>
              <a:t>inspect code without running the</a:t>
            </a:r>
          </a:p>
          <a:p>
            <a:pPr>
              <a:lnSpc>
                <a:spcPts val="2108"/>
              </a:lnSpc>
              <a:spcBef>
                <a:spcPts val="0"/>
              </a:spcBef>
              <a:spcAft>
                <a:spcPts val="0"/>
              </a:spcAft>
              <a:defRPr sz="1700" b="0">
                <a:solidFill>
                  <a:srgbClr val="182F45"/>
                </a:solidFill>
                <a:latin typeface="Arial"/>
              </a:defRPr>
            </a:pPr>
            <a:r>
              <a:t>app.</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IaC / DAST</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Infrastructure as Code:</a:t>
            </a:r>
          </a:p>
          <a:p>
            <a:pPr>
              <a:lnSpc>
                <a:spcPts val="2108"/>
              </a:lnSpc>
              <a:spcBef>
                <a:spcPts val="0"/>
              </a:spcBef>
              <a:spcAft>
                <a:spcPts val="0"/>
              </a:spcAft>
              <a:defRPr sz="1700" b="0">
                <a:solidFill>
                  <a:srgbClr val="182F45"/>
                </a:solidFill>
                <a:latin typeface="Arial"/>
              </a:defRPr>
            </a:pPr>
            <a:r>
              <a:t>machine-readable infrastructure.</a:t>
            </a:r>
          </a:p>
          <a:p>
            <a:pPr>
              <a:lnSpc>
                <a:spcPts val="2108"/>
              </a:lnSpc>
              <a:spcBef>
                <a:spcPts val="0"/>
              </a:spcBef>
              <a:spcAft>
                <a:spcPts val="0"/>
              </a:spcAft>
              <a:defRPr sz="1700" b="0">
                <a:solidFill>
                  <a:srgbClr val="182F45"/>
                </a:solidFill>
                <a:latin typeface="Arial"/>
              </a:defRPr>
            </a:pPr>
            <a:r>
              <a:t>Dynamic Application Security</a:t>
            </a:r>
          </a:p>
          <a:p>
            <a:pPr>
              <a:lnSpc>
                <a:spcPts val="2108"/>
              </a:lnSpc>
              <a:spcBef>
                <a:spcPts val="0"/>
              </a:spcBef>
              <a:spcAft>
                <a:spcPts val="0"/>
              </a:spcAft>
              <a:defRPr sz="1700" b="0">
                <a:solidFill>
                  <a:srgbClr val="182F45"/>
                </a:solidFill>
                <a:latin typeface="Arial"/>
              </a:defRPr>
            </a:pPr>
            <a:r>
              <a:t>Testing: inspect a running</a:t>
            </a:r>
          </a:p>
          <a:p>
            <a:pPr>
              <a:lnSpc>
                <a:spcPts val="2108"/>
              </a:lnSpc>
              <a:spcBef>
                <a:spcPts val="0"/>
              </a:spcBef>
              <a:spcAft>
                <a:spcPts val="0"/>
              </a:spcAft>
              <a:defRPr sz="1700" b="0">
                <a:solidFill>
                  <a:srgbClr val="182F45"/>
                </a:solidFill>
                <a:latin typeface="Arial"/>
              </a:defRPr>
            </a:pPr>
            <a:r>
              <a:t>service.</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SBOM / GATE</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Software Bill of Materials:</a:t>
            </a:r>
          </a:p>
          <a:p>
            <a:pPr>
              <a:lnSpc>
                <a:spcPts val="2108"/>
              </a:lnSpc>
              <a:spcBef>
                <a:spcPts val="0"/>
              </a:spcBef>
              <a:spcAft>
                <a:spcPts val="0"/>
              </a:spcAft>
              <a:defRPr sz="1700" b="0">
                <a:solidFill>
                  <a:srgbClr val="182F45"/>
                </a:solidFill>
                <a:latin typeface="Arial"/>
              </a:defRPr>
            </a:pPr>
            <a:r>
              <a:t>component inventory. Security</a:t>
            </a:r>
          </a:p>
          <a:p>
            <a:pPr>
              <a:lnSpc>
                <a:spcPts val="2108"/>
              </a:lnSpc>
              <a:spcBef>
                <a:spcPts val="0"/>
              </a:spcBef>
              <a:spcAft>
                <a:spcPts val="0"/>
              </a:spcAft>
              <a:defRPr sz="1700" b="0">
                <a:solidFill>
                  <a:srgbClr val="182F45"/>
                </a:solidFill>
                <a:latin typeface="Arial"/>
              </a:defRPr>
            </a:pPr>
            <a:r>
              <a:t>gate: a rule deciding whether</a:t>
            </a:r>
          </a:p>
          <a:p>
            <a:pPr>
              <a:lnSpc>
                <a:spcPts val="2108"/>
              </a:lnSpc>
              <a:spcBef>
                <a:spcPts val="0"/>
              </a:spcBef>
              <a:spcAft>
                <a:spcPts val="0"/>
              </a:spcAft>
              <a:defRPr sz="1700" b="0">
                <a:solidFill>
                  <a:srgbClr val="182F45"/>
                </a:solidFill>
                <a:latin typeface="Arial"/>
              </a:defRPr>
            </a:pPr>
            <a:r>
              <a:t>work may continue.</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Tool names are products; SCA, SAST and DAST are categories of work.</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Project guidance • examples are illustrative</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05 / 57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01 FOUNDATIONS</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A vulnerability ID is not a risk score</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CVE, CWE and CVSS answer different questions.</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CVE</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Common Vulnerabilities and</a:t>
            </a:r>
          </a:p>
          <a:p>
            <a:pPr>
              <a:lnSpc>
                <a:spcPts val="2108"/>
              </a:lnSpc>
              <a:spcBef>
                <a:spcPts val="0"/>
              </a:spcBef>
              <a:spcAft>
                <a:spcPts val="0"/>
              </a:spcAft>
              <a:defRPr sz="1700" b="0">
                <a:solidFill>
                  <a:srgbClr val="182F45"/>
                </a:solidFill>
                <a:latin typeface="Arial"/>
              </a:defRPr>
            </a:pPr>
            <a:r>
              <a:t>Exposures: an identifier for a</a:t>
            </a:r>
          </a:p>
          <a:p>
            <a:pPr>
              <a:lnSpc>
                <a:spcPts val="2108"/>
              </a:lnSpc>
              <a:spcBef>
                <a:spcPts val="0"/>
              </a:spcBef>
              <a:spcAft>
                <a:spcPts val="0"/>
              </a:spcAft>
              <a:defRPr sz="1700" b="0">
                <a:solidFill>
                  <a:srgbClr val="182F45"/>
                </a:solidFill>
                <a:latin typeface="Arial"/>
              </a:defRPr>
            </a:pPr>
            <a:r>
              <a:t>disclosed vulnerability. An</a:t>
            </a:r>
          </a:p>
          <a:p>
            <a:pPr>
              <a:lnSpc>
                <a:spcPts val="2108"/>
              </a:lnSpc>
              <a:spcBef>
                <a:spcPts val="0"/>
              </a:spcBef>
              <a:spcAft>
                <a:spcPts val="0"/>
              </a:spcAft>
              <a:defRPr sz="1700" b="0">
                <a:solidFill>
                  <a:srgbClr val="182F45"/>
                </a:solidFill>
                <a:latin typeface="Arial"/>
              </a:defRPr>
            </a:pPr>
            <a:r>
              <a:t>advisory may also have a GHSA</a:t>
            </a:r>
          </a:p>
          <a:p>
            <a:pPr>
              <a:lnSpc>
                <a:spcPts val="2108"/>
              </a:lnSpc>
              <a:spcBef>
                <a:spcPts val="0"/>
              </a:spcBef>
              <a:spcAft>
                <a:spcPts val="0"/>
              </a:spcAft>
              <a:defRPr sz="1700" b="0">
                <a:solidFill>
                  <a:srgbClr val="182F45"/>
                </a:solidFill>
                <a:latin typeface="Arial"/>
              </a:defRPr>
            </a:pPr>
            <a:r>
              <a:t>or OSV ID.</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CWE</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Common Weakness</a:t>
            </a:r>
          </a:p>
          <a:p>
            <a:pPr>
              <a:lnSpc>
                <a:spcPts val="2108"/>
              </a:lnSpc>
              <a:spcBef>
                <a:spcPts val="0"/>
              </a:spcBef>
              <a:spcAft>
                <a:spcPts val="0"/>
              </a:spcAft>
              <a:defRPr sz="1700" b="0">
                <a:solidFill>
                  <a:srgbClr val="182F45"/>
                </a:solidFill>
                <a:latin typeface="Arial"/>
              </a:defRPr>
            </a:pPr>
            <a:r>
              <a:t>Enumeration: a class of mistake,</a:t>
            </a:r>
          </a:p>
          <a:p>
            <a:pPr>
              <a:lnSpc>
                <a:spcPts val="2108"/>
              </a:lnSpc>
              <a:spcBef>
                <a:spcPts val="0"/>
              </a:spcBef>
              <a:spcAft>
                <a:spcPts val="0"/>
              </a:spcAft>
              <a:defRPr sz="1700" b="0">
                <a:solidFill>
                  <a:srgbClr val="182F45"/>
                </a:solidFill>
                <a:latin typeface="Arial"/>
              </a:defRPr>
            </a:pPr>
            <a:r>
              <a:t>such as improper input handling.</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CVSS</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Common Vulnerability Scoring</a:t>
            </a:r>
          </a:p>
          <a:p>
            <a:pPr>
              <a:lnSpc>
                <a:spcPts val="2108"/>
              </a:lnSpc>
              <a:spcBef>
                <a:spcPts val="0"/>
              </a:spcBef>
              <a:spcAft>
                <a:spcPts val="0"/>
              </a:spcAft>
              <a:defRPr sz="1700" b="0">
                <a:solidFill>
                  <a:srgbClr val="182F45"/>
                </a:solidFill>
                <a:latin typeface="Arial"/>
              </a:defRPr>
            </a:pPr>
            <a:r>
              <a:t>System: a severity framework.</a:t>
            </a:r>
          </a:p>
          <a:p>
            <a:pPr>
              <a:lnSpc>
                <a:spcPts val="2108"/>
              </a:lnSpc>
              <a:spcBef>
                <a:spcPts val="0"/>
              </a:spcBef>
              <a:spcAft>
                <a:spcPts val="0"/>
              </a:spcAft>
              <a:defRPr sz="1700" b="0">
                <a:solidFill>
                  <a:srgbClr val="182F45"/>
                </a:solidFill>
                <a:latin typeface="Arial"/>
              </a:defRPr>
            </a:pPr>
            <a:r>
              <a:t>Keep its version, score and</a:t>
            </a:r>
          </a:p>
          <a:p>
            <a:pPr>
              <a:lnSpc>
                <a:spcPts val="2108"/>
              </a:lnSpc>
              <a:spcBef>
                <a:spcPts val="0"/>
              </a:spcBef>
              <a:spcAft>
                <a:spcPts val="0"/>
              </a:spcAft>
              <a:defRPr sz="1700" b="0">
                <a:solidFill>
                  <a:srgbClr val="182F45"/>
                </a:solidFill>
                <a:latin typeface="Arial"/>
              </a:defRPr>
            </a:pPr>
            <a:r>
              <a:t>vector together.</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No CVE does not mean no security issue.</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Sources in notes: cve, cwe, cvss</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06 / 57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01 FOUNDATIONS</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Prioritize with evidence and context</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Severity, exploitation and business impact are separate inputs.</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CVSS</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How severe can exploitation be?</a:t>
            </a:r>
          </a:p>
          <a:p>
            <a:pPr>
              <a:lnSpc>
                <a:spcPts val="2108"/>
              </a:lnSpc>
              <a:spcBef>
                <a:spcPts val="0"/>
              </a:spcBef>
              <a:spcAft>
                <a:spcPts val="0"/>
              </a:spcAft>
              <a:defRPr sz="1700" b="0">
                <a:solidFill>
                  <a:srgbClr val="182F45"/>
                </a:solidFill>
                <a:latin typeface="Arial"/>
              </a:defRPr>
            </a:pPr>
            <a:r>
              <a:t>Common bands: low 0.1–3.9,</a:t>
            </a:r>
          </a:p>
          <a:p>
            <a:pPr>
              <a:lnSpc>
                <a:spcPts val="2108"/>
              </a:lnSpc>
              <a:spcBef>
                <a:spcPts val="0"/>
              </a:spcBef>
              <a:spcAft>
                <a:spcPts val="0"/>
              </a:spcAft>
              <a:defRPr sz="1700" b="0">
                <a:solidFill>
                  <a:srgbClr val="182F45"/>
                </a:solidFill>
                <a:latin typeface="Arial"/>
              </a:defRPr>
            </a:pPr>
            <a:r>
              <a:t>medium 4.0–6.9, high 7.0–8.9,</a:t>
            </a:r>
          </a:p>
          <a:p>
            <a:pPr>
              <a:lnSpc>
                <a:spcPts val="2108"/>
              </a:lnSpc>
              <a:spcBef>
                <a:spcPts val="0"/>
              </a:spcBef>
              <a:spcAft>
                <a:spcPts val="0"/>
              </a:spcAft>
              <a:defRPr sz="1700" b="0">
                <a:solidFill>
                  <a:srgbClr val="182F45"/>
                </a:solidFill>
                <a:latin typeface="Arial"/>
              </a:defRPr>
            </a:pPr>
            <a:r>
              <a:t>critical 9.0–10.</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EPSS / KEV</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Exploit Prediction Scoring</a:t>
            </a:r>
          </a:p>
          <a:p>
            <a:pPr>
              <a:lnSpc>
                <a:spcPts val="2108"/>
              </a:lnSpc>
              <a:spcBef>
                <a:spcPts val="0"/>
              </a:spcBef>
              <a:spcAft>
                <a:spcPts val="0"/>
              </a:spcAft>
              <a:defRPr sz="1700" b="0">
                <a:solidFill>
                  <a:srgbClr val="182F45"/>
                </a:solidFill>
                <a:latin typeface="Arial"/>
              </a:defRPr>
            </a:pPr>
            <a:r>
              <a:t>System estimates exploitation</a:t>
            </a:r>
          </a:p>
          <a:p>
            <a:pPr>
              <a:lnSpc>
                <a:spcPts val="2108"/>
              </a:lnSpc>
              <a:spcBef>
                <a:spcPts val="0"/>
              </a:spcBef>
              <a:spcAft>
                <a:spcPts val="0"/>
              </a:spcAft>
              <a:defRPr sz="1700" b="0">
                <a:solidFill>
                  <a:srgbClr val="182F45"/>
                </a:solidFill>
                <a:latin typeface="Arial"/>
              </a:defRPr>
            </a:pPr>
            <a:r>
              <a:t>probability. Known Exploited</a:t>
            </a:r>
          </a:p>
          <a:p>
            <a:pPr>
              <a:lnSpc>
                <a:spcPts val="2108"/>
              </a:lnSpc>
              <a:spcBef>
                <a:spcPts val="0"/>
              </a:spcBef>
              <a:spcAft>
                <a:spcPts val="0"/>
              </a:spcAft>
              <a:defRPr sz="1700" b="0">
                <a:solidFill>
                  <a:srgbClr val="182F45"/>
                </a:solidFill>
                <a:latin typeface="Arial"/>
              </a:defRPr>
            </a:pPr>
            <a:r>
              <a:t>Vulnerabilities records observed</a:t>
            </a:r>
          </a:p>
          <a:p>
            <a:pPr>
              <a:lnSpc>
                <a:spcPts val="2108"/>
              </a:lnSpc>
              <a:spcBef>
                <a:spcPts val="0"/>
              </a:spcBef>
              <a:spcAft>
                <a:spcPts val="0"/>
              </a:spcAft>
              <a:defRPr sz="1700" b="0">
                <a:solidFill>
                  <a:srgbClr val="182F45"/>
                </a:solidFill>
                <a:latin typeface="Arial"/>
              </a:defRPr>
            </a:pPr>
            <a:r>
              <a:t>exploitation.</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YOUR SERVICE</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Is the component shipped,</a:t>
            </a:r>
          </a:p>
          <a:p>
            <a:pPr>
              <a:lnSpc>
                <a:spcPts val="2108"/>
              </a:lnSpc>
              <a:spcBef>
                <a:spcPts val="0"/>
              </a:spcBef>
              <a:spcAft>
                <a:spcPts val="0"/>
              </a:spcAft>
              <a:defRPr sz="1700" b="0">
                <a:solidFill>
                  <a:srgbClr val="182F45"/>
                </a:solidFill>
                <a:latin typeface="Arial"/>
              </a:defRPr>
            </a:pPr>
            <a:r>
              <a:t>reachable and exposed? What</a:t>
            </a:r>
          </a:p>
          <a:p>
            <a:pPr>
              <a:lnSpc>
                <a:spcPts val="2108"/>
              </a:lnSpc>
              <a:spcBef>
                <a:spcPts val="0"/>
              </a:spcBef>
              <a:spcAft>
                <a:spcPts val="0"/>
              </a:spcAft>
              <a:defRPr sz="1700" b="0">
                <a:solidFill>
                  <a:srgbClr val="182F45"/>
                </a:solidFill>
                <a:latin typeface="Arial"/>
              </a:defRPr>
            </a:pPr>
            <a:r>
              <a:t>data or operations can an</a:t>
            </a:r>
          </a:p>
          <a:p>
            <a:pPr>
              <a:lnSpc>
                <a:spcPts val="2108"/>
              </a:lnSpc>
              <a:spcBef>
                <a:spcPts val="0"/>
              </a:spcBef>
              <a:spcAft>
                <a:spcPts val="0"/>
              </a:spcAft>
              <a:defRPr sz="1700" b="0">
                <a:solidFill>
                  <a:srgbClr val="182F45"/>
                </a:solidFill>
                <a:latin typeface="Arial"/>
              </a:defRPr>
            </a:pPr>
            <a:r>
              <a:t>attacker affect?</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A low prediction is not an exemption; a score needs application context.</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Sources in notes: cvss, epss, kev</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07 / 57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02 PIPELINE FLOW</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The complete flow in four phases</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Each phase produces evidence needed by the next.</a:t>
            </a:r>
          </a:p>
        </p:txBody>
      </p:sp>
      <p:sp>
        <p:nvSpPr>
          <p:cNvPr id="7" name="Rectangle 6"/>
          <p:cNvSpPr/>
          <p:nvPr/>
        </p:nvSpPr>
        <p:spPr>
          <a:xfrm>
            <a:off x="431800" y="2641600"/>
            <a:ext cx="2593975"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2593975"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2212975"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1 PREPARE</a:t>
            </a:r>
          </a:p>
        </p:txBody>
      </p:sp>
      <p:sp>
        <p:nvSpPr>
          <p:cNvPr id="10" name="TextBox 9"/>
          <p:cNvSpPr txBox="1"/>
          <p:nvPr/>
        </p:nvSpPr>
        <p:spPr>
          <a:xfrm>
            <a:off x="622300" y="3606800"/>
            <a:ext cx="2212975" cy="1587500"/>
          </a:xfrm>
          <a:prstGeom prst="rect">
            <a:avLst/>
          </a:prstGeom>
          <a:noFill/>
        </p:spPr>
        <p:txBody>
          <a:bodyPr wrap="none" lIns="0" rIns="0" tIns="0" bIns="0">
            <a:spAutoFit/>
          </a:bodyPr>
          <a:lstStyle/>
          <a:p>
            <a:pPr>
              <a:lnSpc>
                <a:spcPts val="1984"/>
              </a:lnSpc>
              <a:spcBef>
                <a:spcPts val="0"/>
              </a:spcBef>
              <a:spcAft>
                <a:spcPts val="0"/>
              </a:spcAft>
              <a:defRPr sz="1600" b="0">
                <a:solidFill>
                  <a:srgbClr val="182F45"/>
                </a:solidFill>
                <a:latin typeface="Arial"/>
              </a:defRPr>
            </a:pPr>
            <a:r>
              <a:t>Requirements → threat</a:t>
            </a:r>
          </a:p>
          <a:p>
            <a:pPr>
              <a:lnSpc>
                <a:spcPts val="1984"/>
              </a:lnSpc>
              <a:spcBef>
                <a:spcPts val="0"/>
              </a:spcBef>
              <a:spcAft>
                <a:spcPts val="0"/>
              </a:spcAft>
              <a:defRPr sz="1600" b="0">
                <a:solidFill>
                  <a:srgbClr val="182F45"/>
                </a:solidFill>
                <a:latin typeface="Arial"/>
              </a:defRPr>
            </a:pPr>
            <a:r>
              <a:t>model → reviewed</a:t>
            </a:r>
          </a:p>
          <a:p>
            <a:pPr>
              <a:lnSpc>
                <a:spcPts val="1984"/>
              </a:lnSpc>
              <a:spcBef>
                <a:spcPts val="0"/>
              </a:spcBef>
              <a:spcAft>
                <a:spcPts val="0"/>
              </a:spcAft>
              <a:defRPr sz="1600" b="0">
                <a:solidFill>
                  <a:srgbClr val="182F45"/>
                </a:solidFill>
                <a:latin typeface="Arial"/>
              </a:defRPr>
            </a:pPr>
            <a:r>
              <a:t>source</a:t>
            </a:r>
          </a:p>
        </p:txBody>
      </p:sp>
      <p:sp>
        <p:nvSpPr>
          <p:cNvPr id="11" name="TextBox 10"/>
          <p:cNvSpPr txBox="1"/>
          <p:nvPr/>
        </p:nvSpPr>
        <p:spPr>
          <a:xfrm>
            <a:off x="3063875" y="3810000"/>
            <a:ext cx="241300" cy="444500"/>
          </a:xfrm>
          <a:prstGeom prst="rect">
            <a:avLst/>
          </a:prstGeom>
          <a:noFill/>
        </p:spPr>
        <p:txBody>
          <a:bodyPr wrap="none" lIns="0" rIns="0" tIns="0" bIns="0">
            <a:spAutoFit/>
          </a:bodyPr>
          <a:lstStyle/>
          <a:p>
            <a:pPr>
              <a:lnSpc>
                <a:spcPts val="2852"/>
              </a:lnSpc>
              <a:spcBef>
                <a:spcPts val="0"/>
              </a:spcBef>
              <a:spcAft>
                <a:spcPts val="0"/>
              </a:spcAft>
              <a:defRPr sz="2300" b="1">
                <a:solidFill>
                  <a:srgbClr val="007E83"/>
                </a:solidFill>
                <a:latin typeface="Arial"/>
              </a:defRPr>
            </a:pPr>
            <a:r>
              <a:t>›</a:t>
            </a:r>
          </a:p>
        </p:txBody>
      </p:sp>
      <p:sp>
        <p:nvSpPr>
          <p:cNvPr id="12" name="Rectangle 11"/>
          <p:cNvSpPr/>
          <p:nvPr/>
        </p:nvSpPr>
        <p:spPr>
          <a:xfrm>
            <a:off x="3317875" y="2641600"/>
            <a:ext cx="2593975"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17875" y="2641600"/>
            <a:ext cx="2593975"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08375" y="2908300"/>
            <a:ext cx="2212975"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2 VERIFY</a:t>
            </a:r>
          </a:p>
        </p:txBody>
      </p:sp>
      <p:sp>
        <p:nvSpPr>
          <p:cNvPr id="15" name="TextBox 14"/>
          <p:cNvSpPr txBox="1"/>
          <p:nvPr/>
        </p:nvSpPr>
        <p:spPr>
          <a:xfrm>
            <a:off x="3508375" y="3606800"/>
            <a:ext cx="2212975" cy="1587500"/>
          </a:xfrm>
          <a:prstGeom prst="rect">
            <a:avLst/>
          </a:prstGeom>
          <a:noFill/>
        </p:spPr>
        <p:txBody>
          <a:bodyPr wrap="none" lIns="0" rIns="0" tIns="0" bIns="0">
            <a:spAutoFit/>
          </a:bodyPr>
          <a:lstStyle/>
          <a:p>
            <a:pPr>
              <a:lnSpc>
                <a:spcPts val="1984"/>
              </a:lnSpc>
              <a:spcBef>
                <a:spcPts val="0"/>
              </a:spcBef>
              <a:spcAft>
                <a:spcPts val="0"/>
              </a:spcAft>
              <a:defRPr sz="1600" b="0">
                <a:solidFill>
                  <a:srgbClr val="182F45"/>
                </a:solidFill>
                <a:latin typeface="Arial"/>
              </a:defRPr>
            </a:pPr>
            <a:r>
              <a:t>Secrets +</a:t>
            </a:r>
          </a:p>
          <a:p>
            <a:pPr>
              <a:lnSpc>
                <a:spcPts val="1984"/>
              </a:lnSpc>
              <a:spcBef>
                <a:spcPts val="0"/>
              </a:spcBef>
              <a:spcAft>
                <a:spcPts val="0"/>
              </a:spcAft>
              <a:defRPr sz="1600" b="0">
                <a:solidFill>
                  <a:srgbClr val="182F45"/>
                </a:solidFill>
                <a:latin typeface="Arial"/>
              </a:defRPr>
            </a:pPr>
            <a:r>
              <a:t>dependencies + code +</a:t>
            </a:r>
          </a:p>
          <a:p>
            <a:pPr>
              <a:lnSpc>
                <a:spcPts val="1984"/>
              </a:lnSpc>
              <a:spcBef>
                <a:spcPts val="0"/>
              </a:spcBef>
              <a:spcAft>
                <a:spcPts val="0"/>
              </a:spcAft>
              <a:defRPr sz="1600" b="0">
                <a:solidFill>
                  <a:srgbClr val="182F45"/>
                </a:solidFill>
                <a:latin typeface="Arial"/>
              </a:defRPr>
            </a:pPr>
            <a:r>
              <a:t>configuration + tests</a:t>
            </a:r>
          </a:p>
        </p:txBody>
      </p:sp>
      <p:sp>
        <p:nvSpPr>
          <p:cNvPr id="16" name="TextBox 15"/>
          <p:cNvSpPr txBox="1"/>
          <p:nvPr/>
        </p:nvSpPr>
        <p:spPr>
          <a:xfrm>
            <a:off x="5949950" y="3810000"/>
            <a:ext cx="241300" cy="444500"/>
          </a:xfrm>
          <a:prstGeom prst="rect">
            <a:avLst/>
          </a:prstGeom>
          <a:noFill/>
        </p:spPr>
        <p:txBody>
          <a:bodyPr wrap="none" lIns="0" rIns="0" tIns="0" bIns="0">
            <a:spAutoFit/>
          </a:bodyPr>
          <a:lstStyle/>
          <a:p>
            <a:pPr>
              <a:lnSpc>
                <a:spcPts val="2852"/>
              </a:lnSpc>
              <a:spcBef>
                <a:spcPts val="0"/>
              </a:spcBef>
              <a:spcAft>
                <a:spcPts val="0"/>
              </a:spcAft>
              <a:defRPr sz="2300" b="1">
                <a:solidFill>
                  <a:srgbClr val="007E83"/>
                </a:solidFill>
                <a:latin typeface="Arial"/>
              </a:defRPr>
            </a:pPr>
            <a:r>
              <a:t>›</a:t>
            </a:r>
          </a:p>
        </p:txBody>
      </p:sp>
      <p:sp>
        <p:nvSpPr>
          <p:cNvPr id="17" name="Rectangle 16"/>
          <p:cNvSpPr/>
          <p:nvPr/>
        </p:nvSpPr>
        <p:spPr>
          <a:xfrm>
            <a:off x="6203950" y="2641600"/>
            <a:ext cx="2593975"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03950" y="2641600"/>
            <a:ext cx="2593975"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94450" y="2908300"/>
            <a:ext cx="2212975"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3 PACKAGE</a:t>
            </a:r>
          </a:p>
        </p:txBody>
      </p:sp>
      <p:sp>
        <p:nvSpPr>
          <p:cNvPr id="20" name="TextBox 19"/>
          <p:cNvSpPr txBox="1"/>
          <p:nvPr/>
        </p:nvSpPr>
        <p:spPr>
          <a:xfrm>
            <a:off x="6394450" y="3606800"/>
            <a:ext cx="2212975" cy="1587500"/>
          </a:xfrm>
          <a:prstGeom prst="rect">
            <a:avLst/>
          </a:prstGeom>
          <a:noFill/>
        </p:spPr>
        <p:txBody>
          <a:bodyPr wrap="none" lIns="0" rIns="0" tIns="0" bIns="0">
            <a:spAutoFit/>
          </a:bodyPr>
          <a:lstStyle/>
          <a:p>
            <a:pPr>
              <a:lnSpc>
                <a:spcPts val="1984"/>
              </a:lnSpc>
              <a:spcBef>
                <a:spcPts val="0"/>
              </a:spcBef>
              <a:spcAft>
                <a:spcPts val="0"/>
              </a:spcAft>
              <a:defRPr sz="1600" b="0">
                <a:solidFill>
                  <a:srgbClr val="182F45"/>
                </a:solidFill>
                <a:latin typeface="Arial"/>
              </a:defRPr>
            </a:pPr>
            <a:r>
              <a:t>Build → candidate</a:t>
            </a:r>
          </a:p>
          <a:p>
            <a:pPr>
              <a:lnSpc>
                <a:spcPts val="1984"/>
              </a:lnSpc>
              <a:spcBef>
                <a:spcPts val="0"/>
              </a:spcBef>
              <a:spcAft>
                <a:spcPts val="0"/>
              </a:spcAft>
              <a:defRPr sz="1600" b="0">
                <a:solidFill>
                  <a:srgbClr val="182F45"/>
                </a:solidFill>
                <a:latin typeface="Arial"/>
              </a:defRPr>
            </a:pPr>
            <a:r>
              <a:t>registry → image scan</a:t>
            </a:r>
          </a:p>
          <a:p>
            <a:pPr>
              <a:lnSpc>
                <a:spcPts val="1984"/>
              </a:lnSpc>
              <a:spcBef>
                <a:spcPts val="0"/>
              </a:spcBef>
              <a:spcAft>
                <a:spcPts val="0"/>
              </a:spcAft>
              <a:defRPr sz="1600" b="0">
                <a:solidFill>
                  <a:srgbClr val="182F45"/>
                </a:solidFill>
                <a:latin typeface="Arial"/>
              </a:defRPr>
            </a:pPr>
            <a:r>
              <a:t>+ inventory + trust</a:t>
            </a:r>
          </a:p>
        </p:txBody>
      </p:sp>
      <p:sp>
        <p:nvSpPr>
          <p:cNvPr id="21" name="TextBox 20"/>
          <p:cNvSpPr txBox="1"/>
          <p:nvPr/>
        </p:nvSpPr>
        <p:spPr>
          <a:xfrm>
            <a:off x="8836025" y="3810000"/>
            <a:ext cx="241300" cy="444500"/>
          </a:xfrm>
          <a:prstGeom prst="rect">
            <a:avLst/>
          </a:prstGeom>
          <a:noFill/>
        </p:spPr>
        <p:txBody>
          <a:bodyPr wrap="none" lIns="0" rIns="0" tIns="0" bIns="0">
            <a:spAutoFit/>
          </a:bodyPr>
          <a:lstStyle/>
          <a:p>
            <a:pPr>
              <a:lnSpc>
                <a:spcPts val="2852"/>
              </a:lnSpc>
              <a:spcBef>
                <a:spcPts val="0"/>
              </a:spcBef>
              <a:spcAft>
                <a:spcPts val="0"/>
              </a:spcAft>
              <a:defRPr sz="2300" b="1">
                <a:solidFill>
                  <a:srgbClr val="007E83"/>
                </a:solidFill>
                <a:latin typeface="Arial"/>
              </a:defRPr>
            </a:pPr>
            <a:r>
              <a:t>›</a:t>
            </a:r>
          </a:p>
        </p:txBody>
      </p:sp>
      <p:sp>
        <p:nvSpPr>
          <p:cNvPr id="22" name="Rectangle 21"/>
          <p:cNvSpPr/>
          <p:nvPr/>
        </p:nvSpPr>
        <p:spPr>
          <a:xfrm>
            <a:off x="9090025" y="2641600"/>
            <a:ext cx="2593975"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090025" y="2641600"/>
            <a:ext cx="2593975"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80525" y="2908300"/>
            <a:ext cx="2212975"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4 RELEASE</a:t>
            </a:r>
          </a:p>
        </p:txBody>
      </p:sp>
      <p:sp>
        <p:nvSpPr>
          <p:cNvPr id="25" name="TextBox 24"/>
          <p:cNvSpPr txBox="1"/>
          <p:nvPr/>
        </p:nvSpPr>
        <p:spPr>
          <a:xfrm>
            <a:off x="9280525" y="3606800"/>
            <a:ext cx="2212975" cy="1587500"/>
          </a:xfrm>
          <a:prstGeom prst="rect">
            <a:avLst/>
          </a:prstGeom>
          <a:noFill/>
        </p:spPr>
        <p:txBody>
          <a:bodyPr wrap="none" lIns="0" rIns="0" tIns="0" bIns="0">
            <a:spAutoFit/>
          </a:bodyPr>
          <a:lstStyle/>
          <a:p>
            <a:pPr>
              <a:lnSpc>
                <a:spcPts val="1984"/>
              </a:lnSpc>
              <a:spcBef>
                <a:spcPts val="0"/>
              </a:spcBef>
              <a:spcAft>
                <a:spcPts val="0"/>
              </a:spcAft>
              <a:defRPr sz="1600" b="0">
                <a:solidFill>
                  <a:srgbClr val="182F45"/>
                </a:solidFill>
                <a:latin typeface="Arial"/>
              </a:defRPr>
            </a:pPr>
            <a:r>
              <a:t>Staging → behavior</a:t>
            </a:r>
          </a:p>
          <a:p>
            <a:pPr>
              <a:lnSpc>
                <a:spcPts val="1984"/>
              </a:lnSpc>
              <a:spcBef>
                <a:spcPts val="0"/>
              </a:spcBef>
              <a:spcAft>
                <a:spcPts val="0"/>
              </a:spcAft>
              <a:defRPr sz="1600" b="0">
                <a:solidFill>
                  <a:srgbClr val="182F45"/>
                </a:solidFill>
                <a:latin typeface="Arial"/>
              </a:defRPr>
            </a:pPr>
            <a:r>
              <a:t>tests → gate →</a:t>
            </a:r>
          </a:p>
          <a:p>
            <a:pPr>
              <a:lnSpc>
                <a:spcPts val="1984"/>
              </a:lnSpc>
              <a:spcBef>
                <a:spcPts val="0"/>
              </a:spcBef>
              <a:spcAft>
                <a:spcPts val="0"/>
              </a:spcAft>
              <a:defRPr sz="1600" b="0">
                <a:solidFill>
                  <a:srgbClr val="182F45"/>
                </a:solidFill>
                <a:latin typeface="Arial"/>
              </a:defRPr>
            </a:pPr>
            <a:r>
              <a:t>production → feedback</a:t>
            </a:r>
          </a:p>
        </p:txBody>
      </p:sp>
      <p:sp>
        <p:nvSpPr>
          <p:cNvPr id="26" name="Rectangle 25"/>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The diagram expresses dependencies; it does not require every scan to run serially.</a:t>
            </a:r>
          </a:p>
        </p:txBody>
      </p:sp>
      <p:sp>
        <p:nvSpPr>
          <p:cNvPr id="28" name="TextBox 27"/>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Project guidance • examples are illustrative</a:t>
            </a:r>
          </a:p>
        </p:txBody>
      </p:sp>
      <p:sp>
        <p:nvSpPr>
          <p:cNvPr id="29" name="TextBox 28"/>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08 / 57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02 PIPELINE FLOW</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Phase 1: define what must be protected</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Owner: product team with security and platform engineering.</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INPUT</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Data, users, trust boundaries,</a:t>
            </a:r>
          </a:p>
          <a:p>
            <a:pPr>
              <a:lnSpc>
                <a:spcPts val="2108"/>
              </a:lnSpc>
              <a:spcBef>
                <a:spcPts val="0"/>
              </a:spcBef>
              <a:spcAft>
                <a:spcPts val="0"/>
              </a:spcAft>
              <a:defRPr sz="1700" b="0">
                <a:solidFill>
                  <a:srgbClr val="182F45"/>
                </a:solidFill>
                <a:latin typeface="Arial"/>
              </a:defRPr>
            </a:pPr>
            <a:r>
              <a:t>critical business actions and</a:t>
            </a:r>
          </a:p>
          <a:p>
            <a:pPr>
              <a:lnSpc>
                <a:spcPts val="2108"/>
              </a:lnSpc>
              <a:spcBef>
                <a:spcPts val="0"/>
              </a:spcBef>
              <a:spcAft>
                <a:spcPts val="0"/>
              </a:spcAft>
              <a:defRPr sz="1700" b="0">
                <a:solidFill>
                  <a:srgbClr val="182F45"/>
                </a:solidFill>
                <a:latin typeface="Arial"/>
              </a:defRPr>
            </a:pPr>
            <a:r>
              <a:t>architecture.</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WORK</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Write abuse cases. Define</a:t>
            </a:r>
          </a:p>
          <a:p>
            <a:pPr>
              <a:lnSpc>
                <a:spcPts val="2108"/>
              </a:lnSpc>
              <a:spcBef>
                <a:spcPts val="0"/>
              </a:spcBef>
              <a:spcAft>
                <a:spcPts val="0"/>
              </a:spcAft>
              <a:defRPr sz="1700" b="0">
                <a:solidFill>
                  <a:srgbClr val="182F45"/>
                </a:solidFill>
                <a:latin typeface="Arial"/>
              </a:defRPr>
            </a:pPr>
            <a:r>
              <a:t>access rules, recovery needs</a:t>
            </a:r>
          </a:p>
          <a:p>
            <a:pPr>
              <a:lnSpc>
                <a:spcPts val="2108"/>
              </a:lnSpc>
              <a:spcBef>
                <a:spcPts val="0"/>
              </a:spcBef>
              <a:spcAft>
                <a:spcPts val="0"/>
              </a:spcAft>
              <a:defRPr sz="1700" b="0">
                <a:solidFill>
                  <a:srgbClr val="182F45"/>
                </a:solidFill>
                <a:latin typeface="Arial"/>
              </a:defRPr>
            </a:pPr>
            <a:r>
              <a:t>and acceptance tests.</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OUTPUT / GATE</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Reviewed requirements, a threat</a:t>
            </a:r>
          </a:p>
          <a:p>
            <a:pPr>
              <a:lnSpc>
                <a:spcPts val="2108"/>
              </a:lnSpc>
              <a:spcBef>
                <a:spcPts val="0"/>
              </a:spcBef>
              <a:spcAft>
                <a:spcPts val="0"/>
              </a:spcAft>
              <a:defRPr sz="1700" b="0">
                <a:solidFill>
                  <a:srgbClr val="182F45"/>
                </a:solidFill>
                <a:latin typeface="Arial"/>
              </a:defRPr>
            </a:pPr>
            <a:r>
              <a:t>model and named owners.</a:t>
            </a:r>
          </a:p>
          <a:p>
            <a:pPr>
              <a:lnSpc>
                <a:spcPts val="2108"/>
              </a:lnSpc>
              <a:spcBef>
                <a:spcPts val="0"/>
              </a:spcBef>
              <a:spcAft>
                <a:spcPts val="0"/>
              </a:spcAft>
              <a:defRPr sz="1700" b="0">
                <a:solidFill>
                  <a:srgbClr val="182F45"/>
                </a:solidFill>
                <a:latin typeface="Arial"/>
              </a:defRPr>
            </a:pPr>
            <a:r>
              <a:t>Unresolved critical design risks</a:t>
            </a:r>
          </a:p>
          <a:p>
            <a:pPr>
              <a:lnSpc>
                <a:spcPts val="2108"/>
              </a:lnSpc>
              <a:spcBef>
                <a:spcPts val="0"/>
              </a:spcBef>
              <a:spcAft>
                <a:spcPts val="0"/>
              </a:spcAft>
              <a:defRPr sz="1700" b="0">
                <a:solidFill>
                  <a:srgbClr val="182F45"/>
                </a:solidFill>
                <a:latin typeface="Arial"/>
              </a:defRPr>
            </a:pPr>
            <a:r>
              <a:t>need a decision.</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Requirements become tests; a vague security goal cannot be verified.</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Project guidance • examples are illustrative</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09 / 57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02 PIPELINE FLOW</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Phase 2: verify the proposed change</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Owner: developers; security engineers maintain rules and triage support.</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CHECKOUT</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Obtain the intended commit.</a:t>
            </a:r>
          </a:p>
          <a:p>
            <a:pPr>
              <a:lnSpc>
                <a:spcPts val="2108"/>
              </a:lnSpc>
              <a:spcBef>
                <a:spcPts val="0"/>
              </a:spcBef>
              <a:spcAft>
                <a:spcPts val="0"/>
              </a:spcAft>
              <a:defRPr sz="1700" b="0">
                <a:solidFill>
                  <a:srgbClr val="182F45"/>
                </a:solidFill>
                <a:latin typeface="Arial"/>
              </a:defRPr>
            </a:pPr>
            <a:r>
              <a:t>Protect reviews, pipeline</a:t>
            </a:r>
          </a:p>
          <a:p>
            <a:pPr>
              <a:lnSpc>
                <a:spcPts val="2108"/>
              </a:lnSpc>
              <a:spcBef>
                <a:spcPts val="0"/>
              </a:spcBef>
              <a:spcAft>
                <a:spcPts val="0"/>
              </a:spcAft>
              <a:defRPr sz="1700" b="0">
                <a:solidFill>
                  <a:srgbClr val="182F45"/>
                </a:solidFill>
                <a:latin typeface="Arial"/>
              </a:defRPr>
            </a:pPr>
            <a:r>
              <a:t>changes and runner credentials.</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ANALYZE</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Run secret, dependency, code</a:t>
            </a:r>
          </a:p>
          <a:p>
            <a:pPr>
              <a:lnSpc>
                <a:spcPts val="2108"/>
              </a:lnSpc>
              <a:spcBef>
                <a:spcPts val="0"/>
              </a:spcBef>
              <a:spcAft>
                <a:spcPts val="0"/>
              </a:spcAft>
              <a:defRPr sz="1700" b="0">
                <a:solidFill>
                  <a:srgbClr val="182F45"/>
                </a:solidFill>
                <a:latin typeface="Arial"/>
              </a:defRPr>
            </a:pPr>
            <a:r>
              <a:t>and configuration checks. Run</a:t>
            </a:r>
          </a:p>
          <a:p>
            <a:pPr>
              <a:lnSpc>
                <a:spcPts val="2108"/>
              </a:lnSpc>
              <a:spcBef>
                <a:spcPts val="0"/>
              </a:spcBef>
              <a:spcAft>
                <a:spcPts val="0"/>
              </a:spcAft>
              <a:defRPr sz="1700" b="0">
                <a:solidFill>
                  <a:srgbClr val="182F45"/>
                </a:solidFill>
                <a:latin typeface="Arial"/>
              </a:defRPr>
            </a:pPr>
            <a:r>
              <a:t>unit, integration and security</a:t>
            </a:r>
          </a:p>
          <a:p>
            <a:pPr>
              <a:lnSpc>
                <a:spcPts val="2108"/>
              </a:lnSpc>
              <a:spcBef>
                <a:spcPts val="0"/>
              </a:spcBef>
              <a:spcAft>
                <a:spcPts val="0"/>
              </a:spcAft>
              <a:defRPr sz="1700" b="0">
                <a:solidFill>
                  <a:srgbClr val="182F45"/>
                </a:solidFill>
                <a:latin typeface="Arial"/>
              </a:defRPr>
            </a:pPr>
            <a:r>
              <a:t>tests.</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DECIDE</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Fail on configured violations or</a:t>
            </a:r>
          </a:p>
          <a:p>
            <a:pPr>
              <a:lnSpc>
                <a:spcPts val="2108"/>
              </a:lnSpc>
              <a:spcBef>
                <a:spcPts val="0"/>
              </a:spcBef>
              <a:spcAft>
                <a:spcPts val="0"/>
              </a:spcAft>
              <a:defRPr sz="1700" b="0">
                <a:solidFill>
                  <a:srgbClr val="182F45"/>
                </a:solidFill>
                <a:latin typeface="Arial"/>
              </a:defRPr>
            </a:pPr>
            <a:r>
              <a:t>tool errors. Save reports and</a:t>
            </a:r>
          </a:p>
          <a:p>
            <a:pPr>
              <a:lnSpc>
                <a:spcPts val="2108"/>
              </a:lnSpc>
              <a:spcBef>
                <a:spcPts val="0"/>
              </a:spcBef>
              <a:spcAft>
                <a:spcPts val="0"/>
              </a:spcAft>
              <a:defRPr sz="1700" b="0">
                <a:solidFill>
                  <a:srgbClr val="182F45"/>
                </a:solidFill>
                <a:latin typeface="Arial"/>
              </a:defRPr>
            </a:pPr>
            <a:r>
              <a:t>correct the change before</a:t>
            </a:r>
          </a:p>
          <a:p>
            <a:pPr>
              <a:lnSpc>
                <a:spcPts val="2108"/>
              </a:lnSpc>
              <a:spcBef>
                <a:spcPts val="0"/>
              </a:spcBef>
              <a:spcAft>
                <a:spcPts val="0"/>
              </a:spcAft>
              <a:defRPr sz="1700" b="0">
                <a:solidFill>
                  <a:srgbClr val="182F45"/>
                </a:solidFill>
                <a:latin typeface="Arial"/>
              </a:defRPr>
            </a:pPr>
            <a:r>
              <a:t>retrying.</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A report file existing is not proof that the scanner completed or found nothing.</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Project guidance • examples are illustrative</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10 / 57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02 PIPELINE FLOW</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Phase 3: identify and verify the artifact</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Owner: build and platform engineering.</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BUILD ONCE</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Produce one candidate image</a:t>
            </a:r>
          </a:p>
          <a:p>
            <a:pPr>
              <a:lnSpc>
                <a:spcPts val="2108"/>
              </a:lnSpc>
              <a:spcBef>
                <a:spcPts val="0"/>
              </a:spcBef>
              <a:spcAft>
                <a:spcPts val="0"/>
              </a:spcAft>
              <a:defRPr sz="1700" b="0">
                <a:solidFill>
                  <a:srgbClr val="182F45"/>
                </a:solidFill>
                <a:latin typeface="Arial"/>
              </a:defRPr>
            </a:pPr>
            <a:r>
              <a:t>from the reviewed source and</a:t>
            </a:r>
          </a:p>
          <a:p>
            <a:pPr>
              <a:lnSpc>
                <a:spcPts val="2108"/>
              </a:lnSpc>
              <a:spcBef>
                <a:spcPts val="0"/>
              </a:spcBef>
              <a:spcAft>
                <a:spcPts val="0"/>
              </a:spcAft>
              <a:defRPr sz="1700" b="0">
                <a:solidFill>
                  <a:srgbClr val="182F45"/>
                </a:solidFill>
                <a:latin typeface="Arial"/>
              </a:defRPr>
            </a:pPr>
            <a:r>
              <a:t>controlled dependencies.</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INSPECT</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Scan the image by digest.</a:t>
            </a:r>
          </a:p>
          <a:p>
            <a:pPr>
              <a:lnSpc>
                <a:spcPts val="2108"/>
              </a:lnSpc>
              <a:spcBef>
                <a:spcPts val="0"/>
              </a:spcBef>
              <a:spcAft>
                <a:spcPts val="0"/>
              </a:spcAft>
              <a:defRPr sz="1700" b="0">
                <a:solidFill>
                  <a:srgbClr val="182F45"/>
                </a:solidFill>
                <a:latin typeface="Arial"/>
              </a:defRPr>
            </a:pPr>
            <a:r>
              <a:t>Generate its component</a:t>
            </a:r>
          </a:p>
          <a:p>
            <a:pPr>
              <a:lnSpc>
                <a:spcPts val="2108"/>
              </a:lnSpc>
              <a:spcBef>
                <a:spcPts val="0"/>
              </a:spcBef>
              <a:spcAft>
                <a:spcPts val="0"/>
              </a:spcAft>
              <a:defRPr sz="1700" b="0">
                <a:solidFill>
                  <a:srgbClr val="182F45"/>
                </a:solidFill>
                <a:latin typeface="Arial"/>
              </a:defRPr>
            </a:pPr>
            <a:r>
              <a:t>inventory. Record build</a:t>
            </a:r>
          </a:p>
          <a:p>
            <a:pPr>
              <a:lnSpc>
                <a:spcPts val="2108"/>
              </a:lnSpc>
              <a:spcBef>
                <a:spcPts val="0"/>
              </a:spcBef>
              <a:spcAft>
                <a:spcPts val="0"/>
              </a:spcAft>
              <a:defRPr sz="1700" b="0">
                <a:solidFill>
                  <a:srgbClr val="182F45"/>
                </a:solidFill>
                <a:latin typeface="Arial"/>
              </a:defRPr>
            </a:pPr>
            <a:r>
              <a:t>provenance.</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ESTABLISH TRUST</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Sign the digest and relevant</a:t>
            </a:r>
          </a:p>
          <a:p>
            <a:pPr>
              <a:lnSpc>
                <a:spcPts val="2108"/>
              </a:lnSpc>
              <a:spcBef>
                <a:spcPts val="0"/>
              </a:spcBef>
              <a:spcAft>
                <a:spcPts val="0"/>
              </a:spcAft>
              <a:defRPr sz="1700" b="0">
                <a:solidFill>
                  <a:srgbClr val="182F45"/>
                </a:solidFill>
                <a:latin typeface="Arial"/>
              </a:defRPr>
            </a:pPr>
            <a:r>
              <a:t>attestations. Store evidence in a</a:t>
            </a:r>
          </a:p>
          <a:p>
            <a:pPr>
              <a:lnSpc>
                <a:spcPts val="2108"/>
              </a:lnSpc>
              <a:spcBef>
                <a:spcPts val="0"/>
              </a:spcBef>
              <a:spcAft>
                <a:spcPts val="0"/>
              </a:spcAft>
              <a:defRPr sz="1700" b="0">
                <a:solidFill>
                  <a:srgbClr val="182F45"/>
                </a:solidFill>
                <a:latin typeface="Arial"/>
              </a:defRPr>
            </a:pPr>
            <a:r>
              <a:t>restricted system.</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Source scans and image scans inspect different inputs; retain both sets of evidence.</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Project guidance • examples are illustrative</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11 / 57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02 PIPELINE FLOW</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Phase 4: test, release and observe</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Owner: application team and release operations.</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STAGING</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Deploy the candidate digest.</a:t>
            </a:r>
          </a:p>
          <a:p>
            <a:pPr>
              <a:lnSpc>
                <a:spcPts val="2108"/>
              </a:lnSpc>
              <a:spcBef>
                <a:spcPts val="0"/>
              </a:spcBef>
              <a:spcAft>
                <a:spcPts val="0"/>
              </a:spcAft>
              <a:defRPr sz="1700" b="0">
                <a:solidFill>
                  <a:srgbClr val="182F45"/>
                </a:solidFill>
                <a:latin typeface="Arial"/>
              </a:defRPr>
            </a:pPr>
            <a:r>
              <a:t>Check health, authenticated</a:t>
            </a:r>
          </a:p>
          <a:p>
            <a:pPr>
              <a:lnSpc>
                <a:spcPts val="2108"/>
              </a:lnSpc>
              <a:spcBef>
                <a:spcPts val="0"/>
              </a:spcBef>
              <a:spcAft>
                <a:spcPts val="0"/>
              </a:spcAft>
              <a:defRPr sz="1700" b="0">
                <a:solidFill>
                  <a:srgbClr val="182F45"/>
                </a:solidFill>
                <a:latin typeface="Arial"/>
              </a:defRPr>
            </a:pPr>
            <a:r>
              <a:t>behavior and API access rules.</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RELEASE GATE</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Verify identity, complete reports,</a:t>
            </a:r>
          </a:p>
          <a:p>
            <a:pPr>
              <a:lnSpc>
                <a:spcPts val="2108"/>
              </a:lnSpc>
              <a:spcBef>
                <a:spcPts val="0"/>
              </a:spcBef>
              <a:spcAft>
                <a:spcPts val="0"/>
              </a:spcAft>
              <a:defRPr sz="1700" b="0">
                <a:solidFill>
                  <a:srgbClr val="182F45"/>
                </a:solidFill>
                <a:latin typeface="Arial"/>
              </a:defRPr>
            </a:pPr>
            <a:r>
              <a:t>thresholds, valid exceptions and</a:t>
            </a:r>
          </a:p>
          <a:p>
            <a:pPr>
              <a:lnSpc>
                <a:spcPts val="2108"/>
              </a:lnSpc>
              <a:spcBef>
                <a:spcPts val="0"/>
              </a:spcBef>
              <a:spcAft>
                <a:spcPts val="0"/>
              </a:spcAft>
              <a:defRPr sz="1700" b="0">
                <a:solidFill>
                  <a:srgbClr val="182F45"/>
                </a:solidFill>
                <a:latin typeface="Arial"/>
              </a:defRPr>
            </a:pPr>
            <a:r>
              <a:t>approval.</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PRODUCTION</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Deploy the approved digest.</a:t>
            </a:r>
          </a:p>
          <a:p>
            <a:pPr>
              <a:lnSpc>
                <a:spcPts val="2108"/>
              </a:lnSpc>
              <a:spcBef>
                <a:spcPts val="0"/>
              </a:spcBef>
              <a:spcAft>
                <a:spcPts val="0"/>
              </a:spcAft>
              <a:defRPr sz="1700" b="0">
                <a:solidFill>
                  <a:srgbClr val="182F45"/>
                </a:solidFill>
                <a:latin typeface="Arial"/>
              </a:defRPr>
            </a:pPr>
            <a:r>
              <a:t>Observe health and security; roll</a:t>
            </a:r>
          </a:p>
          <a:p>
            <a:pPr>
              <a:lnSpc>
                <a:spcPts val="2108"/>
              </a:lnSpc>
              <a:spcBef>
                <a:spcPts val="0"/>
              </a:spcBef>
              <a:spcAft>
                <a:spcPts val="0"/>
              </a:spcAft>
              <a:defRPr sz="1700" b="0">
                <a:solidFill>
                  <a:srgbClr val="182F45"/>
                </a:solidFill>
                <a:latin typeface="Arial"/>
              </a:defRPr>
            </a:pPr>
            <a:r>
              <a:t>back or patch when needed.</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A passing release gate is a time-bounded decision about one artifact.</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Project guidance • examples are illustrative</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12 / 57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03 DETECTION</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Five working principles behind the tools</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Ask what is being compared before asking which database is used.</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IDENTITY + ADVISORY</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SCA and image scanners</a:t>
            </a:r>
          </a:p>
          <a:p>
            <a:pPr>
              <a:lnSpc>
                <a:spcPts val="2108"/>
              </a:lnSpc>
              <a:spcBef>
                <a:spcPts val="0"/>
              </a:spcBef>
              <a:spcAft>
                <a:spcPts val="0"/>
              </a:spcAft>
              <a:defRPr sz="1700" b="0">
                <a:solidFill>
                  <a:srgbClr val="182F45"/>
                </a:solidFill>
                <a:latin typeface="Arial"/>
              </a:defRPr>
            </a:pPr>
            <a:r>
              <a:t>identify packages and compare</a:t>
            </a:r>
          </a:p>
          <a:p>
            <a:pPr>
              <a:lnSpc>
                <a:spcPts val="2108"/>
              </a:lnSpc>
              <a:spcBef>
                <a:spcPts val="0"/>
              </a:spcBef>
              <a:spcAft>
                <a:spcPts val="0"/>
              </a:spcAft>
              <a:defRPr sz="1700" b="0">
                <a:solidFill>
                  <a:srgbClr val="182F45"/>
                </a:solidFill>
                <a:latin typeface="Arial"/>
              </a:defRPr>
            </a:pPr>
            <a:r>
              <a:t>versions with affected ranges.</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STRUCTURE + RULE</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Secret, code and configuration</a:t>
            </a:r>
          </a:p>
          <a:p>
            <a:pPr>
              <a:lnSpc>
                <a:spcPts val="2108"/>
              </a:lnSpc>
              <a:spcBef>
                <a:spcPts val="0"/>
              </a:spcBef>
              <a:spcAft>
                <a:spcPts val="0"/>
              </a:spcAft>
              <a:defRPr sz="1700" b="0">
                <a:solidFill>
                  <a:srgbClr val="182F45"/>
                </a:solidFill>
                <a:latin typeface="Arial"/>
              </a:defRPr>
            </a:pPr>
            <a:r>
              <a:t>tools match patterns, data flows</a:t>
            </a:r>
          </a:p>
          <a:p>
            <a:pPr>
              <a:lnSpc>
                <a:spcPts val="2108"/>
              </a:lnSpc>
              <a:spcBef>
                <a:spcPts val="0"/>
              </a:spcBef>
              <a:spcAft>
                <a:spcPts val="0"/>
              </a:spcAft>
              <a:defRPr sz="1700" b="0">
                <a:solidFill>
                  <a:srgbClr val="182F45"/>
                </a:solidFill>
                <a:latin typeface="Arial"/>
              </a:defRPr>
            </a:pPr>
            <a:r>
              <a:t>or policy conditions.</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OBSERVATION + TRUST</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DAST inspects responses;</a:t>
            </a:r>
          </a:p>
          <a:p>
            <a:pPr>
              <a:lnSpc>
                <a:spcPts val="2108"/>
              </a:lnSpc>
              <a:spcBef>
                <a:spcPts val="0"/>
              </a:spcBef>
              <a:spcAft>
                <a:spcPts val="0"/>
              </a:spcAft>
              <a:defRPr sz="1700" b="0">
                <a:solidFill>
                  <a:srgbClr val="182F45"/>
                </a:solidFill>
                <a:latin typeface="Arial"/>
              </a:defRPr>
            </a:pPr>
            <a:r>
              <a:t>runtime tools inspect events;</a:t>
            </a:r>
          </a:p>
          <a:p>
            <a:pPr>
              <a:lnSpc>
                <a:spcPts val="2108"/>
              </a:lnSpc>
              <a:spcBef>
                <a:spcPts val="0"/>
              </a:spcBef>
              <a:spcAft>
                <a:spcPts val="0"/>
              </a:spcAft>
              <a:defRPr sz="1700" b="0">
                <a:solidFill>
                  <a:srgbClr val="182F45"/>
                </a:solidFill>
                <a:latin typeface="Arial"/>
              </a:defRPr>
            </a:pPr>
            <a:r>
              <a:t>signing tools verify cryptographic</a:t>
            </a:r>
          </a:p>
          <a:p>
            <a:pPr>
              <a:lnSpc>
                <a:spcPts val="2108"/>
              </a:lnSpc>
              <a:spcBef>
                <a:spcPts val="0"/>
              </a:spcBef>
              <a:spcAft>
                <a:spcPts val="0"/>
              </a:spcAft>
              <a:defRPr sz="1700" b="0">
                <a:solidFill>
                  <a:srgbClr val="182F45"/>
                </a:solidFill>
                <a:latin typeface="Arial"/>
              </a:defRPr>
            </a:pPr>
            <a:r>
              <a:t>evidence.</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“Database” can mean advisories, a code model, an inventory or a rule bundle.</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Project guidance • examples are illustrative</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13 / 57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03 DETECTION</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Secret scanning: Gitleaks</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Find credential-shaped material before it spreads.</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INPUT / FINDINGS</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Files and Git history. Finds likely</a:t>
            </a:r>
          </a:p>
          <a:p>
            <a:pPr>
              <a:lnSpc>
                <a:spcPts val="2108"/>
              </a:lnSpc>
              <a:spcBef>
                <a:spcPts val="0"/>
              </a:spcBef>
              <a:spcAft>
                <a:spcPts val="0"/>
              </a:spcAft>
              <a:defRPr sz="1700" b="0">
                <a:solidFill>
                  <a:srgbClr val="182F45"/>
                </a:solidFill>
                <a:latin typeface="Arial"/>
              </a:defRPr>
            </a:pPr>
            <a:r>
              <a:t>tokens, keys and other secrets</a:t>
            </a:r>
          </a:p>
          <a:p>
            <a:pPr>
              <a:lnSpc>
                <a:spcPts val="2108"/>
              </a:lnSpc>
              <a:spcBef>
                <a:spcPts val="0"/>
              </a:spcBef>
              <a:spcAft>
                <a:spcPts val="0"/>
              </a:spcAft>
              <a:defRPr sz="1700" b="0">
                <a:solidFill>
                  <a:srgbClr val="182F45"/>
                </a:solidFill>
                <a:latin typeface="Arial"/>
              </a:defRPr>
            </a:pPr>
            <a:r>
              <a:t>with file and rule context.</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HOW IT WORKS</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Rules use patterns, keywords</a:t>
            </a:r>
          </a:p>
          <a:p>
            <a:pPr>
              <a:lnSpc>
                <a:spcPts val="2108"/>
              </a:lnSpc>
              <a:spcBef>
                <a:spcPts val="0"/>
              </a:spcBef>
              <a:spcAft>
                <a:spcPts val="0"/>
              </a:spcAft>
              <a:defRPr sz="1700" b="0">
                <a:solidFill>
                  <a:srgbClr val="182F45"/>
                </a:solidFill>
                <a:latin typeface="Arial"/>
              </a:defRPr>
            </a:pPr>
            <a:r>
              <a:t>and optional entropy checks.</a:t>
            </a:r>
          </a:p>
          <a:p>
            <a:pPr>
              <a:lnSpc>
                <a:spcPts val="2108"/>
              </a:lnSpc>
              <a:spcBef>
                <a:spcPts val="0"/>
              </a:spcBef>
              <a:spcAft>
                <a:spcPts val="0"/>
              </a:spcAft>
              <a:defRPr sz="1700" b="0">
                <a:solidFill>
                  <a:srgbClr val="182F45"/>
                </a:solidFill>
                <a:latin typeface="Arial"/>
              </a:defRPr>
            </a:pPr>
            <a:r>
              <a:t>Entropy measures apparent</a:t>
            </a:r>
          </a:p>
          <a:p>
            <a:pPr>
              <a:lnSpc>
                <a:spcPts val="2108"/>
              </a:lnSpc>
              <a:spcBef>
                <a:spcPts val="0"/>
              </a:spcBef>
              <a:spcAft>
                <a:spcPts val="0"/>
              </a:spcAft>
              <a:defRPr sz="1700" b="0">
                <a:solidFill>
                  <a:srgbClr val="182F45"/>
                </a:solidFill>
                <a:latin typeface="Arial"/>
              </a:defRPr>
            </a:pPr>
            <a:r>
              <a:t>randomness.</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DATA / LIMITS</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Embedded and custom rules; no</a:t>
            </a:r>
          </a:p>
          <a:p>
            <a:pPr>
              <a:lnSpc>
                <a:spcPts val="2108"/>
              </a:lnSpc>
              <a:spcBef>
                <a:spcPts val="0"/>
              </a:spcBef>
              <a:spcAft>
                <a:spcPts val="0"/>
              </a:spcAft>
              <a:defRPr sz="1700" b="0">
                <a:solidFill>
                  <a:srgbClr val="182F45"/>
                </a:solidFill>
                <a:latin typeface="Arial"/>
              </a:defRPr>
            </a:pPr>
            <a:r>
              <a:t>CVE feed. A pattern match does</a:t>
            </a:r>
          </a:p>
          <a:p>
            <a:pPr>
              <a:lnSpc>
                <a:spcPts val="2108"/>
              </a:lnSpc>
              <a:spcBef>
                <a:spcPts val="0"/>
              </a:spcBef>
              <a:spcAft>
                <a:spcPts val="0"/>
              </a:spcAft>
              <a:defRPr sz="1700" b="0">
                <a:solidFill>
                  <a:srgbClr val="182F45"/>
                </a:solidFill>
                <a:latin typeface="Arial"/>
              </a:defRPr>
            </a:pPr>
            <a:r>
              <a:t>not establish that a credential is</a:t>
            </a:r>
          </a:p>
          <a:p>
            <a:pPr>
              <a:lnSpc>
                <a:spcPts val="2108"/>
              </a:lnSpc>
              <a:spcBef>
                <a:spcPts val="0"/>
              </a:spcBef>
              <a:spcAft>
                <a:spcPts val="0"/>
              </a:spcAft>
              <a:defRPr sz="1700" b="0">
                <a:solidFill>
                  <a:srgbClr val="182F45"/>
                </a:solidFill>
                <a:latin typeface="Arial"/>
              </a:defRPr>
            </a:pPr>
            <a:r>
              <a:t>active.</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Rotate a real leaked credential; deleting the string does not invalidate it.</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Sources in notes: gitleaks</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14 / 57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03 DETECTION</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SCA: identify, then match</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Software Composition Analysis starts with an accurate inventory.</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IDENTIFY</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Read supported lockfiles,</a:t>
            </a:r>
          </a:p>
          <a:p>
            <a:pPr>
              <a:lnSpc>
                <a:spcPts val="2108"/>
              </a:lnSpc>
              <a:spcBef>
                <a:spcPts val="0"/>
              </a:spcBef>
              <a:spcAft>
                <a:spcPts val="0"/>
              </a:spcAft>
              <a:defRPr sz="1700" b="0">
                <a:solidFill>
                  <a:srgbClr val="182F45"/>
                </a:solidFill>
                <a:latin typeface="Arial"/>
              </a:defRPr>
            </a:pPr>
            <a:r>
              <a:t>package metadata or binaries.</a:t>
            </a:r>
          </a:p>
          <a:p>
            <a:pPr>
              <a:lnSpc>
                <a:spcPts val="2108"/>
              </a:lnSpc>
              <a:spcBef>
                <a:spcPts val="0"/>
              </a:spcBef>
              <a:spcAft>
                <a:spcPts val="0"/>
              </a:spcAft>
              <a:defRPr sz="1700" b="0">
                <a:solidFill>
                  <a:srgbClr val="182F45"/>
                </a:solidFill>
                <a:latin typeface="Arial"/>
              </a:defRPr>
            </a:pPr>
            <a:r>
              <a:t>Resolve name, ecosystem,</a:t>
            </a:r>
          </a:p>
          <a:p>
            <a:pPr>
              <a:lnSpc>
                <a:spcPts val="2108"/>
              </a:lnSpc>
              <a:spcBef>
                <a:spcPts val="0"/>
              </a:spcBef>
              <a:spcAft>
                <a:spcPts val="0"/>
              </a:spcAft>
              <a:defRPr sz="1700" b="0">
                <a:solidFill>
                  <a:srgbClr val="182F45"/>
                </a:solidFill>
                <a:latin typeface="Arial"/>
              </a:defRPr>
            </a:pPr>
            <a:r>
              <a:t>version and origin.</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COMPARE</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Select the relevant advisory</a:t>
            </a:r>
          </a:p>
          <a:p>
            <a:pPr>
              <a:lnSpc>
                <a:spcPts val="2108"/>
              </a:lnSpc>
              <a:spcBef>
                <a:spcPts val="0"/>
              </a:spcBef>
              <a:spcAft>
                <a:spcPts val="0"/>
              </a:spcAft>
              <a:defRPr sz="1700" b="0">
                <a:solidFill>
                  <a:srgbClr val="182F45"/>
                </a:solidFill>
                <a:latin typeface="Arial"/>
              </a:defRPr>
            </a:pPr>
            <a:r>
              <a:t>source. Evaluate affected</a:t>
            </a:r>
          </a:p>
          <a:p>
            <a:pPr>
              <a:lnSpc>
                <a:spcPts val="2108"/>
              </a:lnSpc>
              <a:spcBef>
                <a:spcPts val="0"/>
              </a:spcBef>
              <a:spcAft>
                <a:spcPts val="0"/>
              </a:spcAft>
              <a:defRPr sz="1700" b="0">
                <a:solidFill>
                  <a:srgbClr val="182F45"/>
                </a:solidFill>
                <a:latin typeface="Arial"/>
              </a:defRPr>
            </a:pPr>
            <a:r>
              <a:t>version ranges using</a:t>
            </a:r>
          </a:p>
          <a:p>
            <a:pPr>
              <a:lnSpc>
                <a:spcPts val="2108"/>
              </a:lnSpc>
              <a:spcBef>
                <a:spcPts val="0"/>
              </a:spcBef>
              <a:spcAft>
                <a:spcPts val="0"/>
              </a:spcAft>
              <a:defRPr sz="1700" b="0">
                <a:solidFill>
                  <a:srgbClr val="182F45"/>
                </a:solidFill>
                <a:latin typeface="Arial"/>
              </a:defRPr>
            </a:pPr>
            <a:r>
              <a:t>ecosystem-specific semantics.</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REPORT</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Return component, advisory ID,</a:t>
            </a:r>
          </a:p>
          <a:p>
            <a:pPr>
              <a:lnSpc>
                <a:spcPts val="2108"/>
              </a:lnSpc>
              <a:spcBef>
                <a:spcPts val="0"/>
              </a:spcBef>
              <a:spcAft>
                <a:spcPts val="0"/>
              </a:spcAft>
              <a:defRPr sz="1700" b="0">
                <a:solidFill>
                  <a:srgbClr val="182F45"/>
                </a:solidFill>
                <a:latin typeface="Arial"/>
              </a:defRPr>
            </a:pPr>
            <a:r>
              <a:t>severity, installed version, fixed</a:t>
            </a:r>
          </a:p>
          <a:p>
            <a:pPr>
              <a:lnSpc>
                <a:spcPts val="2108"/>
              </a:lnSpc>
              <a:spcBef>
                <a:spcPts val="0"/>
              </a:spcBef>
              <a:spcAft>
                <a:spcPts val="0"/>
              </a:spcAft>
              <a:defRPr sz="1700" b="0">
                <a:solidFill>
                  <a:srgbClr val="182F45"/>
                </a:solidFill>
                <a:latin typeface="Arial"/>
              </a:defRPr>
            </a:pPr>
            <a:r>
              <a:t>version and evidence path.</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A missed component cannot receive a reliable vulnerability verdict.</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Project guidance • examples are illustrative</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15 / 57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03 DETECTION</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Worked example: an affected version range</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Illustrative package and advisory; these are not real vulnerability records.</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INVENTORY</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The lockfile resolves</a:t>
            </a:r>
          </a:p>
          <a:p>
            <a:pPr>
              <a:lnSpc>
                <a:spcPts val="2108"/>
              </a:lnSpc>
              <a:spcBef>
                <a:spcPts val="0"/>
              </a:spcBef>
              <a:spcAft>
                <a:spcPts val="0"/>
              </a:spcAft>
              <a:defRPr sz="1700" b="0">
                <a:solidFill>
                  <a:srgbClr val="182F45"/>
                </a:solidFill>
                <a:latin typeface="Arial"/>
              </a:defRPr>
            </a:pPr>
            <a:r>
              <a:t>demo-parser 2.4.1. A transitive</a:t>
            </a:r>
          </a:p>
          <a:p>
            <a:pPr>
              <a:lnSpc>
                <a:spcPts val="2108"/>
              </a:lnSpc>
              <a:spcBef>
                <a:spcPts val="0"/>
              </a:spcBef>
              <a:spcAft>
                <a:spcPts val="0"/>
              </a:spcAft>
              <a:defRPr sz="1700" b="0">
                <a:solidFill>
                  <a:srgbClr val="182F45"/>
                </a:solidFill>
                <a:latin typeface="Arial"/>
              </a:defRPr>
            </a:pPr>
            <a:r>
              <a:t>dependency brought it into the</a:t>
            </a:r>
          </a:p>
          <a:p>
            <a:pPr>
              <a:lnSpc>
                <a:spcPts val="2108"/>
              </a:lnSpc>
              <a:spcBef>
                <a:spcPts val="0"/>
              </a:spcBef>
              <a:spcAft>
                <a:spcPts val="0"/>
              </a:spcAft>
              <a:defRPr sz="1700" b="0">
                <a:solidFill>
                  <a:srgbClr val="182F45"/>
                </a:solidFill>
                <a:latin typeface="Arial"/>
              </a:defRPr>
            </a:pPr>
            <a:r>
              <a:t>shop.</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ADVISORY</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The relevant ecosystem advisory</a:t>
            </a:r>
          </a:p>
          <a:p>
            <a:pPr>
              <a:lnSpc>
                <a:spcPts val="2108"/>
              </a:lnSpc>
              <a:spcBef>
                <a:spcPts val="0"/>
              </a:spcBef>
              <a:spcAft>
                <a:spcPts val="0"/>
              </a:spcAft>
              <a:defRPr sz="1700" b="0">
                <a:solidFill>
                  <a:srgbClr val="182F45"/>
                </a:solidFill>
                <a:latin typeface="Arial"/>
              </a:defRPr>
            </a:pPr>
            <a:r>
              <a:t>says versions from 2.0.0 up to,</a:t>
            </a:r>
          </a:p>
          <a:p>
            <a:pPr>
              <a:lnSpc>
                <a:spcPts val="2108"/>
              </a:lnSpc>
              <a:spcBef>
                <a:spcPts val="0"/>
              </a:spcBef>
              <a:spcAft>
                <a:spcPts val="0"/>
              </a:spcAft>
              <a:defRPr sz="1700" b="0">
                <a:solidFill>
                  <a:srgbClr val="182F45"/>
                </a:solidFill>
                <a:latin typeface="Arial"/>
              </a:defRPr>
            </a:pPr>
            <a:r>
              <a:t>but excluding, 2.4.3 are affected.</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DECISION</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2.4.1 is inside the range.</a:t>
            </a:r>
          </a:p>
          <a:p>
            <a:pPr>
              <a:lnSpc>
                <a:spcPts val="2108"/>
              </a:lnSpc>
              <a:spcBef>
                <a:spcPts val="0"/>
              </a:spcBef>
              <a:spcAft>
                <a:spcPts val="0"/>
              </a:spcAft>
              <a:defRPr sz="1700" b="0">
                <a:solidFill>
                  <a:srgbClr val="182F45"/>
                </a:solidFill>
                <a:latin typeface="Arial"/>
              </a:defRPr>
            </a:pPr>
            <a:r>
              <a:t>Upgrade resolution to a tested</a:t>
            </a:r>
          </a:p>
          <a:p>
            <a:pPr>
              <a:lnSpc>
                <a:spcPts val="2108"/>
              </a:lnSpc>
              <a:spcBef>
                <a:spcPts val="0"/>
              </a:spcBef>
              <a:spcAft>
                <a:spcPts val="0"/>
              </a:spcAft>
              <a:defRPr sz="1700" b="0">
                <a:solidFill>
                  <a:srgbClr val="182F45"/>
                </a:solidFill>
                <a:latin typeface="Arial"/>
              </a:defRPr>
            </a:pPr>
            <a:r>
              <a:t>fixed release, rebuild and</a:t>
            </a:r>
          </a:p>
          <a:p>
            <a:pPr>
              <a:lnSpc>
                <a:spcPts val="2108"/>
              </a:lnSpc>
              <a:spcBef>
                <a:spcPts val="0"/>
              </a:spcBef>
              <a:spcAft>
                <a:spcPts val="0"/>
              </a:spcAft>
              <a:defRPr sz="1700" b="0">
                <a:solidFill>
                  <a:srgbClr val="182F45"/>
                </a:solidFill>
                <a:latin typeface="Arial"/>
              </a:defRPr>
            </a:pPr>
            <a:r>
              <a:t>rescan.</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Name + ecosystem + version + origin determine which advisory applies.</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Project guidance • examples are illustrative</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16 / 57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03 DETECTION</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Trivy: source and image vulnerabilities</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One product, several scanners; enable the intended scope explicitly.</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INPUT</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Filesystem manifests or image</a:t>
            </a:r>
          </a:p>
          <a:p>
            <a:pPr>
              <a:lnSpc>
                <a:spcPts val="2108"/>
              </a:lnSpc>
              <a:spcBef>
                <a:spcPts val="0"/>
              </a:spcBef>
              <a:spcAft>
                <a:spcPts val="0"/>
              </a:spcAft>
              <a:defRPr sz="1700" b="0">
                <a:solidFill>
                  <a:srgbClr val="182F45"/>
                </a:solidFill>
                <a:latin typeface="Arial"/>
              </a:defRPr>
            </a:pPr>
            <a:r>
              <a:t>package metadata. An image</a:t>
            </a:r>
          </a:p>
          <a:p>
            <a:pPr>
              <a:lnSpc>
                <a:spcPts val="2108"/>
              </a:lnSpc>
              <a:spcBef>
                <a:spcPts val="0"/>
              </a:spcBef>
              <a:spcAft>
                <a:spcPts val="0"/>
              </a:spcAft>
              <a:defRPr sz="1700" b="0">
                <a:solidFill>
                  <a:srgbClr val="182F45"/>
                </a:solidFill>
                <a:latin typeface="Arial"/>
              </a:defRPr>
            </a:pPr>
            <a:r>
              <a:t>adds operating-system packages</a:t>
            </a:r>
          </a:p>
          <a:p>
            <a:pPr>
              <a:lnSpc>
                <a:spcPts val="2108"/>
              </a:lnSpc>
              <a:spcBef>
                <a:spcPts val="0"/>
              </a:spcBef>
              <a:spcAft>
                <a:spcPts val="0"/>
              </a:spcAft>
              <a:defRPr sz="1700" b="0">
                <a:solidFill>
                  <a:srgbClr val="182F45"/>
                </a:solidFill>
                <a:latin typeface="Arial"/>
              </a:defRPr>
            </a:pPr>
            <a:r>
              <a:t>and packaged application</a:t>
            </a:r>
          </a:p>
          <a:p>
            <a:pPr>
              <a:lnSpc>
                <a:spcPts val="2108"/>
              </a:lnSpc>
              <a:spcBef>
                <a:spcPts val="0"/>
              </a:spcBef>
              <a:spcAft>
                <a:spcPts val="0"/>
              </a:spcAft>
              <a:defRPr sz="1700" b="0">
                <a:solidFill>
                  <a:srgbClr val="182F45"/>
                </a:solidFill>
                <a:latin typeface="Arial"/>
              </a:defRPr>
            </a:pPr>
            <a:r>
              <a:t>libraries.</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COMPARISON DATA</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Trivy DB aggregates vendor and</a:t>
            </a:r>
          </a:p>
          <a:p>
            <a:pPr>
              <a:lnSpc>
                <a:spcPts val="2108"/>
              </a:lnSpc>
              <a:spcBef>
                <a:spcPts val="0"/>
              </a:spcBef>
              <a:spcAft>
                <a:spcPts val="0"/>
              </a:spcAft>
              <a:defRPr sz="1700" b="0">
                <a:solidFill>
                  <a:srgbClr val="182F45"/>
                </a:solidFill>
                <a:latin typeface="Arial"/>
              </a:defRPr>
            </a:pPr>
            <a:r>
              <a:t>ecosystem advisories.</a:t>
            </a:r>
          </a:p>
          <a:p>
            <a:pPr>
              <a:lnSpc>
                <a:spcPts val="2108"/>
              </a:lnSpc>
              <a:spcBef>
                <a:spcPts val="0"/>
              </a:spcBef>
              <a:spcAft>
                <a:spcPts val="0"/>
              </a:spcAft>
              <a:defRPr sz="1700" b="0">
                <a:solidFill>
                  <a:srgbClr val="182F45"/>
                </a:solidFill>
                <a:latin typeface="Arial"/>
              </a:defRPr>
            </a:pPr>
            <a:r>
              <a:t>OS-managed packages use the</a:t>
            </a:r>
          </a:p>
          <a:p>
            <a:pPr>
              <a:lnSpc>
                <a:spcPts val="2108"/>
              </a:lnSpc>
              <a:spcBef>
                <a:spcPts val="0"/>
              </a:spcBef>
              <a:spcAft>
                <a:spcPts val="0"/>
              </a:spcAft>
              <a:defRPr sz="1700" b="0">
                <a:solidFill>
                  <a:srgbClr val="182F45"/>
                </a:solidFill>
                <a:latin typeface="Arial"/>
              </a:defRPr>
            </a:pPr>
            <a:r>
              <a:t>corresponding distribution</a:t>
            </a:r>
          </a:p>
          <a:p>
            <a:pPr>
              <a:lnSpc>
                <a:spcPts val="2108"/>
              </a:lnSpc>
              <a:spcBef>
                <a:spcPts val="0"/>
              </a:spcBef>
              <a:spcAft>
                <a:spcPts val="0"/>
              </a:spcAft>
              <a:defRPr sz="1700" b="0">
                <a:solidFill>
                  <a:srgbClr val="182F45"/>
                </a:solidFill>
                <a:latin typeface="Arial"/>
              </a:defRPr>
            </a:pPr>
            <a:r>
              <a:t>source.</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OUTPUT / LIMIT</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Known vulnerable components.</a:t>
            </a:r>
          </a:p>
          <a:p>
            <a:pPr>
              <a:lnSpc>
                <a:spcPts val="2108"/>
              </a:lnSpc>
              <a:spcBef>
                <a:spcPts val="0"/>
              </a:spcBef>
              <a:spcAft>
                <a:spcPts val="0"/>
              </a:spcAft>
              <a:defRPr sz="1700" b="0">
                <a:solidFill>
                  <a:srgbClr val="182F45"/>
                </a:solidFill>
                <a:latin typeface="Arial"/>
              </a:defRPr>
            </a:pPr>
            <a:r>
              <a:t>This project enables vulnerability</a:t>
            </a:r>
          </a:p>
          <a:p>
            <a:pPr>
              <a:lnSpc>
                <a:spcPts val="2108"/>
              </a:lnSpc>
              <a:spcBef>
                <a:spcPts val="0"/>
              </a:spcBef>
              <a:spcAft>
                <a:spcPts val="0"/>
              </a:spcAft>
              <a:defRPr sz="1700" b="0">
                <a:solidFill>
                  <a:srgbClr val="182F45"/>
                </a:solidFill>
                <a:latin typeface="Arial"/>
              </a:defRPr>
            </a:pPr>
            <a:r>
              <a:t>scanning; licenses and image</a:t>
            </a:r>
          </a:p>
          <a:p>
            <a:pPr>
              <a:lnSpc>
                <a:spcPts val="2108"/>
              </a:lnSpc>
              <a:spcBef>
                <a:spcPts val="0"/>
              </a:spcBef>
              <a:spcAft>
                <a:spcPts val="0"/>
              </a:spcAft>
              <a:defRPr sz="1700" b="0">
                <a:solidFill>
                  <a:srgbClr val="182F45"/>
                </a:solidFill>
                <a:latin typeface="Arial"/>
              </a:defRPr>
            </a:pPr>
            <a:r>
              <a:t>secrets need separate controls.</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Check which scanner ran and which packages it recognized.</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Sources in notes: trivy</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17 / 57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03 DETECTION</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Dependency-Check, OSV and Grype</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Alternative matching systems share a goal but differ in identity and data.</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DEPENDENCY-CHECK</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Analyzers collect package</a:t>
            </a:r>
          </a:p>
          <a:p>
            <a:pPr>
              <a:lnSpc>
                <a:spcPts val="2108"/>
              </a:lnSpc>
              <a:spcBef>
                <a:spcPts val="0"/>
              </a:spcBef>
              <a:spcAft>
                <a:spcPts val="0"/>
              </a:spcAft>
              <a:defRPr sz="1700" b="0">
                <a:solidFill>
                  <a:srgbClr val="182F45"/>
                </a:solidFill>
                <a:latin typeface="Arial"/>
              </a:defRPr>
            </a:pPr>
            <a:r>
              <a:t>evidence, identify CPE</a:t>
            </a:r>
          </a:p>
          <a:p>
            <a:pPr>
              <a:lnSpc>
                <a:spcPts val="2108"/>
              </a:lnSpc>
              <a:spcBef>
                <a:spcPts val="0"/>
              </a:spcBef>
              <a:spcAft>
                <a:spcPts val="0"/>
              </a:spcAft>
              <a:defRPr sz="1700" b="0">
                <a:solidFill>
                  <a:srgbClr val="182F45"/>
                </a:solidFill>
                <a:latin typeface="Arial"/>
              </a:defRPr>
            </a:pPr>
            <a:r>
              <a:t>candidates and consult NVD</a:t>
            </a:r>
          </a:p>
          <a:p>
            <a:pPr>
              <a:lnSpc>
                <a:spcPts val="2108"/>
              </a:lnSpc>
              <a:spcBef>
                <a:spcPts val="0"/>
              </a:spcBef>
              <a:spcAft>
                <a:spcPts val="0"/>
              </a:spcAft>
              <a:defRPr sz="1700" b="0">
                <a:solidFill>
                  <a:srgbClr val="182F45"/>
                </a:solidFill>
                <a:latin typeface="Arial"/>
              </a:defRPr>
            </a:pPr>
            <a:r>
              <a:t>applicability data.</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OSV</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Open Source Vulnerabilities</a:t>
            </a:r>
          </a:p>
          <a:p>
            <a:pPr>
              <a:lnSpc>
                <a:spcPts val="2108"/>
              </a:lnSpc>
              <a:spcBef>
                <a:spcPts val="0"/>
              </a:spcBef>
              <a:spcAft>
                <a:spcPts val="0"/>
              </a:spcAft>
              <a:defRPr sz="1700" b="0">
                <a:solidFill>
                  <a:srgbClr val="182F45"/>
                </a:solidFill>
                <a:latin typeface="Arial"/>
              </a:defRPr>
            </a:pPr>
            <a:r>
              <a:t>uses ecosystem-oriented</a:t>
            </a:r>
          </a:p>
          <a:p>
            <a:pPr>
              <a:lnSpc>
                <a:spcPts val="2108"/>
              </a:lnSpc>
              <a:spcBef>
                <a:spcPts val="0"/>
              </a:spcBef>
              <a:spcAft>
                <a:spcPts val="0"/>
              </a:spcAft>
              <a:defRPr sz="1700" b="0">
                <a:solidFill>
                  <a:srgbClr val="182F45"/>
                </a:solidFill>
                <a:latin typeface="Arial"/>
              </a:defRPr>
            </a:pPr>
            <a:r>
              <a:t>records, package versions and</a:t>
            </a:r>
          </a:p>
          <a:p>
            <a:pPr>
              <a:lnSpc>
                <a:spcPts val="2108"/>
              </a:lnSpc>
              <a:spcBef>
                <a:spcPts val="0"/>
              </a:spcBef>
              <a:spcAft>
                <a:spcPts val="0"/>
              </a:spcAft>
              <a:defRPr sz="1700" b="0">
                <a:solidFill>
                  <a:srgbClr val="182F45"/>
                </a:solidFill>
                <a:latin typeface="Arial"/>
              </a:defRPr>
            </a:pPr>
            <a:r>
              <a:t>affected ranges or commits.</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GRYPE</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Matches inventoried packages</a:t>
            </a:r>
          </a:p>
          <a:p>
            <a:pPr>
              <a:lnSpc>
                <a:spcPts val="2108"/>
              </a:lnSpc>
              <a:spcBef>
                <a:spcPts val="0"/>
              </a:spcBef>
              <a:spcAft>
                <a:spcPts val="0"/>
              </a:spcAft>
              <a:defRPr sz="1700" b="0">
                <a:solidFill>
                  <a:srgbClr val="182F45"/>
                </a:solidFill>
                <a:latin typeface="Arial"/>
              </a:defRPr>
            </a:pPr>
            <a:r>
              <a:t>against its vulnerability database;</a:t>
            </a:r>
          </a:p>
          <a:p>
            <a:pPr>
              <a:lnSpc>
                <a:spcPts val="2108"/>
              </a:lnSpc>
              <a:spcBef>
                <a:spcPts val="0"/>
              </a:spcBef>
              <a:spcAft>
                <a:spcPts val="0"/>
              </a:spcAft>
              <a:defRPr sz="1700" b="0">
                <a:solidFill>
                  <a:srgbClr val="182F45"/>
                </a:solidFill>
                <a:latin typeface="Arial"/>
              </a:defRPr>
            </a:pPr>
            <a:r>
              <a:t>can scan an image, filesystem or</a:t>
            </a:r>
          </a:p>
          <a:p>
            <a:pPr>
              <a:lnSpc>
                <a:spcPts val="2108"/>
              </a:lnSpc>
              <a:spcBef>
                <a:spcPts val="0"/>
              </a:spcBef>
              <a:spcAft>
                <a:spcPts val="0"/>
              </a:spcAft>
              <a:defRPr sz="1700" b="0">
                <a:solidFill>
                  <a:srgbClr val="182F45"/>
                </a:solidFill>
                <a:latin typeface="Arial"/>
              </a:defRPr>
            </a:pPr>
            <a:r>
              <a:t>supported SBOM.</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Compare evidence and coverage when tools disagree; do not just count alerts.</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Sources in notes: dc, osv, grype</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18 / 57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03 DETECTION</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SAST: follow data through code</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Static Application Security Testing looks for unsafe program behavior.</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SOURCE</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Untrusted data enters through a</a:t>
            </a:r>
          </a:p>
          <a:p>
            <a:pPr>
              <a:lnSpc>
                <a:spcPts val="2108"/>
              </a:lnSpc>
              <a:spcBef>
                <a:spcPts val="0"/>
              </a:spcBef>
              <a:spcAft>
                <a:spcPts val="0"/>
              </a:spcAft>
              <a:defRPr sz="1700" b="0">
                <a:solidFill>
                  <a:srgbClr val="182F45"/>
                </a:solidFill>
                <a:latin typeface="Arial"/>
              </a:defRPr>
            </a:pPr>
            <a:r>
              <a:t>request parameter, file, message</a:t>
            </a:r>
          </a:p>
          <a:p>
            <a:pPr>
              <a:lnSpc>
                <a:spcPts val="2108"/>
              </a:lnSpc>
              <a:spcBef>
                <a:spcPts val="0"/>
              </a:spcBef>
              <a:spcAft>
                <a:spcPts val="0"/>
              </a:spcAft>
              <a:defRPr sz="1700" b="0">
                <a:solidFill>
                  <a:srgbClr val="182F45"/>
                </a:solidFill>
                <a:latin typeface="Arial"/>
              </a:defRPr>
            </a:pPr>
            <a:r>
              <a:t>or other boundary.</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FLOW</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Analysis follows values through</a:t>
            </a:r>
          </a:p>
          <a:p>
            <a:pPr>
              <a:lnSpc>
                <a:spcPts val="2108"/>
              </a:lnSpc>
              <a:spcBef>
                <a:spcPts val="0"/>
              </a:spcBef>
              <a:spcAft>
                <a:spcPts val="0"/>
              </a:spcAft>
              <a:defRPr sz="1700" b="0">
                <a:solidFill>
                  <a:srgbClr val="182F45"/>
                </a:solidFill>
                <a:latin typeface="Arial"/>
              </a:defRPr>
            </a:pPr>
            <a:r>
              <a:t>assignments and calls. Models</a:t>
            </a:r>
          </a:p>
          <a:p>
            <a:pPr>
              <a:lnSpc>
                <a:spcPts val="2108"/>
              </a:lnSpc>
              <a:spcBef>
                <a:spcPts val="0"/>
              </a:spcBef>
              <a:spcAft>
                <a:spcPts val="0"/>
              </a:spcAft>
              <a:defRPr sz="1700" b="0">
                <a:solidFill>
                  <a:srgbClr val="182F45"/>
                </a:solidFill>
                <a:latin typeface="Arial"/>
              </a:defRPr>
            </a:pPr>
            <a:r>
              <a:t>describe sanitizers and safe</a:t>
            </a:r>
          </a:p>
          <a:p>
            <a:pPr>
              <a:lnSpc>
                <a:spcPts val="2108"/>
              </a:lnSpc>
              <a:spcBef>
                <a:spcPts val="0"/>
              </a:spcBef>
              <a:spcAft>
                <a:spcPts val="0"/>
              </a:spcAft>
              <a:defRPr sz="1700" b="0">
                <a:solidFill>
                  <a:srgbClr val="182F45"/>
                </a:solidFill>
                <a:latin typeface="Arial"/>
              </a:defRPr>
            </a:pPr>
            <a:r>
              <a:t>transformations.</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SINK</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A sensitive operation uses the</a:t>
            </a:r>
          </a:p>
          <a:p>
            <a:pPr>
              <a:lnSpc>
                <a:spcPts val="2108"/>
              </a:lnSpc>
              <a:spcBef>
                <a:spcPts val="0"/>
              </a:spcBef>
              <a:spcAft>
                <a:spcPts val="0"/>
              </a:spcAft>
              <a:defRPr sz="1700" b="0">
                <a:solidFill>
                  <a:srgbClr val="182F45"/>
                </a:solidFill>
                <a:latin typeface="Arial"/>
              </a:defRPr>
            </a:pPr>
            <a:r>
              <a:t>value: a database query,</a:t>
            </a:r>
          </a:p>
          <a:p>
            <a:pPr>
              <a:lnSpc>
                <a:spcPts val="2108"/>
              </a:lnSpc>
              <a:spcBef>
                <a:spcPts val="0"/>
              </a:spcBef>
              <a:spcAft>
                <a:spcPts val="0"/>
              </a:spcAft>
              <a:defRPr sz="1700" b="0">
                <a:solidFill>
                  <a:srgbClr val="182F45"/>
                </a:solidFill>
                <a:latin typeface="Arial"/>
              </a:defRPr>
            </a:pPr>
            <a:r>
              <a:t>command execution or rendered</a:t>
            </a:r>
          </a:p>
          <a:p>
            <a:pPr>
              <a:lnSpc>
                <a:spcPts val="2108"/>
              </a:lnSpc>
              <a:spcBef>
                <a:spcPts val="0"/>
              </a:spcBef>
              <a:spcAft>
                <a:spcPts val="0"/>
              </a:spcAft>
              <a:defRPr sz="1700" b="0">
                <a:solidFill>
                  <a:srgbClr val="182F45"/>
                </a:solidFill>
                <a:latin typeface="Arial"/>
              </a:defRPr>
            </a:pPr>
            <a:r>
              <a:t>page.</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Inspect the source-to-sink evidence before deciding whether the finding is real.</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Project guidance • examples are illustrative</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19 / 57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03 DETECTION</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Semgrep: executable rules over code</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Rules define what the engine should recognize.</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DETECTION</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Structural patterns and taint</a:t>
            </a:r>
          </a:p>
          <a:p>
            <a:pPr>
              <a:lnSpc>
                <a:spcPts val="2108"/>
              </a:lnSpc>
              <a:spcBef>
                <a:spcPts val="0"/>
              </a:spcBef>
              <a:spcAft>
                <a:spcPts val="0"/>
              </a:spcAft>
              <a:defRPr sz="1700" b="0">
                <a:solidFill>
                  <a:srgbClr val="182F45"/>
                </a:solidFill>
                <a:latin typeface="Arial"/>
              </a:defRPr>
            </a:pPr>
            <a:r>
              <a:t>rules describe unsafe code.</a:t>
            </a:r>
          </a:p>
          <a:p>
            <a:pPr>
              <a:lnSpc>
                <a:spcPts val="2108"/>
              </a:lnSpc>
              <a:spcBef>
                <a:spcPts val="0"/>
              </a:spcBef>
              <a:spcAft>
                <a:spcPts val="0"/>
              </a:spcAft>
              <a:defRPr sz="1700" b="0">
                <a:solidFill>
                  <a:srgbClr val="182F45"/>
                </a:solidFill>
                <a:latin typeface="Arial"/>
              </a:defRPr>
            </a:pPr>
            <a:r>
              <a:t>Analysis depth depends on</a:t>
            </a:r>
          </a:p>
          <a:p>
            <a:pPr>
              <a:lnSpc>
                <a:spcPts val="2108"/>
              </a:lnSpc>
              <a:spcBef>
                <a:spcPts val="0"/>
              </a:spcBef>
              <a:spcAft>
                <a:spcPts val="0"/>
              </a:spcAft>
              <a:defRPr sz="1700" b="0">
                <a:solidFill>
                  <a:srgbClr val="182F45"/>
                </a:solidFill>
                <a:latin typeface="Arial"/>
              </a:defRPr>
            </a:pPr>
            <a:r>
              <a:t>engine, language and edition.</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DATA / UPDATES</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Local YAML rules or registry</a:t>
            </a:r>
          </a:p>
          <a:p>
            <a:pPr>
              <a:lnSpc>
                <a:spcPts val="2108"/>
              </a:lnSpc>
              <a:spcBef>
                <a:spcPts val="0"/>
              </a:spcBef>
              <a:spcAft>
                <a:spcPts val="0"/>
              </a:spcAft>
              <a:defRPr sz="1700" b="0">
                <a:solidFill>
                  <a:srgbClr val="182F45"/>
                </a:solidFill>
                <a:latin typeface="Arial"/>
              </a:defRPr>
            </a:pPr>
            <a:r>
              <a:t>rulesets. Pin and review rules;</a:t>
            </a:r>
          </a:p>
          <a:p>
            <a:pPr>
              <a:lnSpc>
                <a:spcPts val="2108"/>
              </a:lnSpc>
              <a:spcBef>
                <a:spcPts val="0"/>
              </a:spcBef>
              <a:spcAft>
                <a:spcPts val="0"/>
              </a:spcAft>
              <a:defRPr sz="1700" b="0">
                <a:solidFill>
                  <a:srgbClr val="182F45"/>
                </a:solidFill>
                <a:latin typeface="Arial"/>
              </a:defRPr>
            </a:pPr>
            <a:r>
              <a:t>upgrade the engine separately.</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PROJECT BEHAVIOR</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The local demonstration rule</a:t>
            </a:r>
          </a:p>
          <a:p>
            <a:pPr>
              <a:lnSpc>
                <a:spcPts val="2108"/>
              </a:lnSpc>
              <a:spcBef>
                <a:spcPts val="0"/>
              </a:spcBef>
              <a:spcAft>
                <a:spcPts val="0"/>
              </a:spcAft>
              <a:defRPr sz="1700" b="0">
                <a:solidFill>
                  <a:srgbClr val="182F45"/>
                </a:solidFill>
                <a:latin typeface="Arial"/>
              </a:defRPr>
            </a:pPr>
            <a:r>
              <a:t>flags ignored pipeline failures.</a:t>
            </a:r>
          </a:p>
          <a:p>
            <a:pPr>
              <a:lnSpc>
                <a:spcPts val="2108"/>
              </a:lnSpc>
              <a:spcBef>
                <a:spcPts val="0"/>
              </a:spcBef>
              <a:spcAft>
                <a:spcPts val="0"/>
              </a:spcAft>
              <a:defRPr sz="1700" b="0">
                <a:solidFill>
                  <a:srgbClr val="182F45"/>
                </a:solidFill>
                <a:latin typeface="Arial"/>
              </a:defRPr>
            </a:pPr>
            <a:r>
              <a:t>--error makes findings fail; --strict</a:t>
            </a:r>
          </a:p>
          <a:p>
            <a:pPr>
              <a:lnSpc>
                <a:spcPts val="2108"/>
              </a:lnSpc>
              <a:spcBef>
                <a:spcPts val="0"/>
              </a:spcBef>
              <a:spcAft>
                <a:spcPts val="0"/>
              </a:spcAft>
              <a:defRPr sz="1700" b="0">
                <a:solidFill>
                  <a:srgbClr val="182F45"/>
                </a:solidFill>
                <a:latin typeface="Arial"/>
              </a:defRPr>
            </a:pPr>
            <a:r>
              <a:t>handles scan errors more</a:t>
            </a:r>
          </a:p>
          <a:p>
            <a:pPr>
              <a:lnSpc>
                <a:spcPts val="2108"/>
              </a:lnSpc>
              <a:spcBef>
                <a:spcPts val="0"/>
              </a:spcBef>
              <a:spcAft>
                <a:spcPts val="0"/>
              </a:spcAft>
              <a:defRPr sz="1700" b="0">
                <a:solidFill>
                  <a:srgbClr val="182F45"/>
                </a:solidFill>
                <a:latin typeface="Arial"/>
              </a:defRPr>
            </a:pPr>
            <a:r>
              <a:t>strictly.</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A successful process can contain findings unless failure behavior is configured.</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Sources in notes: semgrep, semgrep-cli</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20 / 57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03 DETECTION</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CodeQL and SonarQube use different models</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A database can represent your code rather than public vulnerabilities.</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CODEQL</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Extracts a database representing</a:t>
            </a:r>
          </a:p>
          <a:p>
            <a:pPr>
              <a:lnSpc>
                <a:spcPts val="2108"/>
              </a:lnSpc>
              <a:spcBef>
                <a:spcPts val="0"/>
              </a:spcBef>
              <a:spcAft>
                <a:spcPts val="0"/>
              </a:spcAft>
              <a:defRPr sz="1700" b="0">
                <a:solidFill>
                  <a:srgbClr val="182F45"/>
                </a:solidFill>
                <a:latin typeface="Arial"/>
              </a:defRPr>
            </a:pPr>
            <a:r>
              <a:t>source. Security queries analyze</a:t>
            </a:r>
          </a:p>
          <a:p>
            <a:pPr>
              <a:lnSpc>
                <a:spcPts val="2108"/>
              </a:lnSpc>
              <a:spcBef>
                <a:spcPts val="0"/>
              </a:spcBef>
              <a:spcAft>
                <a:spcPts val="0"/>
              </a:spcAft>
              <a:defRPr sz="1700" b="0">
                <a:solidFill>
                  <a:srgbClr val="182F45"/>
                </a:solidFill>
                <a:latin typeface="Arial"/>
              </a:defRPr>
            </a:pPr>
            <a:r>
              <a:t>the code model and may return</a:t>
            </a:r>
          </a:p>
          <a:p>
            <a:pPr>
              <a:lnSpc>
                <a:spcPts val="2108"/>
              </a:lnSpc>
              <a:spcBef>
                <a:spcPts val="0"/>
              </a:spcBef>
              <a:spcAft>
                <a:spcPts val="0"/>
              </a:spcAft>
              <a:defRPr sz="1700" b="0">
                <a:solidFill>
                  <a:srgbClr val="182F45"/>
                </a:solidFill>
                <a:latin typeface="Arial"/>
              </a:defRPr>
            </a:pPr>
            <a:r>
              <a:t>data-flow paths.</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SONARQUBE</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Analyzers apply language rules.</a:t>
            </a:r>
          </a:p>
          <a:p>
            <a:pPr>
              <a:lnSpc>
                <a:spcPts val="2108"/>
              </a:lnSpc>
              <a:spcBef>
                <a:spcPts val="0"/>
              </a:spcBef>
              <a:spcAft>
                <a:spcPts val="0"/>
              </a:spcAft>
              <a:defRPr sz="1700" b="0">
                <a:solidFill>
                  <a:srgbClr val="182F45"/>
                </a:solidFill>
                <a:latin typeface="Arial"/>
              </a:defRPr>
            </a:pPr>
            <a:r>
              <a:t>Quality profiles choose active</a:t>
            </a:r>
          </a:p>
          <a:p>
            <a:pPr>
              <a:lnSpc>
                <a:spcPts val="2108"/>
              </a:lnSpc>
              <a:spcBef>
                <a:spcPts val="0"/>
              </a:spcBef>
              <a:spcAft>
                <a:spcPts val="0"/>
              </a:spcAft>
              <a:defRPr sz="1700" b="0">
                <a:solidFill>
                  <a:srgbClr val="182F45"/>
                </a:solidFill>
                <a:latin typeface="Arial"/>
              </a:defRPr>
            </a:pPr>
            <a:r>
              <a:t>rules; quality gates evaluate</a:t>
            </a:r>
          </a:p>
          <a:p>
            <a:pPr>
              <a:lnSpc>
                <a:spcPts val="2108"/>
              </a:lnSpc>
              <a:spcBef>
                <a:spcPts val="0"/>
              </a:spcBef>
              <a:spcAft>
                <a:spcPts val="0"/>
              </a:spcAft>
              <a:defRPr sz="1700" b="0">
                <a:solidFill>
                  <a:srgbClr val="182F45"/>
                </a:solidFill>
                <a:latin typeface="Arial"/>
              </a:defRPr>
            </a:pPr>
            <a:r>
              <a:t>configured metrics.</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INTEGRATION</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Match analyzer support to the</a:t>
            </a:r>
          </a:p>
          <a:p>
            <a:pPr>
              <a:lnSpc>
                <a:spcPts val="2108"/>
              </a:lnSpc>
              <a:spcBef>
                <a:spcPts val="0"/>
              </a:spcBef>
              <a:spcAft>
                <a:spcPts val="0"/>
              </a:spcAft>
              <a:defRPr sz="1700" b="0">
                <a:solidFill>
                  <a:srgbClr val="182F45"/>
                </a:solidFill>
                <a:latin typeface="Arial"/>
              </a:defRPr>
            </a:pPr>
            <a:r>
              <a:t>language and build. Retrieve the</a:t>
            </a:r>
          </a:p>
          <a:p>
            <a:pPr>
              <a:lnSpc>
                <a:spcPts val="2108"/>
              </a:lnSpc>
              <a:spcBef>
                <a:spcPts val="0"/>
              </a:spcBef>
              <a:spcAft>
                <a:spcPts val="0"/>
              </a:spcAft>
              <a:defRPr sz="1700" b="0">
                <a:solidFill>
                  <a:srgbClr val="182F45"/>
                </a:solidFill>
                <a:latin typeface="Arial"/>
              </a:defRPr>
            </a:pPr>
            <a:r>
              <a:t>final gate result; scanner upload</a:t>
            </a:r>
          </a:p>
          <a:p>
            <a:pPr>
              <a:lnSpc>
                <a:spcPts val="2108"/>
              </a:lnSpc>
              <a:spcBef>
                <a:spcPts val="0"/>
              </a:spcBef>
              <a:spcAft>
                <a:spcPts val="0"/>
              </a:spcAft>
              <a:defRPr sz="1700" b="0">
                <a:solidFill>
                  <a:srgbClr val="182F45"/>
                </a:solidFill>
                <a:latin typeface="Arial"/>
              </a:defRPr>
            </a:pPr>
            <a:r>
              <a:t>success is insufficient.</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Confirm analysis completion and the evaluated policy, not just report upload.</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Sources in notes: codeql, sonar</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21 / 57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03 DETECTION</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IaC scanning: compare desired state to policy</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Infrastructure as Code can create exposure before the application starts.</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FINDS</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Examples include public storage,</a:t>
            </a:r>
          </a:p>
          <a:p>
            <a:pPr>
              <a:lnSpc>
                <a:spcPts val="2108"/>
              </a:lnSpc>
              <a:spcBef>
                <a:spcPts val="0"/>
              </a:spcBef>
              <a:spcAft>
                <a:spcPts val="0"/>
              </a:spcAft>
              <a:defRPr sz="1700" b="0">
                <a:solidFill>
                  <a:srgbClr val="182F45"/>
                </a:solidFill>
                <a:latin typeface="Arial"/>
              </a:defRPr>
            </a:pPr>
            <a:r>
              <a:t>broad network access, privileged</a:t>
            </a:r>
          </a:p>
          <a:p>
            <a:pPr>
              <a:lnSpc>
                <a:spcPts val="2108"/>
              </a:lnSpc>
              <a:spcBef>
                <a:spcPts val="0"/>
              </a:spcBef>
              <a:spcAft>
                <a:spcPts val="0"/>
              </a:spcAft>
              <a:defRPr sz="1700" b="0">
                <a:solidFill>
                  <a:srgbClr val="182F45"/>
                </a:solidFill>
                <a:latin typeface="Arial"/>
              </a:defRPr>
            </a:pPr>
            <a:r>
              <a:t>workloads and missing</a:t>
            </a:r>
          </a:p>
          <a:p>
            <a:pPr>
              <a:lnSpc>
                <a:spcPts val="2108"/>
              </a:lnSpc>
              <a:spcBef>
                <a:spcPts val="0"/>
              </a:spcBef>
              <a:spcAft>
                <a:spcPts val="0"/>
              </a:spcAft>
              <a:defRPr sz="1700" b="0">
                <a:solidFill>
                  <a:srgbClr val="182F45"/>
                </a:solidFill>
                <a:latin typeface="Arial"/>
              </a:defRPr>
            </a:pPr>
            <a:r>
              <a:t>encryption settings.</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HOW</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Parse configuration and evaluate</a:t>
            </a:r>
          </a:p>
          <a:p>
            <a:pPr>
              <a:lnSpc>
                <a:spcPts val="2108"/>
              </a:lnSpc>
              <a:spcBef>
                <a:spcPts val="0"/>
              </a:spcBef>
              <a:spcAft>
                <a:spcPts val="0"/>
              </a:spcAft>
              <a:defRPr sz="1700" b="0">
                <a:solidFill>
                  <a:srgbClr val="182F45"/>
                </a:solidFill>
                <a:latin typeface="Arial"/>
              </a:defRPr>
            </a:pPr>
            <a:r>
              <a:t>resource attributes or</a:t>
            </a:r>
          </a:p>
          <a:p>
            <a:pPr>
              <a:lnSpc>
                <a:spcPts val="2108"/>
              </a:lnSpc>
              <a:spcBef>
                <a:spcPts val="0"/>
              </a:spcBef>
              <a:spcAft>
                <a:spcPts val="0"/>
              </a:spcAft>
              <a:defRPr sz="1700" b="0">
                <a:solidFill>
                  <a:srgbClr val="182F45"/>
                </a:solidFill>
                <a:latin typeface="Arial"/>
              </a:defRPr>
            </a:pPr>
            <a:r>
              <a:t>relationships against checks and</a:t>
            </a:r>
          </a:p>
          <a:p>
            <a:pPr>
              <a:lnSpc>
                <a:spcPts val="2108"/>
              </a:lnSpc>
              <a:spcBef>
                <a:spcPts val="0"/>
              </a:spcBef>
              <a:spcAft>
                <a:spcPts val="0"/>
              </a:spcAft>
              <a:defRPr sz="1700" b="0">
                <a:solidFill>
                  <a:srgbClr val="182F45"/>
                </a:solidFill>
                <a:latin typeface="Arial"/>
              </a:defRPr>
            </a:pPr>
            <a:r>
              <a:t>organizational policy.</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DATA / LIMITS</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Rules and policy bundles, not</a:t>
            </a:r>
          </a:p>
          <a:p>
            <a:pPr>
              <a:lnSpc>
                <a:spcPts val="2108"/>
              </a:lnSpc>
              <a:spcBef>
                <a:spcPts val="0"/>
              </a:spcBef>
              <a:spcAft>
                <a:spcPts val="0"/>
              </a:spcAft>
              <a:defRPr sz="1700" b="0">
                <a:solidFill>
                  <a:srgbClr val="182F45"/>
                </a:solidFill>
                <a:latin typeface="Arial"/>
              </a:defRPr>
            </a:pPr>
            <a:r>
              <a:t>primarily a CVE database.</a:t>
            </a:r>
          </a:p>
          <a:p>
            <a:pPr>
              <a:lnSpc>
                <a:spcPts val="2108"/>
              </a:lnSpc>
              <a:spcBef>
                <a:spcPts val="0"/>
              </a:spcBef>
              <a:spcAft>
                <a:spcPts val="0"/>
              </a:spcAft>
              <a:defRPr sz="1700" b="0">
                <a:solidFill>
                  <a:srgbClr val="182F45"/>
                </a:solidFill>
                <a:latin typeface="Arial"/>
              </a:defRPr>
            </a:pPr>
            <a:r>
              <a:t>Templates may not equal</a:t>
            </a:r>
          </a:p>
          <a:p>
            <a:pPr>
              <a:lnSpc>
                <a:spcPts val="2108"/>
              </a:lnSpc>
              <a:spcBef>
                <a:spcPts val="0"/>
              </a:spcBef>
              <a:spcAft>
                <a:spcPts val="0"/>
              </a:spcAft>
              <a:defRPr sz="1700" b="0">
                <a:solidFill>
                  <a:srgbClr val="182F45"/>
                </a:solidFill>
                <a:latin typeface="Arial"/>
              </a:defRPr>
            </a:pPr>
            <a:r>
              <a:t>deployed state.</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Configuration scanning predicts risk in declared infrastructure; verify deployed reality too.</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Sources in notes: checkov</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22 / 57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03 DETECTION</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Containers: inspect what actually ships</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An application can be clean while its base image is vulnerable.</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LAYERS</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A container image packages</a:t>
            </a:r>
          </a:p>
          <a:p>
            <a:pPr>
              <a:lnSpc>
                <a:spcPts val="2108"/>
              </a:lnSpc>
              <a:spcBef>
                <a:spcPts val="0"/>
              </a:spcBef>
              <a:spcAft>
                <a:spcPts val="0"/>
              </a:spcAft>
              <a:defRPr sz="1700" b="0">
                <a:solidFill>
                  <a:srgbClr val="182F45"/>
                </a:solidFill>
                <a:latin typeface="Arial"/>
              </a:defRPr>
            </a:pPr>
            <a:r>
              <a:t>application files, libraries and</a:t>
            </a:r>
          </a:p>
          <a:p>
            <a:pPr>
              <a:lnSpc>
                <a:spcPts val="2108"/>
              </a:lnSpc>
              <a:spcBef>
                <a:spcPts val="0"/>
              </a:spcBef>
              <a:spcAft>
                <a:spcPts val="0"/>
              </a:spcAft>
              <a:defRPr sz="1700" b="0">
                <a:solidFill>
                  <a:srgbClr val="182F45"/>
                </a:solidFill>
                <a:latin typeface="Arial"/>
              </a:defRPr>
            </a:pPr>
            <a:r>
              <a:t>often operating-system</a:t>
            </a:r>
          </a:p>
          <a:p>
            <a:pPr>
              <a:lnSpc>
                <a:spcPts val="2108"/>
              </a:lnSpc>
              <a:spcBef>
                <a:spcPts val="0"/>
              </a:spcBef>
              <a:spcAft>
                <a:spcPts val="0"/>
              </a:spcAft>
              <a:defRPr sz="1700" b="0">
                <a:solidFill>
                  <a:srgbClr val="182F45"/>
                </a:solidFill>
                <a:latin typeface="Arial"/>
              </a:defRPr>
            </a:pPr>
            <a:r>
              <a:t>packages.</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SCAN TARGET</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Inspect the release digest for the</a:t>
            </a:r>
          </a:p>
          <a:p>
            <a:pPr>
              <a:lnSpc>
                <a:spcPts val="2108"/>
              </a:lnSpc>
              <a:spcBef>
                <a:spcPts val="0"/>
              </a:spcBef>
              <a:spcAft>
                <a:spcPts val="0"/>
              </a:spcAft>
              <a:defRPr sz="1700" b="0">
                <a:solidFill>
                  <a:srgbClr val="182F45"/>
                </a:solidFill>
                <a:latin typeface="Arial"/>
              </a:defRPr>
            </a:pPr>
            <a:r>
              <a:t>intended platform. Include base</a:t>
            </a:r>
          </a:p>
          <a:p>
            <a:pPr>
              <a:lnSpc>
                <a:spcPts val="2108"/>
              </a:lnSpc>
              <a:spcBef>
                <a:spcPts val="0"/>
              </a:spcBef>
              <a:spcAft>
                <a:spcPts val="0"/>
              </a:spcAft>
              <a:defRPr sz="1700" b="0">
                <a:solidFill>
                  <a:srgbClr val="182F45"/>
                </a:solidFill>
                <a:latin typeface="Arial"/>
              </a:defRPr>
            </a:pPr>
            <a:r>
              <a:t>image and application package</a:t>
            </a:r>
          </a:p>
          <a:p>
            <a:pPr>
              <a:lnSpc>
                <a:spcPts val="2108"/>
              </a:lnSpc>
              <a:spcBef>
                <a:spcPts val="0"/>
              </a:spcBef>
              <a:spcAft>
                <a:spcPts val="0"/>
              </a:spcAft>
              <a:defRPr sz="1700" b="0">
                <a:solidFill>
                  <a:srgbClr val="182F45"/>
                </a:solidFill>
                <a:latin typeface="Arial"/>
              </a:defRPr>
            </a:pPr>
            <a:r>
              <a:t>metadata.</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HARDENING</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Use minimal trusted bases,</a:t>
            </a:r>
          </a:p>
          <a:p>
            <a:pPr>
              <a:lnSpc>
                <a:spcPts val="2108"/>
              </a:lnSpc>
              <a:spcBef>
                <a:spcPts val="0"/>
              </a:spcBef>
              <a:spcAft>
                <a:spcPts val="0"/>
              </a:spcAft>
              <a:defRPr sz="1700" b="0">
                <a:solidFill>
                  <a:srgbClr val="182F45"/>
                </a:solidFill>
                <a:latin typeface="Arial"/>
              </a:defRPr>
            </a:pPr>
            <a:r>
              <a:t>non-root execution, limited</a:t>
            </a:r>
          </a:p>
          <a:p>
            <a:pPr>
              <a:lnSpc>
                <a:spcPts val="2108"/>
              </a:lnSpc>
              <a:spcBef>
                <a:spcPts val="0"/>
              </a:spcBef>
              <a:spcAft>
                <a:spcPts val="0"/>
              </a:spcAft>
              <a:defRPr sz="1700" b="0">
                <a:solidFill>
                  <a:srgbClr val="182F45"/>
                </a:solidFill>
                <a:latin typeface="Arial"/>
              </a:defRPr>
            </a:pPr>
            <a:r>
              <a:t>permissions and controlled</a:t>
            </a:r>
          </a:p>
          <a:p>
            <a:pPr>
              <a:lnSpc>
                <a:spcPts val="2108"/>
              </a:lnSpc>
              <a:spcBef>
                <a:spcPts val="0"/>
              </a:spcBef>
              <a:spcAft>
                <a:spcPts val="0"/>
              </a:spcAft>
              <a:defRPr sz="1700" b="0">
                <a:solidFill>
                  <a:srgbClr val="182F45"/>
                </a:solidFill>
                <a:latin typeface="Arial"/>
              </a:defRPr>
            </a:pPr>
            <a:r>
              <a:t>updates.</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An image scan is not a runtime monitor or a complete hardening review.</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Project guidance • examples are illustrative</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23 / 57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03 DETECTION</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SBOM: inventory for today and tomorrow</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Software Bill of Materials records component identity and relationships.</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GENERATE</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Syft or Trivy examines the</a:t>
            </a:r>
          </a:p>
          <a:p>
            <a:pPr>
              <a:lnSpc>
                <a:spcPts val="2108"/>
              </a:lnSpc>
              <a:spcBef>
                <a:spcPts val="0"/>
              </a:spcBef>
              <a:spcAft>
                <a:spcPts val="0"/>
              </a:spcAft>
              <a:defRPr sz="1700" b="0">
                <a:solidFill>
                  <a:srgbClr val="182F45"/>
                </a:solidFill>
                <a:latin typeface="Arial"/>
              </a:defRPr>
            </a:pPr>
            <a:r>
              <a:t>artifact and emits a structured</a:t>
            </a:r>
          </a:p>
          <a:p>
            <a:pPr>
              <a:lnSpc>
                <a:spcPts val="2108"/>
              </a:lnSpc>
              <a:spcBef>
                <a:spcPts val="0"/>
              </a:spcBef>
              <a:spcAft>
                <a:spcPts val="0"/>
              </a:spcAft>
              <a:defRPr sz="1700" b="0">
                <a:solidFill>
                  <a:srgbClr val="182F45"/>
                </a:solidFill>
                <a:latin typeface="Arial"/>
              </a:defRPr>
            </a:pPr>
            <a:r>
              <a:t>inventory.</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EXCHANGE</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CycloneDX and SPDX are</a:t>
            </a:r>
          </a:p>
          <a:p>
            <a:pPr>
              <a:lnSpc>
                <a:spcPts val="2108"/>
              </a:lnSpc>
              <a:spcBef>
                <a:spcPts val="0"/>
              </a:spcBef>
              <a:spcAft>
                <a:spcPts val="0"/>
              </a:spcAft>
              <a:defRPr sz="1700" b="0">
                <a:solidFill>
                  <a:srgbClr val="182F45"/>
                </a:solidFill>
                <a:latin typeface="Arial"/>
              </a:defRPr>
            </a:pPr>
            <a:r>
              <a:t>interoperable formats. SPDX</a:t>
            </a:r>
          </a:p>
          <a:p>
            <a:pPr>
              <a:lnSpc>
                <a:spcPts val="2108"/>
              </a:lnSpc>
              <a:spcBef>
                <a:spcPts val="0"/>
              </a:spcBef>
              <a:spcAft>
                <a:spcPts val="0"/>
              </a:spcAft>
              <a:defRPr sz="1700" b="0">
                <a:solidFill>
                  <a:srgbClr val="182F45"/>
                </a:solidFill>
                <a:latin typeface="Arial"/>
              </a:defRPr>
            </a:pPr>
            <a:r>
              <a:t>expands to Software Package</a:t>
            </a:r>
          </a:p>
          <a:p>
            <a:pPr>
              <a:lnSpc>
                <a:spcPts val="2108"/>
              </a:lnSpc>
              <a:spcBef>
                <a:spcPts val="0"/>
              </a:spcBef>
              <a:spcAft>
                <a:spcPts val="0"/>
              </a:spcAft>
              <a:defRPr sz="1700" b="0">
                <a:solidFill>
                  <a:srgbClr val="182F45"/>
                </a:solidFill>
                <a:latin typeface="Arial"/>
              </a:defRPr>
            </a:pPr>
            <a:r>
              <a:t>Data Exchange.</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USE</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Link the inventory to the artifact</a:t>
            </a:r>
          </a:p>
          <a:p>
            <a:pPr>
              <a:lnSpc>
                <a:spcPts val="2108"/>
              </a:lnSpc>
              <a:spcBef>
                <a:spcPts val="0"/>
              </a:spcBef>
              <a:spcAft>
                <a:spcPts val="0"/>
              </a:spcAft>
              <a:defRPr sz="1700" b="0">
                <a:solidFill>
                  <a:srgbClr val="182F45"/>
                </a:solidFill>
                <a:latin typeface="Arial"/>
              </a:defRPr>
            </a:pPr>
            <a:r>
              <a:t>digest. Recheck it when new</a:t>
            </a:r>
          </a:p>
          <a:p>
            <a:pPr>
              <a:lnSpc>
                <a:spcPts val="2108"/>
              </a:lnSpc>
              <a:spcBef>
                <a:spcPts val="0"/>
              </a:spcBef>
              <a:spcAft>
                <a:spcPts val="0"/>
              </a:spcAft>
              <a:defRPr sz="1700" b="0">
                <a:solidFill>
                  <a:srgbClr val="182F45"/>
                </a:solidFill>
                <a:latin typeface="Arial"/>
              </a:defRPr>
            </a:pPr>
            <a:r>
              <a:t>vulnerability information appears.</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An inventory enables vulnerability analysis; it is not a clean bill of health.</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Sources in notes: syft</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24 / 57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03 DETECTION</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Signing and provenance establish origin</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Verify both cryptographic integrity and the expected identity.</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DIGEST / SIGNATURE</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The digest identifies content. A</a:t>
            </a:r>
          </a:p>
          <a:p>
            <a:pPr>
              <a:lnSpc>
                <a:spcPts val="2108"/>
              </a:lnSpc>
              <a:spcBef>
                <a:spcPts val="0"/>
              </a:spcBef>
              <a:spcAft>
                <a:spcPts val="0"/>
              </a:spcAft>
              <a:defRPr sz="1700" b="0">
                <a:solidFill>
                  <a:srgbClr val="182F45"/>
                </a:solidFill>
                <a:latin typeface="Arial"/>
              </a:defRPr>
            </a:pPr>
            <a:r>
              <a:t>signature binds a signing key or</a:t>
            </a:r>
          </a:p>
          <a:p>
            <a:pPr>
              <a:lnSpc>
                <a:spcPts val="2108"/>
              </a:lnSpc>
              <a:spcBef>
                <a:spcPts val="0"/>
              </a:spcBef>
              <a:spcAft>
                <a:spcPts val="0"/>
              </a:spcAft>
              <a:defRPr sz="1700" b="0">
                <a:solidFill>
                  <a:srgbClr val="182F45"/>
                </a:solidFill>
                <a:latin typeface="Arial"/>
              </a:defRPr>
            </a:pPr>
            <a:r>
              <a:t>identity to that content.</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PROVENANCE</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An attestation describes the</a:t>
            </a:r>
          </a:p>
          <a:p>
            <a:pPr>
              <a:lnSpc>
                <a:spcPts val="2108"/>
              </a:lnSpc>
              <a:spcBef>
                <a:spcPts val="0"/>
              </a:spcBef>
              <a:spcAft>
                <a:spcPts val="0"/>
              </a:spcAft>
              <a:defRPr sz="1700" b="0">
                <a:solidFill>
                  <a:srgbClr val="182F45"/>
                </a:solidFill>
                <a:latin typeface="Arial"/>
              </a:defRPr>
            </a:pPr>
            <a:r>
              <a:t>builder and inputs. Its trust</a:t>
            </a:r>
          </a:p>
          <a:p>
            <a:pPr>
              <a:lnSpc>
                <a:spcPts val="2108"/>
              </a:lnSpc>
              <a:spcBef>
                <a:spcPts val="0"/>
              </a:spcBef>
              <a:spcAft>
                <a:spcPts val="0"/>
              </a:spcAft>
              <a:defRPr sz="1700" b="0">
                <a:solidFill>
                  <a:srgbClr val="182F45"/>
                </a:solidFill>
                <a:latin typeface="Arial"/>
              </a:defRPr>
            </a:pPr>
            <a:r>
              <a:t>depends on the builder and how</a:t>
            </a:r>
          </a:p>
          <a:p>
            <a:pPr>
              <a:lnSpc>
                <a:spcPts val="2108"/>
              </a:lnSpc>
              <a:spcBef>
                <a:spcPts val="0"/>
              </a:spcBef>
              <a:spcAft>
                <a:spcPts val="0"/>
              </a:spcAft>
              <a:defRPr sz="1700" b="0">
                <a:solidFill>
                  <a:srgbClr val="182F45"/>
                </a:solidFill>
                <a:latin typeface="Arial"/>
              </a:defRPr>
            </a:pPr>
            <a:r>
              <a:t>evidence was produced.</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VERIFY</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Check the expected signer,</a:t>
            </a:r>
          </a:p>
          <a:p>
            <a:pPr>
              <a:lnSpc>
                <a:spcPts val="2108"/>
              </a:lnSpc>
              <a:spcBef>
                <a:spcPts val="0"/>
              </a:spcBef>
              <a:spcAft>
                <a:spcPts val="0"/>
              </a:spcAft>
              <a:defRPr sz="1700" b="0">
                <a:solidFill>
                  <a:srgbClr val="182F45"/>
                </a:solidFill>
                <a:latin typeface="Arial"/>
              </a:defRPr>
            </a:pPr>
            <a:r>
              <a:t>identity issuer, artifact digest and</a:t>
            </a:r>
          </a:p>
          <a:p>
            <a:pPr>
              <a:lnSpc>
                <a:spcPts val="2108"/>
              </a:lnSpc>
              <a:spcBef>
                <a:spcPts val="0"/>
              </a:spcBef>
              <a:spcAft>
                <a:spcPts val="0"/>
              </a:spcAft>
              <a:defRPr sz="1700" b="0">
                <a:solidFill>
                  <a:srgbClr val="182F45"/>
                </a:solidFill>
                <a:latin typeface="Arial"/>
              </a:defRPr>
            </a:pPr>
            <a:r>
              <a:t>required claims before</a:t>
            </a:r>
          </a:p>
          <a:p>
            <a:pPr>
              <a:lnSpc>
                <a:spcPts val="2108"/>
              </a:lnSpc>
              <a:spcBef>
                <a:spcPts val="0"/>
              </a:spcBef>
              <a:spcAft>
                <a:spcPts val="0"/>
              </a:spcAft>
              <a:defRPr sz="1700" b="0">
                <a:solidFill>
                  <a:srgbClr val="182F45"/>
                </a:solidFill>
                <a:latin typeface="Arial"/>
              </a:defRPr>
            </a:pPr>
            <a:r>
              <a:t>deployment.</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Signed does not mean safe; verified expected origin is one release condition.</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Sources in notes: cosign, slsa</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25 / 57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03 DETECTION</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DAST: inspect the running application</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Dynamic Application Security Testing observes requests and responses.</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DISCOVER</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Find routes through crawling,</a:t>
            </a:r>
          </a:p>
          <a:p>
            <a:pPr>
              <a:lnSpc>
                <a:spcPts val="2108"/>
              </a:lnSpc>
              <a:spcBef>
                <a:spcPts val="0"/>
              </a:spcBef>
              <a:spcAft>
                <a:spcPts val="0"/>
              </a:spcAft>
              <a:defRPr sz="1700" b="0">
                <a:solidFill>
                  <a:srgbClr val="182F45"/>
                </a:solidFill>
                <a:latin typeface="Arial"/>
              </a:defRPr>
            </a:pPr>
            <a:r>
              <a:t>recorded traffic or an API</a:t>
            </a:r>
          </a:p>
          <a:p>
            <a:pPr>
              <a:lnSpc>
                <a:spcPts val="2108"/>
              </a:lnSpc>
              <a:spcBef>
                <a:spcPts val="0"/>
              </a:spcBef>
              <a:spcAft>
                <a:spcPts val="0"/>
              </a:spcAft>
              <a:defRPr sz="1700" b="0">
                <a:solidFill>
                  <a:srgbClr val="182F45"/>
                </a:solidFill>
                <a:latin typeface="Arial"/>
              </a:defRPr>
            </a:pPr>
            <a:r>
              <a:t>definition. Establish the intended</a:t>
            </a:r>
          </a:p>
          <a:p>
            <a:pPr>
              <a:lnSpc>
                <a:spcPts val="2108"/>
              </a:lnSpc>
              <a:spcBef>
                <a:spcPts val="0"/>
              </a:spcBef>
              <a:spcAft>
                <a:spcPts val="0"/>
              </a:spcAft>
              <a:defRPr sz="1700" b="0">
                <a:solidFill>
                  <a:srgbClr val="182F45"/>
                </a:solidFill>
                <a:latin typeface="Arial"/>
              </a:defRPr>
            </a:pPr>
            <a:r>
              <a:t>authenticated session.</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EXERCISE</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Observe traffic or send targeted</a:t>
            </a:r>
          </a:p>
          <a:p>
            <a:pPr>
              <a:lnSpc>
                <a:spcPts val="2108"/>
              </a:lnSpc>
              <a:spcBef>
                <a:spcPts val="0"/>
              </a:spcBef>
              <a:spcAft>
                <a:spcPts val="0"/>
              </a:spcAft>
              <a:defRPr sz="1700" b="0">
                <a:solidFill>
                  <a:srgbClr val="182F45"/>
                </a:solidFill>
                <a:latin typeface="Arial"/>
              </a:defRPr>
            </a:pPr>
            <a:r>
              <a:t>test inputs. Evaluate responses,</a:t>
            </a:r>
          </a:p>
          <a:p>
            <a:pPr>
              <a:lnSpc>
                <a:spcPts val="2108"/>
              </a:lnSpc>
              <a:spcBef>
                <a:spcPts val="0"/>
              </a:spcBef>
              <a:spcAft>
                <a:spcPts val="0"/>
              </a:spcAft>
              <a:defRPr sz="1700" b="0">
                <a:solidFill>
                  <a:srgbClr val="182F45"/>
                </a:solidFill>
                <a:latin typeface="Arial"/>
              </a:defRPr>
            </a:pPr>
            <a:r>
              <a:t>behavior and rule-specific</a:t>
            </a:r>
          </a:p>
          <a:p>
            <a:pPr>
              <a:lnSpc>
                <a:spcPts val="2108"/>
              </a:lnSpc>
              <a:spcBef>
                <a:spcPts val="0"/>
              </a:spcBef>
              <a:spcAft>
                <a:spcPts val="0"/>
              </a:spcAft>
              <a:defRPr sz="1700" b="0">
                <a:solidFill>
                  <a:srgbClr val="182F45"/>
                </a:solidFill>
                <a:latin typeface="Arial"/>
              </a:defRPr>
            </a:pPr>
            <a:r>
              <a:t>evidence.</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REPORT</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Record endpoint, parameter,</a:t>
            </a:r>
          </a:p>
          <a:p>
            <a:pPr>
              <a:lnSpc>
                <a:spcPts val="2108"/>
              </a:lnSpc>
              <a:spcBef>
                <a:spcPts val="0"/>
              </a:spcBef>
              <a:spcAft>
                <a:spcPts val="0"/>
              </a:spcAft>
              <a:defRPr sz="1700" b="0">
                <a:solidFill>
                  <a:srgbClr val="182F45"/>
                </a:solidFill>
                <a:latin typeface="Arial"/>
              </a:defRPr>
            </a:pPr>
            <a:r>
              <a:t>evidence, rule, confidence and</a:t>
            </a:r>
          </a:p>
          <a:p>
            <a:pPr>
              <a:lnSpc>
                <a:spcPts val="2108"/>
              </a:lnSpc>
              <a:spcBef>
                <a:spcPts val="0"/>
              </a:spcBef>
              <a:spcAft>
                <a:spcPts val="0"/>
              </a:spcAft>
              <a:defRPr sz="1700" b="0">
                <a:solidFill>
                  <a:srgbClr val="182F45"/>
                </a:solidFill>
                <a:latin typeface="Arial"/>
              </a:defRPr>
            </a:pPr>
            <a:r>
              <a:t>coverage. Reproduce important</a:t>
            </a:r>
          </a:p>
          <a:p>
            <a:pPr>
              <a:lnSpc>
                <a:spcPts val="2108"/>
              </a:lnSpc>
              <a:spcBef>
                <a:spcPts val="0"/>
              </a:spcBef>
              <a:spcAft>
                <a:spcPts val="0"/>
              </a:spcAft>
              <a:defRPr sz="1700" b="0">
                <a:solidFill>
                  <a:srgbClr val="182F45"/>
                </a:solidFill>
                <a:latin typeface="Arial"/>
              </a:defRPr>
            </a:pPr>
            <a:r>
              <a:t>findings safely.</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A clean scan of a login page says little about the authenticated application.</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Project guidance • examples are illustrative</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26 / 57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03 DETECTION</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ZAP: baseline is not a full active test</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ZAP rules arrive through the installed tool and add-ons.</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BASELINE</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A short crawl followed by passive</a:t>
            </a:r>
          </a:p>
          <a:p>
            <a:pPr>
              <a:lnSpc>
                <a:spcPts val="2108"/>
              </a:lnSpc>
              <a:spcBef>
                <a:spcPts val="0"/>
              </a:spcBef>
              <a:spcAft>
                <a:spcPts val="0"/>
              </a:spcAft>
              <a:defRPr sz="1700" b="0">
                <a:solidFill>
                  <a:srgbClr val="182F45"/>
                </a:solidFill>
                <a:latin typeface="Arial"/>
              </a:defRPr>
            </a:pPr>
            <a:r>
              <a:t>checks. Useful for headers and</a:t>
            </a:r>
          </a:p>
          <a:p>
            <a:pPr>
              <a:lnSpc>
                <a:spcPts val="2108"/>
              </a:lnSpc>
              <a:spcBef>
                <a:spcPts val="0"/>
              </a:spcBef>
              <a:spcAft>
                <a:spcPts val="0"/>
              </a:spcAft>
              <a:defRPr sz="1700" b="0">
                <a:solidFill>
                  <a:srgbClr val="182F45"/>
                </a:solidFill>
                <a:latin typeface="Arial"/>
              </a:defRPr>
            </a:pPr>
            <a:r>
              <a:t>observable response issues.</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FULL SCAN</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Discovery plus active testing.</a:t>
            </a:r>
          </a:p>
          <a:p>
            <a:pPr>
              <a:lnSpc>
                <a:spcPts val="2108"/>
              </a:lnSpc>
              <a:spcBef>
                <a:spcPts val="0"/>
              </a:spcBef>
              <a:spcAft>
                <a:spcPts val="0"/>
              </a:spcAft>
              <a:defRPr sz="1700" b="0">
                <a:solidFill>
                  <a:srgbClr val="182F45"/>
                </a:solidFill>
                <a:latin typeface="Arial"/>
              </a:defRPr>
            </a:pPr>
            <a:r>
              <a:t>Use controlled scope, test data,</a:t>
            </a:r>
          </a:p>
          <a:p>
            <a:pPr>
              <a:lnSpc>
                <a:spcPts val="2108"/>
              </a:lnSpc>
              <a:spcBef>
                <a:spcPts val="0"/>
              </a:spcBef>
              <a:spcAft>
                <a:spcPts val="0"/>
              </a:spcAft>
              <a:defRPr sz="1700" b="0">
                <a:solidFill>
                  <a:srgbClr val="182F45"/>
                </a:solidFill>
                <a:latin typeface="Arial"/>
              </a:defRPr>
            </a:pPr>
            <a:r>
              <a:t>rate limits and an authorized</a:t>
            </a:r>
          </a:p>
          <a:p>
            <a:pPr>
              <a:lnSpc>
                <a:spcPts val="2108"/>
              </a:lnSpc>
              <a:spcBef>
                <a:spcPts val="0"/>
              </a:spcBef>
              <a:spcAft>
                <a:spcPts val="0"/>
              </a:spcAft>
              <a:defRPr sz="1700" b="0">
                <a:solidFill>
                  <a:srgbClr val="182F45"/>
                </a:solidFill>
                <a:latin typeface="Arial"/>
              </a:defRPr>
            </a:pPr>
            <a:r>
              <a:t>environment.</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EXIT STATUS</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Packaged scans distinguish</a:t>
            </a:r>
          </a:p>
          <a:p>
            <a:pPr>
              <a:lnSpc>
                <a:spcPts val="2108"/>
              </a:lnSpc>
              <a:spcBef>
                <a:spcPts val="0"/>
              </a:spcBef>
              <a:spcAft>
                <a:spcPts val="0"/>
              </a:spcAft>
              <a:defRPr sz="1700" b="0">
                <a:solidFill>
                  <a:srgbClr val="182F45"/>
                </a:solidFill>
                <a:latin typeface="Arial"/>
              </a:defRPr>
            </a:pPr>
            <a:r>
              <a:t>FAIL, WARN and execution</a:t>
            </a:r>
          </a:p>
          <a:p>
            <a:pPr>
              <a:lnSpc>
                <a:spcPts val="2108"/>
              </a:lnSpc>
              <a:spcBef>
                <a:spcPts val="0"/>
              </a:spcBef>
              <a:spcAft>
                <a:spcPts val="0"/>
              </a:spcAft>
              <a:defRPr sz="1700" b="0">
                <a:solidFill>
                  <a:srgbClr val="182F45"/>
                </a:solidFill>
                <a:latin typeface="Arial"/>
              </a:defRPr>
            </a:pPr>
            <a:r>
              <a:t>errors. Choose an explicit</a:t>
            </a:r>
          </a:p>
          <a:p>
            <a:pPr>
              <a:lnSpc>
                <a:spcPts val="2108"/>
              </a:lnSpc>
              <a:spcBef>
                <a:spcPts val="0"/>
              </a:spcBef>
              <a:spcAft>
                <a:spcPts val="0"/>
              </a:spcAft>
              <a:defRPr sz="1700" b="0">
                <a:solidFill>
                  <a:srgbClr val="182F45"/>
                </a:solidFill>
                <a:latin typeface="Arial"/>
              </a:defRPr>
            </a:pPr>
            <a:r>
              <a:t>handling policy for each.</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State the scan mode, authenticated coverage and outcome in every DAST report.</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Sources in notes: zap-base, zap-full, zap-addons</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27 / 57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03 DETECTION</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API security needs business-aware assertions</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Example: order access must remain within a customer account.</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TEST IDENTITY</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Create customer A, customer B</a:t>
            </a:r>
          </a:p>
          <a:p>
            <a:pPr>
              <a:lnSpc>
                <a:spcPts val="2108"/>
              </a:lnSpc>
              <a:spcBef>
                <a:spcPts val="0"/>
              </a:spcBef>
              <a:spcAft>
                <a:spcPts val="0"/>
              </a:spcAft>
              <a:defRPr sz="1700" b="0">
                <a:solidFill>
                  <a:srgbClr val="182F45"/>
                </a:solidFill>
                <a:latin typeface="Arial"/>
              </a:defRPr>
            </a:pPr>
            <a:r>
              <a:t>and an administrative role using</a:t>
            </a:r>
          </a:p>
          <a:p>
            <a:pPr>
              <a:lnSpc>
                <a:spcPts val="2108"/>
              </a:lnSpc>
              <a:spcBef>
                <a:spcPts val="0"/>
              </a:spcBef>
              <a:spcAft>
                <a:spcPts val="0"/>
              </a:spcAft>
              <a:defRPr sz="1700" b="0">
                <a:solidFill>
                  <a:srgbClr val="182F45"/>
                </a:solidFill>
                <a:latin typeface="Arial"/>
              </a:defRPr>
            </a:pPr>
            <a:r>
              <a:t>isolated test accounts.</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TEST OWNERSHIP</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Request A’s order as B. Expect</a:t>
            </a:r>
          </a:p>
          <a:p>
            <a:pPr>
              <a:lnSpc>
                <a:spcPts val="2108"/>
              </a:lnSpc>
              <a:spcBef>
                <a:spcPts val="0"/>
              </a:spcBef>
              <a:spcAft>
                <a:spcPts val="0"/>
              </a:spcAft>
              <a:defRPr sz="1700" b="0">
                <a:solidFill>
                  <a:srgbClr val="182F45"/>
                </a:solidFill>
                <a:latin typeface="Arial"/>
              </a:defRPr>
            </a:pPr>
            <a:r>
              <a:t>access denial and no order data,</a:t>
            </a:r>
          </a:p>
          <a:p>
            <a:pPr>
              <a:lnSpc>
                <a:spcPts val="2108"/>
              </a:lnSpc>
              <a:spcBef>
                <a:spcPts val="0"/>
              </a:spcBef>
              <a:spcAft>
                <a:spcPts val="0"/>
              </a:spcAft>
              <a:defRPr sz="1700" b="0">
                <a:solidFill>
                  <a:srgbClr val="182F45"/>
                </a:solidFill>
                <a:latin typeface="Arial"/>
              </a:defRPr>
            </a:pPr>
            <a:r>
              <a:t>including through alternate</a:t>
            </a:r>
          </a:p>
          <a:p>
            <a:pPr>
              <a:lnSpc>
                <a:spcPts val="2108"/>
              </a:lnSpc>
              <a:spcBef>
                <a:spcPts val="0"/>
              </a:spcBef>
              <a:spcAft>
                <a:spcPts val="0"/>
              </a:spcAft>
              <a:defRPr sz="1700" b="0">
                <a:solidFill>
                  <a:srgbClr val="182F45"/>
                </a:solidFill>
                <a:latin typeface="Arial"/>
              </a:defRPr>
            </a:pPr>
            <a:r>
              <a:t>routes.</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TEST BOUNDARIES</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Check role changes, pagination,</a:t>
            </a:r>
          </a:p>
          <a:p>
            <a:pPr>
              <a:lnSpc>
                <a:spcPts val="2108"/>
              </a:lnSpc>
              <a:spcBef>
                <a:spcPts val="0"/>
              </a:spcBef>
              <a:spcAft>
                <a:spcPts val="0"/>
              </a:spcAft>
              <a:defRPr sz="1700" b="0">
                <a:solidFill>
                  <a:srgbClr val="182F45"/>
                </a:solidFill>
                <a:latin typeface="Arial"/>
              </a:defRPr>
            </a:pPr>
            <a:r>
              <a:t>bulk endpoints, expired sessions</a:t>
            </a:r>
          </a:p>
          <a:p>
            <a:pPr>
              <a:lnSpc>
                <a:spcPts val="2108"/>
              </a:lnSpc>
              <a:spcBef>
                <a:spcPts val="0"/>
              </a:spcBef>
              <a:spcAft>
                <a:spcPts val="0"/>
              </a:spcAft>
              <a:defRPr sz="1700" b="0">
                <a:solidFill>
                  <a:srgbClr val="182F45"/>
                </a:solidFill>
                <a:latin typeface="Arial"/>
              </a:defRPr>
            </a:pPr>
            <a:r>
              <a:t>and rate-sensitive operations.</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Two authenticated users are often more useful than one anonymous scan.</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Project guidance • examples are illustrative</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28 / 57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03 DETECTION</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Admission control: prevent a bad deployment</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Kubernetes admission evaluates requests before the cluster accepts them.</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INPUT</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A workload manifest or</a:t>
            </a:r>
          </a:p>
          <a:p>
            <a:pPr>
              <a:lnSpc>
                <a:spcPts val="2108"/>
              </a:lnSpc>
              <a:spcBef>
                <a:spcPts val="0"/>
              </a:spcBef>
              <a:spcAft>
                <a:spcPts val="0"/>
              </a:spcAft>
              <a:defRPr sz="1700" b="0">
                <a:solidFill>
                  <a:srgbClr val="182F45"/>
                </a:solidFill>
                <a:latin typeface="Arial"/>
              </a:defRPr>
            </a:pPr>
            <a:r>
              <a:t>deployment request, plus</a:t>
            </a:r>
          </a:p>
          <a:p>
            <a:pPr>
              <a:lnSpc>
                <a:spcPts val="2108"/>
              </a:lnSpc>
              <a:spcBef>
                <a:spcPts val="0"/>
              </a:spcBef>
              <a:spcAft>
                <a:spcPts val="0"/>
              </a:spcAft>
              <a:defRPr sz="1700" b="0">
                <a:solidFill>
                  <a:srgbClr val="182F45"/>
                </a:solidFill>
                <a:latin typeface="Arial"/>
              </a:defRPr>
            </a:pPr>
            <a:r>
              <a:t>relevant policy and context.</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COMPARE</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Kyverno or Open Policy Agent</a:t>
            </a:r>
          </a:p>
          <a:p>
            <a:pPr>
              <a:lnSpc>
                <a:spcPts val="2108"/>
              </a:lnSpc>
              <a:spcBef>
                <a:spcPts val="0"/>
              </a:spcBef>
              <a:spcAft>
                <a:spcPts val="0"/>
              </a:spcAft>
              <a:defRPr sz="1700" b="0">
                <a:solidFill>
                  <a:srgbClr val="182F45"/>
                </a:solidFill>
                <a:latin typeface="Arial"/>
              </a:defRPr>
            </a:pPr>
            <a:r>
              <a:t>rules test settings and, when</a:t>
            </a:r>
          </a:p>
          <a:p>
            <a:pPr>
              <a:lnSpc>
                <a:spcPts val="2108"/>
              </a:lnSpc>
              <a:spcBef>
                <a:spcPts val="0"/>
              </a:spcBef>
              <a:spcAft>
                <a:spcPts val="0"/>
              </a:spcAft>
              <a:defRPr sz="1700" b="0">
                <a:solidFill>
                  <a:srgbClr val="182F45"/>
                </a:solidFill>
                <a:latin typeface="Arial"/>
              </a:defRPr>
            </a:pPr>
            <a:r>
              <a:t>configured, image trust</a:t>
            </a:r>
          </a:p>
          <a:p>
            <a:pPr>
              <a:lnSpc>
                <a:spcPts val="2108"/>
              </a:lnSpc>
              <a:spcBef>
                <a:spcPts val="0"/>
              </a:spcBef>
              <a:spcAft>
                <a:spcPts val="0"/>
              </a:spcAft>
              <a:defRPr sz="1700" b="0">
                <a:solidFill>
                  <a:srgbClr val="182F45"/>
                </a:solidFill>
                <a:latin typeface="Arial"/>
              </a:defRPr>
            </a:pPr>
            <a:r>
              <a:t>requirements.</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MODE MATTERS</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Audit records violations. Enforce</a:t>
            </a:r>
          </a:p>
          <a:p>
            <a:pPr>
              <a:lnSpc>
                <a:spcPts val="2108"/>
              </a:lnSpc>
              <a:spcBef>
                <a:spcPts val="0"/>
              </a:spcBef>
              <a:spcAft>
                <a:spcPts val="0"/>
              </a:spcAft>
              <a:defRPr sz="1700" b="0">
                <a:solidFill>
                  <a:srgbClr val="182F45"/>
                </a:solidFill>
                <a:latin typeface="Arial"/>
              </a:defRPr>
            </a:pPr>
            <a:r>
              <a:t>rejects violating requests. The</a:t>
            </a:r>
          </a:p>
          <a:p>
            <a:pPr>
              <a:lnSpc>
                <a:spcPts val="2108"/>
              </a:lnSpc>
              <a:spcBef>
                <a:spcPts val="0"/>
              </a:spcBef>
              <a:spcAft>
                <a:spcPts val="0"/>
              </a:spcAft>
              <a:defRPr sz="1700" b="0">
                <a:solidFill>
                  <a:srgbClr val="182F45"/>
                </a:solidFill>
                <a:latin typeface="Arial"/>
              </a:defRPr>
            </a:pPr>
            <a:r>
              <a:t>project’s sample is Audit mode.</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A policy file in the repository does nothing until it is installed and enforced.</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Sources in notes: kyverno</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29 / 57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03 DETECTION</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Runtime detection: notice suspicious behavior</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Falco inspects events after software starts running.</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OBSERVE</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System activity and supported</a:t>
            </a:r>
          </a:p>
          <a:p>
            <a:pPr>
              <a:lnSpc>
                <a:spcPts val="2108"/>
              </a:lnSpc>
              <a:spcBef>
                <a:spcPts val="0"/>
              </a:spcBef>
              <a:spcAft>
                <a:spcPts val="0"/>
              </a:spcAft>
              <a:defRPr sz="1700" b="0">
                <a:solidFill>
                  <a:srgbClr val="182F45"/>
                </a:solidFill>
                <a:latin typeface="Arial"/>
              </a:defRPr>
            </a:pPr>
            <a:r>
              <a:t>event sources produce process,</a:t>
            </a:r>
          </a:p>
          <a:p>
            <a:pPr>
              <a:lnSpc>
                <a:spcPts val="2108"/>
              </a:lnSpc>
              <a:spcBef>
                <a:spcPts val="0"/>
              </a:spcBef>
              <a:spcAft>
                <a:spcPts val="0"/>
              </a:spcAft>
              <a:defRPr sz="1700" b="0">
                <a:solidFill>
                  <a:srgbClr val="182F45"/>
                </a:solidFill>
                <a:latin typeface="Arial"/>
              </a:defRPr>
            </a:pPr>
            <a:r>
              <a:t>file and other runtime context.</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MATCH</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Rules compare event fields and</a:t>
            </a:r>
          </a:p>
          <a:p>
            <a:pPr>
              <a:lnSpc>
                <a:spcPts val="2108"/>
              </a:lnSpc>
              <a:spcBef>
                <a:spcPts val="0"/>
              </a:spcBef>
              <a:spcAft>
                <a:spcPts val="0"/>
              </a:spcAft>
              <a:defRPr sz="1700" b="0">
                <a:solidFill>
                  <a:srgbClr val="182F45"/>
                </a:solidFill>
                <a:latin typeface="Arial"/>
              </a:defRPr>
            </a:pPr>
            <a:r>
              <a:t>conditions with behaviors worth</a:t>
            </a:r>
          </a:p>
          <a:p>
            <a:pPr>
              <a:lnSpc>
                <a:spcPts val="2108"/>
              </a:lnSpc>
              <a:spcBef>
                <a:spcPts val="0"/>
              </a:spcBef>
              <a:spcAft>
                <a:spcPts val="0"/>
              </a:spcAft>
              <a:defRPr sz="1700" b="0">
                <a:solidFill>
                  <a:srgbClr val="182F45"/>
                </a:solidFill>
                <a:latin typeface="Arial"/>
              </a:defRPr>
            </a:pPr>
            <a:r>
              <a:t>investigating.</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RESPOND</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Route alerts to an owner.</a:t>
            </a:r>
          </a:p>
          <a:p>
            <a:pPr>
              <a:lnSpc>
                <a:spcPts val="2108"/>
              </a:lnSpc>
              <a:spcBef>
                <a:spcPts val="0"/>
              </a:spcBef>
              <a:spcAft>
                <a:spcPts val="0"/>
              </a:spcAft>
              <a:defRPr sz="1700" b="0">
                <a:solidFill>
                  <a:srgbClr val="182F45"/>
                </a:solidFill>
                <a:latin typeface="Arial"/>
              </a:defRPr>
            </a:pPr>
            <a:r>
              <a:t>Investigate, contain when</a:t>
            </a:r>
          </a:p>
          <a:p>
            <a:pPr>
              <a:lnSpc>
                <a:spcPts val="2108"/>
              </a:lnSpc>
              <a:spcBef>
                <a:spcPts val="0"/>
              </a:spcBef>
              <a:spcAft>
                <a:spcPts val="0"/>
              </a:spcAft>
              <a:defRPr sz="1700" b="0">
                <a:solidFill>
                  <a:srgbClr val="182F45"/>
                </a:solidFill>
                <a:latin typeface="Arial"/>
              </a:defRPr>
            </a:pPr>
            <a:r>
              <a:t>justified, preserve evidence and</a:t>
            </a:r>
          </a:p>
          <a:p>
            <a:pPr>
              <a:lnSpc>
                <a:spcPts val="2108"/>
              </a:lnSpc>
              <a:spcBef>
                <a:spcPts val="0"/>
              </a:spcBef>
              <a:spcAft>
                <a:spcPts val="0"/>
              </a:spcAft>
              <a:defRPr sz="1700" b="0">
                <a:solidFill>
                  <a:srgbClr val="182F45"/>
                </a:solidFill>
                <a:latin typeface="Arial"/>
              </a:defRPr>
            </a:pPr>
            <a:r>
              <a:t>correct the cause.</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Detection requires an operational response path; an unowned alert is incomplete.</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Sources in notes: falco</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30 / 57</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04 INTELLIGENCE</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How a disclosure becomes a scanner finding</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There are several independent delays between discovery and detection.</a:t>
            </a:r>
          </a:p>
        </p:txBody>
      </p:sp>
      <p:sp>
        <p:nvSpPr>
          <p:cNvPr id="7" name="Rectangle 6"/>
          <p:cNvSpPr/>
          <p:nvPr/>
        </p:nvSpPr>
        <p:spPr>
          <a:xfrm>
            <a:off x="431800" y="2641600"/>
            <a:ext cx="2593975"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2593975"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2212975"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DISCLOSE</a:t>
            </a:r>
          </a:p>
        </p:txBody>
      </p:sp>
      <p:sp>
        <p:nvSpPr>
          <p:cNvPr id="10" name="TextBox 9"/>
          <p:cNvSpPr txBox="1"/>
          <p:nvPr/>
        </p:nvSpPr>
        <p:spPr>
          <a:xfrm>
            <a:off x="622300" y="3606800"/>
            <a:ext cx="2212975" cy="1587500"/>
          </a:xfrm>
          <a:prstGeom prst="rect">
            <a:avLst/>
          </a:prstGeom>
          <a:noFill/>
        </p:spPr>
        <p:txBody>
          <a:bodyPr wrap="none" lIns="0" rIns="0" tIns="0" bIns="0">
            <a:spAutoFit/>
          </a:bodyPr>
          <a:lstStyle/>
          <a:p>
            <a:pPr>
              <a:lnSpc>
                <a:spcPts val="1984"/>
              </a:lnSpc>
              <a:spcBef>
                <a:spcPts val="0"/>
              </a:spcBef>
              <a:spcAft>
                <a:spcPts val="0"/>
              </a:spcAft>
              <a:defRPr sz="1600" b="0">
                <a:solidFill>
                  <a:srgbClr val="182F45"/>
                </a:solidFill>
                <a:latin typeface="Arial"/>
              </a:defRPr>
            </a:pPr>
            <a:r>
              <a:t>Researchers and</a:t>
            </a:r>
          </a:p>
          <a:p>
            <a:pPr>
              <a:lnSpc>
                <a:spcPts val="1984"/>
              </a:lnSpc>
              <a:spcBef>
                <a:spcPts val="0"/>
              </a:spcBef>
              <a:spcAft>
                <a:spcPts val="0"/>
              </a:spcAft>
              <a:defRPr sz="1600" b="0">
                <a:solidFill>
                  <a:srgbClr val="182F45"/>
                </a:solidFill>
                <a:latin typeface="Arial"/>
              </a:defRPr>
            </a:pPr>
            <a:r>
              <a:t>vendors investigate. An</a:t>
            </a:r>
          </a:p>
          <a:p>
            <a:pPr>
              <a:lnSpc>
                <a:spcPts val="1984"/>
              </a:lnSpc>
              <a:spcBef>
                <a:spcPts val="0"/>
              </a:spcBef>
              <a:spcAft>
                <a:spcPts val="0"/>
              </a:spcAft>
              <a:defRPr sz="1600" b="0">
                <a:solidFill>
                  <a:srgbClr val="182F45"/>
                </a:solidFill>
                <a:latin typeface="Arial"/>
              </a:defRPr>
            </a:pPr>
            <a:r>
              <a:t>advisory and identifier</a:t>
            </a:r>
          </a:p>
          <a:p>
            <a:pPr>
              <a:lnSpc>
                <a:spcPts val="1984"/>
              </a:lnSpc>
              <a:spcBef>
                <a:spcPts val="0"/>
              </a:spcBef>
              <a:spcAft>
                <a:spcPts val="0"/>
              </a:spcAft>
              <a:defRPr sz="1600" b="0">
                <a:solidFill>
                  <a:srgbClr val="182F45"/>
                </a:solidFill>
                <a:latin typeface="Arial"/>
              </a:defRPr>
            </a:pPr>
            <a:r>
              <a:t>become public.</a:t>
            </a:r>
          </a:p>
        </p:txBody>
      </p:sp>
      <p:sp>
        <p:nvSpPr>
          <p:cNvPr id="11" name="TextBox 10"/>
          <p:cNvSpPr txBox="1"/>
          <p:nvPr/>
        </p:nvSpPr>
        <p:spPr>
          <a:xfrm>
            <a:off x="3063875" y="3810000"/>
            <a:ext cx="241300" cy="444500"/>
          </a:xfrm>
          <a:prstGeom prst="rect">
            <a:avLst/>
          </a:prstGeom>
          <a:noFill/>
        </p:spPr>
        <p:txBody>
          <a:bodyPr wrap="none" lIns="0" rIns="0" tIns="0" bIns="0">
            <a:spAutoFit/>
          </a:bodyPr>
          <a:lstStyle/>
          <a:p>
            <a:pPr>
              <a:lnSpc>
                <a:spcPts val="2852"/>
              </a:lnSpc>
              <a:spcBef>
                <a:spcPts val="0"/>
              </a:spcBef>
              <a:spcAft>
                <a:spcPts val="0"/>
              </a:spcAft>
              <a:defRPr sz="2300" b="1">
                <a:solidFill>
                  <a:srgbClr val="007E83"/>
                </a:solidFill>
                <a:latin typeface="Arial"/>
              </a:defRPr>
            </a:pPr>
            <a:r>
              <a:t>›</a:t>
            </a:r>
          </a:p>
        </p:txBody>
      </p:sp>
      <p:sp>
        <p:nvSpPr>
          <p:cNvPr id="12" name="Rectangle 11"/>
          <p:cNvSpPr/>
          <p:nvPr/>
        </p:nvSpPr>
        <p:spPr>
          <a:xfrm>
            <a:off x="3317875" y="2641600"/>
            <a:ext cx="2593975"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17875" y="2641600"/>
            <a:ext cx="2593975"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08375" y="2908300"/>
            <a:ext cx="2212975"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ENRICH</a:t>
            </a:r>
          </a:p>
        </p:txBody>
      </p:sp>
      <p:sp>
        <p:nvSpPr>
          <p:cNvPr id="15" name="TextBox 14"/>
          <p:cNvSpPr txBox="1"/>
          <p:nvPr/>
        </p:nvSpPr>
        <p:spPr>
          <a:xfrm>
            <a:off x="3508375" y="3606800"/>
            <a:ext cx="2212975" cy="1587500"/>
          </a:xfrm>
          <a:prstGeom prst="rect">
            <a:avLst/>
          </a:prstGeom>
          <a:noFill/>
        </p:spPr>
        <p:txBody>
          <a:bodyPr wrap="none" lIns="0" rIns="0" tIns="0" bIns="0">
            <a:spAutoFit/>
          </a:bodyPr>
          <a:lstStyle/>
          <a:p>
            <a:pPr>
              <a:lnSpc>
                <a:spcPts val="1984"/>
              </a:lnSpc>
              <a:spcBef>
                <a:spcPts val="0"/>
              </a:spcBef>
              <a:spcAft>
                <a:spcPts val="0"/>
              </a:spcAft>
              <a:defRPr sz="1600" b="0">
                <a:solidFill>
                  <a:srgbClr val="182F45"/>
                </a:solidFill>
                <a:latin typeface="Arial"/>
              </a:defRPr>
            </a:pPr>
            <a:r>
              <a:t>Maintainers and</a:t>
            </a:r>
          </a:p>
          <a:p>
            <a:pPr>
              <a:lnSpc>
                <a:spcPts val="1984"/>
              </a:lnSpc>
              <a:spcBef>
                <a:spcPts val="0"/>
              </a:spcBef>
              <a:spcAft>
                <a:spcPts val="0"/>
              </a:spcAft>
              <a:defRPr sz="1600" b="0">
                <a:solidFill>
                  <a:srgbClr val="182F45"/>
                </a:solidFill>
                <a:latin typeface="Arial"/>
              </a:defRPr>
            </a:pPr>
            <a:r>
              <a:t>databases add package</a:t>
            </a:r>
          </a:p>
          <a:p>
            <a:pPr>
              <a:lnSpc>
                <a:spcPts val="1984"/>
              </a:lnSpc>
              <a:spcBef>
                <a:spcPts val="0"/>
              </a:spcBef>
              <a:spcAft>
                <a:spcPts val="0"/>
              </a:spcAft>
              <a:defRPr sz="1600" b="0">
                <a:solidFill>
                  <a:srgbClr val="182F45"/>
                </a:solidFill>
                <a:latin typeface="Arial"/>
              </a:defRPr>
            </a:pPr>
            <a:r>
              <a:t>ranges, severity,</a:t>
            </a:r>
          </a:p>
          <a:p>
            <a:pPr>
              <a:lnSpc>
                <a:spcPts val="1984"/>
              </a:lnSpc>
              <a:spcBef>
                <a:spcPts val="0"/>
              </a:spcBef>
              <a:spcAft>
                <a:spcPts val="0"/>
              </a:spcAft>
              <a:defRPr sz="1600" b="0">
                <a:solidFill>
                  <a:srgbClr val="182F45"/>
                </a:solidFill>
                <a:latin typeface="Arial"/>
              </a:defRPr>
            </a:pPr>
            <a:r>
              <a:t>references and</a:t>
            </a:r>
          </a:p>
          <a:p>
            <a:pPr>
              <a:lnSpc>
                <a:spcPts val="1984"/>
              </a:lnSpc>
              <a:spcBef>
                <a:spcPts val="0"/>
              </a:spcBef>
              <a:spcAft>
                <a:spcPts val="0"/>
              </a:spcAft>
              <a:defRPr sz="1600" b="0">
                <a:solidFill>
                  <a:srgbClr val="182F45"/>
                </a:solidFill>
                <a:latin typeface="Arial"/>
              </a:defRPr>
            </a:pPr>
            <a:r>
              <a:t>applicability.</a:t>
            </a:r>
          </a:p>
        </p:txBody>
      </p:sp>
      <p:sp>
        <p:nvSpPr>
          <p:cNvPr id="16" name="TextBox 15"/>
          <p:cNvSpPr txBox="1"/>
          <p:nvPr/>
        </p:nvSpPr>
        <p:spPr>
          <a:xfrm>
            <a:off x="5949950" y="3810000"/>
            <a:ext cx="241300" cy="444500"/>
          </a:xfrm>
          <a:prstGeom prst="rect">
            <a:avLst/>
          </a:prstGeom>
          <a:noFill/>
        </p:spPr>
        <p:txBody>
          <a:bodyPr wrap="none" lIns="0" rIns="0" tIns="0" bIns="0">
            <a:spAutoFit/>
          </a:bodyPr>
          <a:lstStyle/>
          <a:p>
            <a:pPr>
              <a:lnSpc>
                <a:spcPts val="2852"/>
              </a:lnSpc>
              <a:spcBef>
                <a:spcPts val="0"/>
              </a:spcBef>
              <a:spcAft>
                <a:spcPts val="0"/>
              </a:spcAft>
              <a:defRPr sz="2300" b="1">
                <a:solidFill>
                  <a:srgbClr val="007E83"/>
                </a:solidFill>
                <a:latin typeface="Arial"/>
              </a:defRPr>
            </a:pPr>
            <a:r>
              <a:t>›</a:t>
            </a:r>
          </a:p>
        </p:txBody>
      </p:sp>
      <p:sp>
        <p:nvSpPr>
          <p:cNvPr id="17" name="Rectangle 16"/>
          <p:cNvSpPr/>
          <p:nvPr/>
        </p:nvSpPr>
        <p:spPr>
          <a:xfrm>
            <a:off x="6203950" y="2641600"/>
            <a:ext cx="2593975"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03950" y="2641600"/>
            <a:ext cx="2593975"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94450" y="2908300"/>
            <a:ext cx="2212975"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DISTRIBUTE</a:t>
            </a:r>
          </a:p>
        </p:txBody>
      </p:sp>
      <p:sp>
        <p:nvSpPr>
          <p:cNvPr id="20" name="TextBox 19"/>
          <p:cNvSpPr txBox="1"/>
          <p:nvPr/>
        </p:nvSpPr>
        <p:spPr>
          <a:xfrm>
            <a:off x="6394450" y="3606800"/>
            <a:ext cx="2212975" cy="1587500"/>
          </a:xfrm>
          <a:prstGeom prst="rect">
            <a:avLst/>
          </a:prstGeom>
          <a:noFill/>
        </p:spPr>
        <p:txBody>
          <a:bodyPr wrap="none" lIns="0" rIns="0" tIns="0" bIns="0">
            <a:spAutoFit/>
          </a:bodyPr>
          <a:lstStyle/>
          <a:p>
            <a:pPr>
              <a:lnSpc>
                <a:spcPts val="1984"/>
              </a:lnSpc>
              <a:spcBef>
                <a:spcPts val="0"/>
              </a:spcBef>
              <a:spcAft>
                <a:spcPts val="0"/>
              </a:spcAft>
              <a:defRPr sz="1600" b="0">
                <a:solidFill>
                  <a:srgbClr val="182F45"/>
                </a:solidFill>
                <a:latin typeface="Arial"/>
              </a:defRPr>
            </a:pPr>
            <a:r>
              <a:t>A scanner provider</a:t>
            </a:r>
          </a:p>
          <a:p>
            <a:pPr>
              <a:lnSpc>
                <a:spcPts val="1984"/>
              </a:lnSpc>
              <a:spcBef>
                <a:spcPts val="0"/>
              </a:spcBef>
              <a:spcAft>
                <a:spcPts val="0"/>
              </a:spcAft>
              <a:defRPr sz="1600" b="0">
                <a:solidFill>
                  <a:srgbClr val="182F45"/>
                </a:solidFill>
                <a:latin typeface="Arial"/>
              </a:defRPr>
            </a:pPr>
            <a:r>
              <a:t>builds or exposes</a:t>
            </a:r>
          </a:p>
          <a:p>
            <a:pPr>
              <a:lnSpc>
                <a:spcPts val="1984"/>
              </a:lnSpc>
              <a:spcBef>
                <a:spcPts val="0"/>
              </a:spcBef>
              <a:spcAft>
                <a:spcPts val="0"/>
              </a:spcAft>
              <a:defRPr sz="1600" b="0">
                <a:solidFill>
                  <a:srgbClr val="182F45"/>
                </a:solidFill>
                <a:latin typeface="Arial"/>
              </a:defRPr>
            </a:pPr>
            <a:r>
              <a:t>updated intelligence.</a:t>
            </a:r>
          </a:p>
          <a:p>
            <a:pPr>
              <a:lnSpc>
                <a:spcPts val="1984"/>
              </a:lnSpc>
              <a:spcBef>
                <a:spcPts val="0"/>
              </a:spcBef>
              <a:spcAft>
                <a:spcPts val="0"/>
              </a:spcAft>
              <a:defRPr sz="1600" b="0">
                <a:solidFill>
                  <a:srgbClr val="182F45"/>
                </a:solidFill>
                <a:latin typeface="Arial"/>
              </a:defRPr>
            </a:pPr>
            <a:r>
              <a:t>Your runner refreshes</a:t>
            </a:r>
          </a:p>
          <a:p>
            <a:pPr>
              <a:lnSpc>
                <a:spcPts val="1984"/>
              </a:lnSpc>
              <a:spcBef>
                <a:spcPts val="0"/>
              </a:spcBef>
              <a:spcAft>
                <a:spcPts val="0"/>
              </a:spcAft>
              <a:defRPr sz="1600" b="0">
                <a:solidFill>
                  <a:srgbClr val="182F45"/>
                </a:solidFill>
                <a:latin typeface="Arial"/>
              </a:defRPr>
            </a:pPr>
            <a:r>
              <a:t>its local data.</a:t>
            </a:r>
          </a:p>
        </p:txBody>
      </p:sp>
      <p:sp>
        <p:nvSpPr>
          <p:cNvPr id="21" name="TextBox 20"/>
          <p:cNvSpPr txBox="1"/>
          <p:nvPr/>
        </p:nvSpPr>
        <p:spPr>
          <a:xfrm>
            <a:off x="8836025" y="3810000"/>
            <a:ext cx="241300" cy="444500"/>
          </a:xfrm>
          <a:prstGeom prst="rect">
            <a:avLst/>
          </a:prstGeom>
          <a:noFill/>
        </p:spPr>
        <p:txBody>
          <a:bodyPr wrap="none" lIns="0" rIns="0" tIns="0" bIns="0">
            <a:spAutoFit/>
          </a:bodyPr>
          <a:lstStyle/>
          <a:p>
            <a:pPr>
              <a:lnSpc>
                <a:spcPts val="2852"/>
              </a:lnSpc>
              <a:spcBef>
                <a:spcPts val="0"/>
              </a:spcBef>
              <a:spcAft>
                <a:spcPts val="0"/>
              </a:spcAft>
              <a:defRPr sz="2300" b="1">
                <a:solidFill>
                  <a:srgbClr val="007E83"/>
                </a:solidFill>
                <a:latin typeface="Arial"/>
              </a:defRPr>
            </a:pPr>
            <a:r>
              <a:t>›</a:t>
            </a:r>
          </a:p>
        </p:txBody>
      </p:sp>
      <p:sp>
        <p:nvSpPr>
          <p:cNvPr id="22" name="Rectangle 21"/>
          <p:cNvSpPr/>
          <p:nvPr/>
        </p:nvSpPr>
        <p:spPr>
          <a:xfrm>
            <a:off x="9090025" y="2641600"/>
            <a:ext cx="2593975"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090025" y="2641600"/>
            <a:ext cx="2593975"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80525" y="2908300"/>
            <a:ext cx="2212975"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MATCH</a:t>
            </a:r>
          </a:p>
        </p:txBody>
      </p:sp>
      <p:sp>
        <p:nvSpPr>
          <p:cNvPr id="25" name="TextBox 24"/>
          <p:cNvSpPr txBox="1"/>
          <p:nvPr/>
        </p:nvSpPr>
        <p:spPr>
          <a:xfrm>
            <a:off x="9280525" y="3606800"/>
            <a:ext cx="2212975" cy="1587500"/>
          </a:xfrm>
          <a:prstGeom prst="rect">
            <a:avLst/>
          </a:prstGeom>
          <a:noFill/>
        </p:spPr>
        <p:txBody>
          <a:bodyPr wrap="none" lIns="0" rIns="0" tIns="0" bIns="0">
            <a:spAutoFit/>
          </a:bodyPr>
          <a:lstStyle/>
          <a:p>
            <a:pPr>
              <a:lnSpc>
                <a:spcPts val="1984"/>
              </a:lnSpc>
              <a:spcBef>
                <a:spcPts val="0"/>
              </a:spcBef>
              <a:spcAft>
                <a:spcPts val="0"/>
              </a:spcAft>
              <a:defRPr sz="1600" b="0">
                <a:solidFill>
                  <a:srgbClr val="182F45"/>
                </a:solidFill>
                <a:latin typeface="Arial"/>
              </a:defRPr>
            </a:pPr>
            <a:r>
              <a:t>The next scan</a:t>
            </a:r>
          </a:p>
          <a:p>
            <a:pPr>
              <a:lnSpc>
                <a:spcPts val="1984"/>
              </a:lnSpc>
              <a:spcBef>
                <a:spcPts val="0"/>
              </a:spcBef>
              <a:spcAft>
                <a:spcPts val="0"/>
              </a:spcAft>
              <a:defRPr sz="1600" b="0">
                <a:solidFill>
                  <a:srgbClr val="182F45"/>
                </a:solidFill>
                <a:latin typeface="Arial"/>
              </a:defRPr>
            </a:pPr>
            <a:r>
              <a:t>inventories your artifact</a:t>
            </a:r>
          </a:p>
          <a:p>
            <a:pPr>
              <a:lnSpc>
                <a:spcPts val="1984"/>
              </a:lnSpc>
              <a:spcBef>
                <a:spcPts val="0"/>
              </a:spcBef>
              <a:spcAft>
                <a:spcPts val="0"/>
              </a:spcAft>
              <a:defRPr sz="1600" b="0">
                <a:solidFill>
                  <a:srgbClr val="182F45"/>
                </a:solidFill>
                <a:latin typeface="Arial"/>
              </a:defRPr>
            </a:pPr>
            <a:r>
              <a:t>and evaluates it against</a:t>
            </a:r>
          </a:p>
          <a:p>
            <a:pPr>
              <a:lnSpc>
                <a:spcPts val="1984"/>
              </a:lnSpc>
              <a:spcBef>
                <a:spcPts val="0"/>
              </a:spcBef>
              <a:spcAft>
                <a:spcPts val="0"/>
              </a:spcAft>
              <a:defRPr sz="1600" b="0">
                <a:solidFill>
                  <a:srgbClr val="182F45"/>
                </a:solidFill>
                <a:latin typeface="Arial"/>
              </a:defRPr>
            </a:pPr>
            <a:r>
              <a:t>that snapshot.</a:t>
            </a:r>
          </a:p>
        </p:txBody>
      </p:sp>
      <p:sp>
        <p:nvSpPr>
          <p:cNvPr id="26" name="Rectangle 25"/>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Discovery time, public disclosure, database refresh and your next scan are different clocks.</a:t>
            </a:r>
          </a:p>
        </p:txBody>
      </p:sp>
      <p:sp>
        <p:nvSpPr>
          <p:cNvPr id="28" name="TextBox 27"/>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Sources in notes: cve, nvd</a:t>
            </a:r>
          </a:p>
        </p:txBody>
      </p:sp>
      <p:sp>
        <p:nvSpPr>
          <p:cNvPr id="29" name="TextBox 28"/>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31 / 57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04 INTELLIGENCE</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When Trivy updates its data</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Verified upstream schedules; actual local freshness depends on metadata and execution.</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VULNERABILITY DB</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Upstream publication is</a:t>
            </a:r>
          </a:p>
          <a:p>
            <a:pPr>
              <a:lnSpc>
                <a:spcPts val="2108"/>
              </a:lnSpc>
              <a:spcBef>
                <a:spcPts val="0"/>
              </a:spcBef>
              <a:spcAft>
                <a:spcPts val="0"/>
              </a:spcAft>
              <a:defRPr sz="1700" b="0">
                <a:solidFill>
                  <a:srgbClr val="182F45"/>
                </a:solidFill>
                <a:latin typeface="Arial"/>
              </a:defRPr>
            </a:pPr>
            <a:r>
              <a:t>scheduled every 6 hours.</a:t>
            </a:r>
          </a:p>
          <a:p>
            <a:pPr>
              <a:lnSpc>
                <a:spcPts val="2108"/>
              </a:lnSpc>
              <a:spcBef>
                <a:spcPts val="0"/>
              </a:spcBef>
              <a:spcAft>
                <a:spcPts val="0"/>
              </a:spcAft>
              <a:defRPr sz="1700" b="0">
                <a:solidFill>
                  <a:srgbClr val="182F45"/>
                </a:solidFill>
                <a:latin typeface="Arial"/>
              </a:defRPr>
            </a:pPr>
            <a:r>
              <a:t>Successful publication can be</a:t>
            </a:r>
          </a:p>
          <a:p>
            <a:pPr>
              <a:lnSpc>
                <a:spcPts val="2108"/>
              </a:lnSpc>
              <a:spcBef>
                <a:spcPts val="0"/>
              </a:spcBef>
              <a:spcAft>
                <a:spcPts val="0"/>
              </a:spcAft>
              <a:defRPr sz="1700" b="0">
                <a:solidFill>
                  <a:srgbClr val="182F45"/>
                </a:solidFill>
                <a:latin typeface="Arial"/>
              </a:defRPr>
            </a:pPr>
            <a:r>
              <a:t>delayed by outages.</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JAVA INDEX</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A separate</a:t>
            </a:r>
          </a:p>
          <a:p>
            <a:pPr>
              <a:lnSpc>
                <a:spcPts val="2108"/>
              </a:lnSpc>
              <a:spcBef>
                <a:spcPts val="0"/>
              </a:spcBef>
              <a:spcAft>
                <a:spcPts val="0"/>
              </a:spcAft>
              <a:defRPr sz="1700" b="0">
                <a:solidFill>
                  <a:srgbClr val="182F45"/>
                </a:solidFill>
                <a:latin typeface="Arial"/>
              </a:defRPr>
            </a:pPr>
            <a:r>
              <a:t>package-identification index has</a:t>
            </a:r>
          </a:p>
          <a:p>
            <a:pPr>
              <a:lnSpc>
                <a:spcPts val="2108"/>
              </a:lnSpc>
              <a:spcBef>
                <a:spcPts val="0"/>
              </a:spcBef>
              <a:spcAft>
                <a:spcPts val="0"/>
              </a:spcAft>
              <a:defRPr sz="1700" b="0">
                <a:solidFill>
                  <a:srgbClr val="182F45"/>
                </a:solidFill>
                <a:latin typeface="Arial"/>
              </a:defRPr>
            </a:pPr>
            <a:r>
              <a:t>a daily publication schedule. It is</a:t>
            </a:r>
          </a:p>
          <a:p>
            <a:pPr>
              <a:lnSpc>
                <a:spcPts val="2108"/>
              </a:lnSpc>
              <a:spcBef>
                <a:spcPts val="0"/>
              </a:spcBef>
              <a:spcAft>
                <a:spcPts val="0"/>
              </a:spcAft>
              <a:defRPr sz="1700" b="0">
                <a:solidFill>
                  <a:srgbClr val="182F45"/>
                </a:solidFill>
                <a:latin typeface="Arial"/>
              </a:defRPr>
            </a:pPr>
            <a:r>
              <a:t>not a second CVE feed.</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LOCAL RUNNER</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Refresh depends on cache</a:t>
            </a:r>
          </a:p>
          <a:p>
            <a:pPr>
              <a:lnSpc>
                <a:spcPts val="2108"/>
              </a:lnSpc>
              <a:spcBef>
                <a:spcPts val="0"/>
              </a:spcBef>
              <a:spcAft>
                <a:spcPts val="0"/>
              </a:spcAft>
              <a:defRPr sz="1700" b="0">
                <a:solidFill>
                  <a:srgbClr val="182F45"/>
                </a:solidFill>
                <a:latin typeface="Arial"/>
              </a:defRPr>
            </a:pPr>
            <a:r>
              <a:t>metadata, execution and flags.</a:t>
            </a:r>
          </a:p>
          <a:p>
            <a:pPr>
              <a:lnSpc>
                <a:spcPts val="2108"/>
              </a:lnSpc>
              <a:spcBef>
                <a:spcPts val="0"/>
              </a:spcBef>
              <a:spcAft>
                <a:spcPts val="0"/>
              </a:spcAft>
              <a:defRPr sz="1700" b="0">
                <a:solidFill>
                  <a:srgbClr val="182F45"/>
                </a:solidFill>
                <a:latin typeface="Arial"/>
              </a:defRPr>
            </a:pPr>
            <a:r>
              <a:t>Record UpdatedAt, NextUpdate</a:t>
            </a:r>
          </a:p>
          <a:p>
            <a:pPr>
              <a:lnSpc>
                <a:spcPts val="2108"/>
              </a:lnSpc>
              <a:spcBef>
                <a:spcPts val="0"/>
              </a:spcBef>
              <a:spcAft>
                <a:spcPts val="0"/>
              </a:spcAft>
              <a:defRPr sz="1700" b="0">
                <a:solidFill>
                  <a:srgbClr val="182F45"/>
                </a:solidFill>
                <a:latin typeface="Arial"/>
              </a:defRPr>
            </a:pPr>
            <a:r>
              <a:t>and DownloadedAt where</a:t>
            </a:r>
          </a:p>
          <a:p>
            <a:pPr>
              <a:lnSpc>
                <a:spcPts val="2108"/>
              </a:lnSpc>
              <a:spcBef>
                <a:spcPts val="0"/>
              </a:spcBef>
              <a:spcAft>
                <a:spcPts val="0"/>
              </a:spcAft>
              <a:defRPr sz="1700" b="0">
                <a:solidFill>
                  <a:srgbClr val="182F45"/>
                </a:solidFill>
                <a:latin typeface="Arial"/>
              </a:defRPr>
            </a:pPr>
            <a:r>
              <a:t>available.</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Measure the database actually used, not just the provider’s nominal schedule.</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Sources in notes: trivy-db, trivy-cron, java-db, java-cron</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32 / 57</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04 INTELLIGENCE</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Refresh intervals across other tools</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Some tools refresh data; others need a new rule pack or executable.</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DEPENDENCY-CHECK</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The documented default NVD</a:t>
            </a:r>
          </a:p>
          <a:p>
            <a:pPr>
              <a:lnSpc>
                <a:spcPts val="2108"/>
              </a:lnSpc>
              <a:spcBef>
                <a:spcPts val="0"/>
              </a:spcBef>
              <a:spcAft>
                <a:spcPts val="0"/>
              </a:spcAft>
              <a:defRPr sz="1700" b="0">
                <a:solidFill>
                  <a:srgbClr val="182F45"/>
                </a:solidFill>
                <a:latin typeface="Arial"/>
              </a:defRPr>
            </a:pPr>
            <a:r>
              <a:t>recheck interval is 4 hours. A</a:t>
            </a:r>
          </a:p>
          <a:p>
            <a:pPr>
              <a:lnSpc>
                <a:spcPts val="2108"/>
              </a:lnSpc>
              <a:spcBef>
                <a:spcPts val="0"/>
              </a:spcBef>
              <a:spcAft>
                <a:spcPts val="0"/>
              </a:spcAft>
              <a:defRPr sz="1700" b="0">
                <a:solidFill>
                  <a:srgbClr val="182F45"/>
                </a:solidFill>
                <a:latin typeface="Arial"/>
              </a:defRPr>
            </a:pPr>
            <a:r>
              <a:t>scan or update job must actually</a:t>
            </a:r>
          </a:p>
          <a:p>
            <a:pPr>
              <a:lnSpc>
                <a:spcPts val="2108"/>
              </a:lnSpc>
              <a:spcBef>
                <a:spcPts val="0"/>
              </a:spcBef>
              <a:spcAft>
                <a:spcPts val="0"/>
              </a:spcAft>
              <a:defRPr sz="1700" b="0">
                <a:solidFill>
                  <a:srgbClr val="182F45"/>
                </a:solidFill>
                <a:latin typeface="Arial"/>
              </a:defRPr>
            </a:pPr>
            <a:r>
              <a:t>run.</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RULE-BASED TOOLS</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Gitleaks, SAST, IaC and ZAP</a:t>
            </a:r>
          </a:p>
          <a:p>
            <a:pPr>
              <a:lnSpc>
                <a:spcPts val="2108"/>
              </a:lnSpc>
              <a:spcBef>
                <a:spcPts val="0"/>
              </a:spcBef>
              <a:spcAft>
                <a:spcPts val="0"/>
              </a:spcAft>
              <a:defRPr sz="1700" b="0">
                <a:solidFill>
                  <a:srgbClr val="182F45"/>
                </a:solidFill>
                <a:latin typeface="Arial"/>
              </a:defRPr>
            </a:pPr>
            <a:r>
              <a:t>rules change through tool, policy</a:t>
            </a:r>
          </a:p>
          <a:p>
            <a:pPr>
              <a:lnSpc>
                <a:spcPts val="2108"/>
              </a:lnSpc>
              <a:spcBef>
                <a:spcPts val="0"/>
              </a:spcBef>
              <a:spcAft>
                <a:spcPts val="0"/>
              </a:spcAft>
              <a:defRPr sz="1700" b="0">
                <a:solidFill>
                  <a:srgbClr val="182F45"/>
                </a:solidFill>
                <a:latin typeface="Arial"/>
              </a:defRPr>
            </a:pPr>
            <a:r>
              <a:t>or add-on updates. There is no</a:t>
            </a:r>
          </a:p>
          <a:p>
            <a:pPr>
              <a:lnSpc>
                <a:spcPts val="2108"/>
              </a:lnSpc>
              <a:spcBef>
                <a:spcPts val="0"/>
              </a:spcBef>
              <a:spcAft>
                <a:spcPts val="0"/>
              </a:spcAft>
              <a:defRPr sz="1700" b="0">
                <a:solidFill>
                  <a:srgbClr val="182F45"/>
                </a:solidFill>
                <a:latin typeface="Arial"/>
              </a:defRPr>
            </a:pPr>
            <a:r>
              <a:t>common CVE refresh timer.</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PRIORITIZATION</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EPSS is refreshed daily. KEV</a:t>
            </a:r>
          </a:p>
          <a:p>
            <a:pPr>
              <a:lnSpc>
                <a:spcPts val="2108"/>
              </a:lnSpc>
              <a:spcBef>
                <a:spcPts val="0"/>
              </a:spcBef>
              <a:spcAft>
                <a:spcPts val="0"/>
              </a:spcAft>
              <a:defRPr sz="1700" b="0">
                <a:solidFill>
                  <a:srgbClr val="182F45"/>
                </a:solidFill>
                <a:latin typeface="Arial"/>
              </a:defRPr>
            </a:pPr>
            <a:r>
              <a:t>grows as qualifying evidence is</a:t>
            </a:r>
          </a:p>
          <a:p>
            <a:pPr>
              <a:lnSpc>
                <a:spcPts val="2108"/>
              </a:lnSpc>
              <a:spcBef>
                <a:spcPts val="0"/>
              </a:spcBef>
              <a:spcAft>
                <a:spcPts val="0"/>
              </a:spcAft>
              <a:defRPr sz="1700" b="0">
                <a:solidFill>
                  <a:srgbClr val="182F45"/>
                </a:solidFill>
                <a:latin typeface="Arial"/>
              </a:defRPr>
            </a:pPr>
            <a:r>
              <a:t>added. Poll and preserve the</a:t>
            </a:r>
          </a:p>
          <a:p>
            <a:pPr>
              <a:lnSpc>
                <a:spcPts val="2108"/>
              </a:lnSpc>
              <a:spcBef>
                <a:spcPts val="0"/>
              </a:spcBef>
              <a:spcAft>
                <a:spcPts val="0"/>
              </a:spcAft>
              <a:defRPr sz="1700" b="0">
                <a:solidFill>
                  <a:srgbClr val="182F45"/>
                </a:solidFill>
                <a:latin typeface="Arial"/>
              </a:defRPr>
            </a:pPr>
            <a:r>
              <a:t>received snapshot.</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Record both tool version and intelligence or rules revision.</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Sources in notes: dc-cli, epss, kev, zap-addons</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33 / 57</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04 INTELLIGENCE</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Freshness is an operational control</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Suggested operating policy, not a product default or universal requirement.</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BEFORE A SCAN</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Check access to the approved</a:t>
            </a:r>
          </a:p>
          <a:p>
            <a:pPr>
              <a:lnSpc>
                <a:spcPts val="2108"/>
              </a:lnSpc>
              <a:spcBef>
                <a:spcPts val="0"/>
              </a:spcBef>
              <a:spcAft>
                <a:spcPts val="0"/>
              </a:spcAft>
              <a:defRPr sz="1700" b="0">
                <a:solidFill>
                  <a:srgbClr val="182F45"/>
                </a:solidFill>
                <a:latin typeface="Arial"/>
              </a:defRPr>
            </a:pPr>
            <a:r>
              <a:t>source. Refresh as needed.</a:t>
            </a:r>
          </a:p>
          <a:p>
            <a:pPr>
              <a:lnSpc>
                <a:spcPts val="2108"/>
              </a:lnSpc>
              <a:spcBef>
                <a:spcPts val="0"/>
              </a:spcBef>
              <a:spcAft>
                <a:spcPts val="0"/>
              </a:spcAft>
              <a:defRPr sz="1700" b="0">
                <a:solidFill>
                  <a:srgbClr val="182F45"/>
                </a:solidFill>
                <a:latin typeface="Arial"/>
              </a:defRPr>
            </a:pPr>
            <a:r>
              <a:t>Retain version, timestamps and</a:t>
            </a:r>
          </a:p>
          <a:p>
            <a:pPr>
              <a:lnSpc>
                <a:spcPts val="2108"/>
              </a:lnSpc>
              <a:spcBef>
                <a:spcPts val="0"/>
              </a:spcBef>
              <a:spcAft>
                <a:spcPts val="0"/>
              </a:spcAft>
              <a:defRPr sz="1700" b="0">
                <a:solidFill>
                  <a:srgbClr val="182F45"/>
                </a:solidFill>
                <a:latin typeface="Arial"/>
              </a:defRPr>
            </a:pPr>
            <a:r>
              <a:t>update logs.</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ON AN OUTAGE</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Distinguish stale data from no</a:t>
            </a:r>
          </a:p>
          <a:p>
            <a:pPr>
              <a:lnSpc>
                <a:spcPts val="2108"/>
              </a:lnSpc>
              <a:spcBef>
                <a:spcPts val="0"/>
              </a:spcBef>
              <a:spcAft>
                <a:spcPts val="0"/>
              </a:spcAft>
              <a:defRPr sz="1700" b="0">
                <a:solidFill>
                  <a:srgbClr val="182F45"/>
                </a:solidFill>
                <a:latin typeface="Arial"/>
              </a:defRPr>
            </a:pPr>
            <a:r>
              <a:t>findings. Block release when the</a:t>
            </a:r>
          </a:p>
          <a:p>
            <a:pPr>
              <a:lnSpc>
                <a:spcPts val="2108"/>
              </a:lnSpc>
              <a:spcBef>
                <a:spcPts val="0"/>
              </a:spcBef>
              <a:spcAft>
                <a:spcPts val="0"/>
              </a:spcAft>
              <a:defRPr sz="1700" b="0">
                <a:solidFill>
                  <a:srgbClr val="182F45"/>
                </a:solidFill>
                <a:latin typeface="Arial"/>
              </a:defRPr>
            </a:pPr>
            <a:r>
              <a:t>accepted freshness budget is</a:t>
            </a:r>
          </a:p>
          <a:p>
            <a:pPr>
              <a:lnSpc>
                <a:spcPts val="2108"/>
              </a:lnSpc>
              <a:spcBef>
                <a:spcPts val="0"/>
              </a:spcBef>
              <a:spcAft>
                <a:spcPts val="0"/>
              </a:spcAft>
              <a:defRPr sz="1700" b="0">
                <a:solidFill>
                  <a:srgbClr val="182F45"/>
                </a:solidFill>
                <a:latin typeface="Arial"/>
              </a:defRPr>
            </a:pPr>
            <a:r>
              <a:t>exceeded.</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AFTER RELEASE</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Schedule rescans of supported</a:t>
            </a:r>
          </a:p>
          <a:p>
            <a:pPr>
              <a:lnSpc>
                <a:spcPts val="2108"/>
              </a:lnSpc>
              <a:spcBef>
                <a:spcPts val="0"/>
              </a:spcBef>
              <a:spcAft>
                <a:spcPts val="0"/>
              </a:spcAft>
              <a:defRPr sz="1700" b="0">
                <a:solidFill>
                  <a:srgbClr val="182F45"/>
                </a:solidFill>
                <a:latin typeface="Arial"/>
              </a:defRPr>
            </a:pPr>
            <a:r>
              <a:t>production artifacts. Trigger</a:t>
            </a:r>
          </a:p>
          <a:p>
            <a:pPr>
              <a:lnSpc>
                <a:spcPts val="2108"/>
              </a:lnSpc>
              <a:spcBef>
                <a:spcPts val="0"/>
              </a:spcBef>
              <a:spcAft>
                <a:spcPts val="0"/>
              </a:spcAft>
              <a:defRPr sz="1700" b="0">
                <a:solidFill>
                  <a:srgbClr val="182F45"/>
                </a:solidFill>
                <a:latin typeface="Arial"/>
              </a:defRPr>
            </a:pPr>
            <a:r>
              <a:t>urgent checks after relevant new</a:t>
            </a:r>
          </a:p>
          <a:p>
            <a:pPr>
              <a:lnSpc>
                <a:spcPts val="2108"/>
              </a:lnSpc>
              <a:spcBef>
                <a:spcPts val="0"/>
              </a:spcBef>
              <a:spcAft>
                <a:spcPts val="0"/>
              </a:spcAft>
              <a:defRPr sz="1700" b="0">
                <a:solidFill>
                  <a:srgbClr val="182F45"/>
                </a:solidFill>
                <a:latin typeface="Arial"/>
              </a:defRPr>
            </a:pPr>
            <a:r>
              <a:t>advisories.</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No update + no finding can still mean “insufficient evidence.”</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Sources in notes: db-config</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34 / 57</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05 FINDINGS TO ACTION</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How to read a vulnerability report</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Follow one result from package identity to remediation.</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IDENTITY</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Target and digest; package</a:t>
            </a:r>
          </a:p>
          <a:p>
            <a:pPr>
              <a:lnSpc>
                <a:spcPts val="2108"/>
              </a:lnSpc>
              <a:spcBef>
                <a:spcPts val="0"/>
              </a:spcBef>
              <a:spcAft>
                <a:spcPts val="0"/>
              </a:spcAft>
              <a:defRPr sz="1700" b="0">
                <a:solidFill>
                  <a:srgbClr val="182F45"/>
                </a:solidFill>
                <a:latin typeface="Arial"/>
              </a:defRPr>
            </a:pPr>
            <a:r>
              <a:t>name, ecosystem, installed</a:t>
            </a:r>
          </a:p>
          <a:p>
            <a:pPr>
              <a:lnSpc>
                <a:spcPts val="2108"/>
              </a:lnSpc>
              <a:spcBef>
                <a:spcPts val="0"/>
              </a:spcBef>
              <a:spcAft>
                <a:spcPts val="0"/>
              </a:spcAft>
              <a:defRPr sz="1700" b="0">
                <a:solidFill>
                  <a:srgbClr val="182F45"/>
                </a:solidFill>
                <a:latin typeface="Arial"/>
              </a:defRPr>
            </a:pPr>
            <a:r>
              <a:t>version and evidence path.</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ADVISORY</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Identifier, affected range,</a:t>
            </a:r>
          </a:p>
          <a:p>
            <a:pPr>
              <a:lnSpc>
                <a:spcPts val="2108"/>
              </a:lnSpc>
              <a:spcBef>
                <a:spcPts val="0"/>
              </a:spcBef>
              <a:spcAft>
                <a:spcPts val="0"/>
              </a:spcAft>
              <a:defRPr sz="1700" b="0">
                <a:solidFill>
                  <a:srgbClr val="182F45"/>
                </a:solidFill>
                <a:latin typeface="Arial"/>
              </a:defRPr>
            </a:pPr>
            <a:r>
              <a:t>severity source, fixed version</a:t>
            </a:r>
          </a:p>
          <a:p>
            <a:pPr>
              <a:lnSpc>
                <a:spcPts val="2108"/>
              </a:lnSpc>
              <a:spcBef>
                <a:spcPts val="0"/>
              </a:spcBef>
              <a:spcAft>
                <a:spcPts val="0"/>
              </a:spcAft>
              <a:defRPr sz="1700" b="0">
                <a:solidFill>
                  <a:srgbClr val="182F45"/>
                </a:solidFill>
                <a:latin typeface="Arial"/>
              </a:defRPr>
            </a:pPr>
            <a:r>
              <a:t>and reference links.</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CONTEXT</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Tool and database versions,</a:t>
            </a:r>
          </a:p>
          <a:p>
            <a:pPr>
              <a:lnSpc>
                <a:spcPts val="2108"/>
              </a:lnSpc>
              <a:spcBef>
                <a:spcPts val="0"/>
              </a:spcBef>
              <a:spcAft>
                <a:spcPts val="0"/>
              </a:spcAft>
              <a:defRPr sz="1700" b="0">
                <a:solidFill>
                  <a:srgbClr val="182F45"/>
                </a:solidFill>
                <a:latin typeface="Arial"/>
              </a:defRPr>
            </a:pPr>
            <a:r>
              <a:t>scan time, scope, suppressions</a:t>
            </a:r>
          </a:p>
          <a:p>
            <a:pPr>
              <a:lnSpc>
                <a:spcPts val="2108"/>
              </a:lnSpc>
              <a:spcBef>
                <a:spcPts val="0"/>
              </a:spcBef>
              <a:spcAft>
                <a:spcPts val="0"/>
              </a:spcAft>
              <a:defRPr sz="1700" b="0">
                <a:solidFill>
                  <a:srgbClr val="182F45"/>
                </a:solidFill>
                <a:latin typeface="Arial"/>
              </a:defRPr>
            </a:pPr>
            <a:r>
              <a:t>and whether the package is</a:t>
            </a:r>
          </a:p>
          <a:p>
            <a:pPr>
              <a:lnSpc>
                <a:spcPts val="2108"/>
              </a:lnSpc>
              <a:spcBef>
                <a:spcPts val="0"/>
              </a:spcBef>
              <a:spcAft>
                <a:spcPts val="0"/>
              </a:spcAft>
              <a:defRPr sz="1700" b="0">
                <a:solidFill>
                  <a:srgbClr val="182F45"/>
                </a:solidFill>
                <a:latin typeface="Arial"/>
              </a:defRPr>
            </a:pPr>
            <a:r>
              <a:t>shipped.</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A useful finding explains what was matched, where, why and what to do next.</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Project guidance • examples are illustrative</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35 / 57</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05 FINDINGS TO ACTION</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False positives, false negatives and unknowns</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Accuracy includes knowing the limits of the inspection.</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FALSE POSITIVE</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A reported issue does not apply:</a:t>
            </a:r>
          </a:p>
          <a:p>
            <a:pPr>
              <a:lnSpc>
                <a:spcPts val="2108"/>
              </a:lnSpc>
              <a:spcBef>
                <a:spcPts val="0"/>
              </a:spcBef>
              <a:spcAft>
                <a:spcPts val="0"/>
              </a:spcAft>
              <a:defRPr sz="1700" b="0">
                <a:solidFill>
                  <a:srgbClr val="182F45"/>
                </a:solidFill>
                <a:latin typeface="Arial"/>
              </a:defRPr>
            </a:pPr>
            <a:r>
              <a:t>for example, incorrect package</a:t>
            </a:r>
          </a:p>
          <a:p>
            <a:pPr>
              <a:lnSpc>
                <a:spcPts val="2108"/>
              </a:lnSpc>
              <a:spcBef>
                <a:spcPts val="0"/>
              </a:spcBef>
              <a:spcAft>
                <a:spcPts val="0"/>
              </a:spcAft>
              <a:defRPr sz="1700" b="0">
                <a:solidFill>
                  <a:srgbClr val="182F45"/>
                </a:solidFill>
                <a:latin typeface="Arial"/>
              </a:defRPr>
            </a:pPr>
            <a:r>
              <a:t>identity or a valid vendor</a:t>
            </a:r>
          </a:p>
          <a:p>
            <a:pPr>
              <a:lnSpc>
                <a:spcPts val="2108"/>
              </a:lnSpc>
              <a:spcBef>
                <a:spcPts val="0"/>
              </a:spcBef>
              <a:spcAft>
                <a:spcPts val="0"/>
              </a:spcAft>
              <a:defRPr sz="1700" b="0">
                <a:solidFill>
                  <a:srgbClr val="182F45"/>
                </a:solidFill>
                <a:latin typeface="Arial"/>
              </a:defRPr>
            </a:pPr>
            <a:r>
              <a:t>backport.</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FALSE NEGATIVE</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A real issue is missed: for</a:t>
            </a:r>
          </a:p>
          <a:p>
            <a:pPr>
              <a:lnSpc>
                <a:spcPts val="2108"/>
              </a:lnSpc>
              <a:spcBef>
                <a:spcPts val="0"/>
              </a:spcBef>
              <a:spcAft>
                <a:spcPts val="0"/>
              </a:spcAft>
              <a:defRPr sz="1700" b="0">
                <a:solidFill>
                  <a:srgbClr val="182F45"/>
                </a:solidFill>
                <a:latin typeface="Arial"/>
              </a:defRPr>
            </a:pPr>
            <a:r>
              <a:t>example, an unsupported file or</a:t>
            </a:r>
          </a:p>
          <a:p>
            <a:pPr>
              <a:lnSpc>
                <a:spcPts val="2108"/>
              </a:lnSpc>
              <a:spcBef>
                <a:spcPts val="0"/>
              </a:spcBef>
              <a:spcAft>
                <a:spcPts val="0"/>
              </a:spcAft>
              <a:defRPr sz="1700" b="0">
                <a:solidFill>
                  <a:srgbClr val="182F45"/>
                </a:solidFill>
                <a:latin typeface="Arial"/>
              </a:defRPr>
            </a:pPr>
            <a:r>
              <a:t>missing authenticated route.</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UNKNOWN</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Evidence is incomplete: for</a:t>
            </a:r>
          </a:p>
          <a:p>
            <a:pPr>
              <a:lnSpc>
                <a:spcPts val="2108"/>
              </a:lnSpc>
              <a:spcBef>
                <a:spcPts val="0"/>
              </a:spcBef>
              <a:spcAft>
                <a:spcPts val="0"/>
              </a:spcAft>
              <a:defRPr sz="1700" b="0">
                <a:solidFill>
                  <a:srgbClr val="182F45"/>
                </a:solidFill>
                <a:latin typeface="Arial"/>
              </a:defRPr>
            </a:pPr>
            <a:r>
              <a:t>example, a failed refresh,</a:t>
            </a:r>
          </a:p>
          <a:p>
            <a:pPr>
              <a:lnSpc>
                <a:spcPts val="2108"/>
              </a:lnSpc>
              <a:spcBef>
                <a:spcPts val="0"/>
              </a:spcBef>
              <a:spcAft>
                <a:spcPts val="0"/>
              </a:spcAft>
              <a:defRPr sz="1700" b="0">
                <a:solidFill>
                  <a:srgbClr val="182F45"/>
                </a:solidFill>
                <a:latin typeface="Arial"/>
              </a:defRPr>
            </a:pPr>
            <a:r>
              <a:t>unresolved version or parser</a:t>
            </a:r>
          </a:p>
          <a:p>
            <a:pPr>
              <a:lnSpc>
                <a:spcPts val="2108"/>
              </a:lnSpc>
              <a:spcBef>
                <a:spcPts val="0"/>
              </a:spcBef>
              <a:spcAft>
                <a:spcPts val="0"/>
              </a:spcAft>
              <a:defRPr sz="1700" b="0">
                <a:solidFill>
                  <a:srgbClr val="182F45"/>
                </a:solidFill>
                <a:latin typeface="Arial"/>
              </a:defRPr>
            </a:pPr>
            <a:r>
              <a:t>error.</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Reduce noise through evidence and scoped rules, not broad exclusions.</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Project guidance • examples are illustrative</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36 / 57</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05 FINDINGS TO ACTION</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Turn scanner output into an explicit gate</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This project uses a conservative, simple executable baseline.</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SOURCE / IMAGE</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Trivy blocks HIGH and</a:t>
            </a:r>
          </a:p>
          <a:p>
            <a:pPr>
              <a:lnSpc>
                <a:spcPts val="2108"/>
              </a:lnSpc>
              <a:spcBef>
                <a:spcPts val="0"/>
              </a:spcBef>
              <a:spcAft>
                <a:spcPts val="0"/>
              </a:spcAft>
              <a:defRPr sz="1700" b="0">
                <a:solidFill>
                  <a:srgbClr val="182F45"/>
                </a:solidFill>
                <a:latin typeface="Arial"/>
              </a:defRPr>
            </a:pPr>
            <a:r>
              <a:t>CRITICAL findings. Gitleaks</a:t>
            </a:r>
          </a:p>
          <a:p>
            <a:pPr>
              <a:lnSpc>
                <a:spcPts val="2108"/>
              </a:lnSpc>
              <a:spcBef>
                <a:spcPts val="0"/>
              </a:spcBef>
              <a:spcAft>
                <a:spcPts val="0"/>
              </a:spcAft>
              <a:defRPr sz="1700" b="0">
                <a:solidFill>
                  <a:srgbClr val="182F45"/>
                </a:solidFill>
                <a:latin typeface="Arial"/>
              </a:defRPr>
            </a:pPr>
            <a:r>
              <a:t>blocks configured matches.</a:t>
            </a:r>
          </a:p>
          <a:p>
            <a:pPr>
              <a:lnSpc>
                <a:spcPts val="2108"/>
              </a:lnSpc>
              <a:spcBef>
                <a:spcPts val="0"/>
              </a:spcBef>
              <a:spcAft>
                <a:spcPts val="0"/>
              </a:spcAft>
              <a:defRPr sz="1700" b="0">
                <a:solidFill>
                  <a:srgbClr val="182F45"/>
                </a:solidFill>
                <a:latin typeface="Arial"/>
              </a:defRPr>
            </a:pPr>
            <a:r>
              <a:t>Semgrep blocks local-rule</a:t>
            </a:r>
          </a:p>
          <a:p>
            <a:pPr>
              <a:lnSpc>
                <a:spcPts val="2108"/>
              </a:lnSpc>
              <a:spcBef>
                <a:spcPts val="0"/>
              </a:spcBef>
              <a:spcAft>
                <a:spcPts val="0"/>
              </a:spcAft>
              <a:defRPr sz="1700" b="0">
                <a:solidFill>
                  <a:srgbClr val="182F45"/>
                </a:solidFill>
                <a:latin typeface="Arial"/>
              </a:defRPr>
            </a:pPr>
            <a:r>
              <a:t>findings.</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ERRORS</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Missing tools and failed scans</a:t>
            </a:r>
          </a:p>
          <a:p>
            <a:pPr>
              <a:lnSpc>
                <a:spcPts val="2108"/>
              </a:lnSpc>
              <a:spcBef>
                <a:spcPts val="0"/>
              </a:spcBef>
              <a:spcAft>
                <a:spcPts val="0"/>
              </a:spcAft>
              <a:defRPr sz="1700" b="0">
                <a:solidFill>
                  <a:srgbClr val="182F45"/>
                </a:solidFill>
                <a:latin typeface="Arial"/>
              </a:defRPr>
            </a:pPr>
            <a:r>
              <a:t>stop their wrappers. Failure</a:t>
            </a:r>
          </a:p>
          <a:p>
            <a:pPr>
              <a:lnSpc>
                <a:spcPts val="2108"/>
              </a:lnSpc>
              <a:spcBef>
                <a:spcPts val="0"/>
              </a:spcBef>
              <a:spcAft>
                <a:spcPts val="0"/>
              </a:spcAft>
              <a:defRPr sz="1700" b="0">
                <a:solidFill>
                  <a:srgbClr val="182F45"/>
                </a:solidFill>
                <a:latin typeface="Arial"/>
              </a:defRPr>
            </a:pPr>
            <a:r>
              <a:t>statuses propagate to the caller.</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RELEASE</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Unconfigured DAST and release</a:t>
            </a:r>
          </a:p>
          <a:p>
            <a:pPr>
              <a:lnSpc>
                <a:spcPts val="2108"/>
              </a:lnSpc>
              <a:spcBef>
                <a:spcPts val="0"/>
              </a:spcBef>
              <a:spcAft>
                <a:spcPts val="0"/>
              </a:spcAft>
              <a:defRPr sz="1700" b="0">
                <a:solidFill>
                  <a:srgbClr val="182F45"/>
                </a:solidFill>
                <a:latin typeface="Arial"/>
              </a:defRPr>
            </a:pPr>
            <a:r>
              <a:t>verification stop with exit 2. They</a:t>
            </a:r>
          </a:p>
          <a:p>
            <a:pPr>
              <a:lnSpc>
                <a:spcPts val="2108"/>
              </a:lnSpc>
              <a:spcBef>
                <a:spcPts val="0"/>
              </a:spcBef>
              <a:spcAft>
                <a:spcPts val="0"/>
              </a:spcAft>
              <a:defRPr sz="1700" b="0">
                <a:solidFill>
                  <a:srgbClr val="182F45"/>
                </a:solidFill>
                <a:latin typeface="Arial"/>
              </a:defRPr>
            </a:pPr>
            <a:r>
              <a:t>cannot establish production</a:t>
            </a:r>
          </a:p>
          <a:p>
            <a:pPr>
              <a:lnSpc>
                <a:spcPts val="2108"/>
              </a:lnSpc>
              <a:spcBef>
                <a:spcPts val="0"/>
              </a:spcBef>
              <a:spcAft>
                <a:spcPts val="0"/>
              </a:spcAft>
              <a:defRPr sz="1700" b="0">
                <a:solidFill>
                  <a:srgbClr val="182F45"/>
                </a:solidFill>
                <a:latin typeface="Arial"/>
              </a:defRPr>
            </a:pPr>
            <a:r>
              <a:t>readiness.</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Document implemented behavior separately from the desired production architecture.</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Project guidance • examples are illustrative</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37 / 57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05 FINDINGS TO ACTION</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The release decision must fail closed</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Missing, stale or mismatched evidence prevents approval.</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BIND</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Match the commit, build run,</a:t>
            </a:r>
          </a:p>
          <a:p>
            <a:pPr>
              <a:lnSpc>
                <a:spcPts val="2108"/>
              </a:lnSpc>
              <a:spcBef>
                <a:spcPts val="0"/>
              </a:spcBef>
              <a:spcAft>
                <a:spcPts val="0"/>
              </a:spcAft>
              <a:defRPr sz="1700" b="0">
                <a:solidFill>
                  <a:srgbClr val="182F45"/>
                </a:solidFill>
                <a:latin typeface="Arial"/>
              </a:defRPr>
            </a:pPr>
            <a:r>
              <a:t>platform and artifact digest</a:t>
            </a:r>
          </a:p>
          <a:p>
            <a:pPr>
              <a:lnSpc>
                <a:spcPts val="2108"/>
              </a:lnSpc>
              <a:spcBef>
                <a:spcPts val="0"/>
              </a:spcBef>
              <a:spcAft>
                <a:spcPts val="0"/>
              </a:spcAft>
              <a:defRPr sz="1700" b="0">
                <a:solidFill>
                  <a:srgbClr val="182F45"/>
                </a:solidFill>
                <a:latin typeface="Arial"/>
              </a:defRPr>
            </a:pPr>
            <a:r>
              <a:t>across all required evidence.</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VERIFY</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Check required scan completion,</a:t>
            </a:r>
          </a:p>
          <a:p>
            <a:pPr>
              <a:lnSpc>
                <a:spcPts val="2108"/>
              </a:lnSpc>
              <a:spcBef>
                <a:spcPts val="0"/>
              </a:spcBef>
              <a:spcAft>
                <a:spcPts val="0"/>
              </a:spcAft>
              <a:defRPr sz="1700" b="0">
                <a:solidFill>
                  <a:srgbClr val="182F45"/>
                </a:solidFill>
                <a:latin typeface="Arial"/>
              </a:defRPr>
            </a:pPr>
            <a:r>
              <a:t>coverage, freshness, signatures,</a:t>
            </a:r>
          </a:p>
          <a:p>
            <a:pPr>
              <a:lnSpc>
                <a:spcPts val="2108"/>
              </a:lnSpc>
              <a:spcBef>
                <a:spcPts val="0"/>
              </a:spcBef>
              <a:spcAft>
                <a:spcPts val="0"/>
              </a:spcAft>
              <a:defRPr sz="1700" b="0">
                <a:solidFill>
                  <a:srgbClr val="182F45"/>
                </a:solidFill>
                <a:latin typeface="Arial"/>
              </a:defRPr>
            </a:pPr>
            <a:r>
              <a:t>provenance and trusted issuer</a:t>
            </a:r>
          </a:p>
          <a:p>
            <a:pPr>
              <a:lnSpc>
                <a:spcPts val="2108"/>
              </a:lnSpc>
              <a:spcBef>
                <a:spcPts val="0"/>
              </a:spcBef>
              <a:spcAft>
                <a:spcPts val="0"/>
              </a:spcAft>
              <a:defRPr sz="1700" b="0">
                <a:solidFill>
                  <a:srgbClr val="182F45"/>
                </a:solidFill>
                <a:latin typeface="Arial"/>
              </a:defRPr>
            </a:pPr>
            <a:r>
              <a:t>identity.</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EVALUATE</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Apply versioned policy and</a:t>
            </a:r>
          </a:p>
          <a:p>
            <a:pPr>
              <a:lnSpc>
                <a:spcPts val="2108"/>
              </a:lnSpc>
              <a:spcBef>
                <a:spcPts val="0"/>
              </a:spcBef>
              <a:spcAft>
                <a:spcPts val="0"/>
              </a:spcAft>
              <a:defRPr sz="1700" b="0">
                <a:solidFill>
                  <a:srgbClr val="182F45"/>
                </a:solidFill>
                <a:latin typeface="Arial"/>
              </a:defRPr>
            </a:pPr>
            <a:r>
              <a:t>validated exceptions. Save the</a:t>
            </a:r>
          </a:p>
          <a:p>
            <a:pPr>
              <a:lnSpc>
                <a:spcPts val="2108"/>
              </a:lnSpc>
              <a:spcBef>
                <a:spcPts val="0"/>
              </a:spcBef>
              <a:spcAft>
                <a:spcPts val="0"/>
              </a:spcAft>
              <a:defRPr sz="1700" b="0">
                <a:solidFill>
                  <a:srgbClr val="182F45"/>
                </a:solidFill>
                <a:latin typeface="Arial"/>
              </a:defRPr>
            </a:pPr>
            <a:r>
              <a:t>reasons and the approved</a:t>
            </a:r>
          </a:p>
          <a:p>
            <a:pPr>
              <a:lnSpc>
                <a:spcPts val="2108"/>
              </a:lnSpc>
              <a:spcBef>
                <a:spcPts val="0"/>
              </a:spcBef>
              <a:spcAft>
                <a:spcPts val="0"/>
              </a:spcAft>
              <a:defRPr sz="1700" b="0">
                <a:solidFill>
                  <a:srgbClr val="182F45"/>
                </a:solidFill>
                <a:latin typeface="Arial"/>
              </a:defRPr>
            </a:pPr>
            <a:r>
              <a:t>digest.</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A gate that always prints success is a missing control.</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Project guidance • examples are illustrative</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38 / 57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05 FINDINGS TO ACTION</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Exceptions need a lifecycle</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An exception is a documented risk decision with a limit.</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REQUEST</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Identify finding, affected artifact</a:t>
            </a:r>
          </a:p>
          <a:p>
            <a:pPr>
              <a:lnSpc>
                <a:spcPts val="2108"/>
              </a:lnSpc>
              <a:spcBef>
                <a:spcPts val="0"/>
              </a:spcBef>
              <a:spcAft>
                <a:spcPts val="0"/>
              </a:spcAft>
              <a:defRPr sz="1700" b="0">
                <a:solidFill>
                  <a:srgbClr val="182F45"/>
                </a:solidFill>
                <a:latin typeface="Arial"/>
              </a:defRPr>
            </a:pPr>
            <a:r>
              <a:t>or scope, reason, impact and</a:t>
            </a:r>
          </a:p>
          <a:p>
            <a:pPr>
              <a:lnSpc>
                <a:spcPts val="2108"/>
              </a:lnSpc>
              <a:spcBef>
                <a:spcPts val="0"/>
              </a:spcBef>
              <a:spcAft>
                <a:spcPts val="0"/>
              </a:spcAft>
              <a:defRPr sz="1700" b="0">
                <a:solidFill>
                  <a:srgbClr val="182F45"/>
                </a:solidFill>
                <a:latin typeface="Arial"/>
              </a:defRPr>
            </a:pPr>
            <a:r>
              <a:t>proposed mitigation.</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APPROVE</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Assign an accountable approver,</a:t>
            </a:r>
          </a:p>
          <a:p>
            <a:pPr>
              <a:lnSpc>
                <a:spcPts val="2108"/>
              </a:lnSpc>
              <a:spcBef>
                <a:spcPts val="0"/>
              </a:spcBef>
              <a:spcAft>
                <a:spcPts val="0"/>
              </a:spcAft>
              <a:defRPr sz="1700" b="0">
                <a:solidFill>
                  <a:srgbClr val="182F45"/>
                </a:solidFill>
                <a:latin typeface="Arial"/>
              </a:defRPr>
            </a:pPr>
            <a:r>
              <a:t>owner, expiry and remediation</a:t>
            </a:r>
          </a:p>
          <a:p>
            <a:pPr>
              <a:lnSpc>
                <a:spcPts val="2108"/>
              </a:lnSpc>
              <a:spcBef>
                <a:spcPts val="0"/>
              </a:spcBef>
              <a:spcAft>
                <a:spcPts val="0"/>
              </a:spcAft>
              <a:defRPr sz="1700" b="0">
                <a:solidFill>
                  <a:srgbClr val="182F45"/>
                </a:solidFill>
                <a:latin typeface="Arial"/>
              </a:defRPr>
            </a:pPr>
            <a:r>
              <a:t>ticket. Protect approval records.</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REVALIDATE</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Check the scope and UTC expiry</a:t>
            </a:r>
          </a:p>
          <a:p>
            <a:pPr>
              <a:lnSpc>
                <a:spcPts val="2108"/>
              </a:lnSpc>
              <a:spcBef>
                <a:spcPts val="0"/>
              </a:spcBef>
              <a:spcAft>
                <a:spcPts val="0"/>
              </a:spcAft>
              <a:defRPr sz="1700" b="0">
                <a:solidFill>
                  <a:srgbClr val="182F45"/>
                </a:solidFill>
                <a:latin typeface="Arial"/>
              </a:defRPr>
            </a:pPr>
            <a:r>
              <a:t>on each release. Reject expired</a:t>
            </a:r>
          </a:p>
          <a:p>
            <a:pPr>
              <a:lnSpc>
                <a:spcPts val="2108"/>
              </a:lnSpc>
              <a:spcBef>
                <a:spcPts val="0"/>
              </a:spcBef>
              <a:spcAft>
                <a:spcPts val="0"/>
              </a:spcAft>
              <a:defRPr sz="1700" b="0">
                <a:solidFill>
                  <a:srgbClr val="182F45"/>
                </a:solidFill>
                <a:latin typeface="Arial"/>
              </a:defRPr>
            </a:pPr>
            <a:r>
              <a:t>or altered approvals.</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An exception does not remove the finding or the obligation to remediate it.</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Project guidance • examples are illustrative</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39 / 57</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05 FINDINGS TO ACTION</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What belongs in the release evidence package</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Keep enough context to repeat and defend the decision.</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SOURCE + TESTS</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Commit, reviewed change,</a:t>
            </a:r>
          </a:p>
          <a:p>
            <a:pPr>
              <a:lnSpc>
                <a:spcPts val="2108"/>
              </a:lnSpc>
              <a:spcBef>
                <a:spcPts val="0"/>
              </a:spcBef>
              <a:spcAft>
                <a:spcPts val="0"/>
              </a:spcAft>
              <a:defRPr sz="1700" b="0">
                <a:solidFill>
                  <a:srgbClr val="182F45"/>
                </a:solidFill>
                <a:latin typeface="Arial"/>
              </a:defRPr>
            </a:pPr>
            <a:r>
              <a:t>runner/build identity, test results,</a:t>
            </a:r>
          </a:p>
          <a:p>
            <a:pPr>
              <a:lnSpc>
                <a:spcPts val="2108"/>
              </a:lnSpc>
              <a:spcBef>
                <a:spcPts val="0"/>
              </a:spcBef>
              <a:spcAft>
                <a:spcPts val="0"/>
              </a:spcAft>
              <a:defRPr sz="1700" b="0">
                <a:solidFill>
                  <a:srgbClr val="182F45"/>
                </a:solidFill>
                <a:latin typeface="Arial"/>
              </a:defRPr>
            </a:pPr>
            <a:r>
              <a:t>scan scope and completion</a:t>
            </a:r>
          </a:p>
          <a:p>
            <a:pPr>
              <a:lnSpc>
                <a:spcPts val="2108"/>
              </a:lnSpc>
              <a:spcBef>
                <a:spcPts val="0"/>
              </a:spcBef>
              <a:spcAft>
                <a:spcPts val="0"/>
              </a:spcAft>
              <a:defRPr sz="1700" b="0">
                <a:solidFill>
                  <a:srgbClr val="182F45"/>
                </a:solidFill>
                <a:latin typeface="Arial"/>
              </a:defRPr>
            </a:pPr>
            <a:r>
              <a:t>status.</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ARTIFACT + DATA</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Digest and platform, SBOM,</a:t>
            </a:r>
          </a:p>
          <a:p>
            <a:pPr>
              <a:lnSpc>
                <a:spcPts val="2108"/>
              </a:lnSpc>
              <a:spcBef>
                <a:spcPts val="0"/>
              </a:spcBef>
              <a:spcAft>
                <a:spcPts val="0"/>
              </a:spcAft>
              <a:defRPr sz="1700" b="0">
                <a:solidFill>
                  <a:srgbClr val="182F45"/>
                </a:solidFill>
                <a:latin typeface="Arial"/>
              </a:defRPr>
            </a:pPr>
            <a:r>
              <a:t>reports, tool versions, rule</a:t>
            </a:r>
          </a:p>
          <a:p>
            <a:pPr>
              <a:lnSpc>
                <a:spcPts val="2108"/>
              </a:lnSpc>
              <a:spcBef>
                <a:spcPts val="0"/>
              </a:spcBef>
              <a:spcAft>
                <a:spcPts val="0"/>
              </a:spcAft>
              <a:defRPr sz="1700" b="0">
                <a:solidFill>
                  <a:srgbClr val="182F45"/>
                </a:solidFill>
                <a:latin typeface="Arial"/>
              </a:defRPr>
            </a:pPr>
            <a:r>
              <a:t>revisions and advisory snapshot</a:t>
            </a:r>
          </a:p>
          <a:p>
            <a:pPr>
              <a:lnSpc>
                <a:spcPts val="2108"/>
              </a:lnSpc>
              <a:spcBef>
                <a:spcPts val="0"/>
              </a:spcBef>
              <a:spcAft>
                <a:spcPts val="0"/>
              </a:spcAft>
              <a:defRPr sz="1700" b="0">
                <a:solidFill>
                  <a:srgbClr val="182F45"/>
                </a:solidFill>
                <a:latin typeface="Arial"/>
              </a:defRPr>
            </a:pPr>
            <a:r>
              <a:t>metadata.</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DECISION + DEPLOY</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Policy version, verified trust,</a:t>
            </a:r>
          </a:p>
          <a:p>
            <a:pPr>
              <a:lnSpc>
                <a:spcPts val="2108"/>
              </a:lnSpc>
              <a:spcBef>
                <a:spcPts val="0"/>
              </a:spcBef>
              <a:spcAft>
                <a:spcPts val="0"/>
              </a:spcAft>
              <a:defRPr sz="1700" b="0">
                <a:solidFill>
                  <a:srgbClr val="182F45"/>
                </a:solidFill>
                <a:latin typeface="Arial"/>
              </a:defRPr>
            </a:pPr>
            <a:r>
              <a:t>approvals, exceptions, target</a:t>
            </a:r>
          </a:p>
          <a:p>
            <a:pPr>
              <a:lnSpc>
                <a:spcPts val="2108"/>
              </a:lnSpc>
              <a:spcBef>
                <a:spcPts val="0"/>
              </a:spcBef>
              <a:spcAft>
                <a:spcPts val="0"/>
              </a:spcAft>
              <a:defRPr sz="1700" b="0">
                <a:solidFill>
                  <a:srgbClr val="182F45"/>
                </a:solidFill>
                <a:latin typeface="Arial"/>
              </a:defRPr>
            </a:pPr>
            <a:r>
              <a:t>environment and deployed</a:t>
            </a:r>
          </a:p>
          <a:p>
            <a:pPr>
              <a:lnSpc>
                <a:spcPts val="2108"/>
              </a:lnSpc>
              <a:spcBef>
                <a:spcPts val="0"/>
              </a:spcBef>
              <a:spcAft>
                <a:spcPts val="0"/>
              </a:spcAft>
              <a:defRPr sz="1700" b="0">
                <a:solidFill>
                  <a:srgbClr val="182F45"/>
                </a:solidFill>
                <a:latin typeface="Arial"/>
              </a:defRPr>
            </a:pPr>
            <a:r>
              <a:t>digest.</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Evidence is useful only when its origin, completeness and artifact binding can be trusted.</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Project guidance • examples are illustrative</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40 / 57</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06 PROJECT PRACTICE</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What this repository actually provides</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A teaching reference with runnable wrappers and incomplete deployment integrations.</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AVAILABLE</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Source scanner wrappers, image</a:t>
            </a:r>
          </a:p>
          <a:p>
            <a:pPr>
              <a:lnSpc>
                <a:spcPts val="2108"/>
              </a:lnSpc>
              <a:spcBef>
                <a:spcPts val="0"/>
              </a:spcBef>
              <a:spcAft>
                <a:spcPts val="0"/>
              </a:spcAft>
              <a:defRPr sz="1700" b="0">
                <a:solidFill>
                  <a:srgbClr val="182F45"/>
                </a:solidFill>
                <a:latin typeface="Arial"/>
              </a:defRPr>
            </a:pPr>
            <a:r>
              <a:t>and SBOM commands, signing</a:t>
            </a:r>
          </a:p>
          <a:p>
            <a:pPr>
              <a:lnSpc>
                <a:spcPts val="2108"/>
              </a:lnSpc>
              <a:spcBef>
                <a:spcPts val="0"/>
              </a:spcBef>
              <a:spcAft>
                <a:spcPts val="0"/>
              </a:spcAft>
              <a:defRPr sz="1700" b="0">
                <a:solidFill>
                  <a:srgbClr val="182F45"/>
                </a:solidFill>
                <a:latin typeface="Arial"/>
              </a:defRPr>
            </a:pPr>
            <a:r>
              <a:t>entry point, policies and CI</a:t>
            </a:r>
          </a:p>
          <a:p>
            <a:pPr>
              <a:lnSpc>
                <a:spcPts val="2108"/>
              </a:lnSpc>
              <a:spcBef>
                <a:spcPts val="0"/>
              </a:spcBef>
              <a:spcAft>
                <a:spcPts val="0"/>
              </a:spcAft>
              <a:defRPr sz="1700" b="0">
                <a:solidFill>
                  <a:srgbClr val="182F45"/>
                </a:solidFill>
                <a:latin typeface="Arial"/>
              </a:defRPr>
            </a:pPr>
            <a:r>
              <a:t>examples.</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DEMONSTRATION</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One Semgrep rule; an</a:t>
            </a:r>
          </a:p>
          <a:p>
            <a:pPr>
              <a:lnSpc>
                <a:spcPts val="2108"/>
              </a:lnSpc>
              <a:spcBef>
                <a:spcPts val="0"/>
              </a:spcBef>
              <a:spcAft>
                <a:spcPts val="0"/>
              </a:spcAft>
              <a:defRPr sz="1700" b="0">
                <a:solidFill>
                  <a:srgbClr val="182F45"/>
                </a:solidFill>
                <a:latin typeface="Arial"/>
              </a:defRPr>
            </a:pPr>
            <a:r>
              <a:t>Audit-mode Kubernetes policy;</a:t>
            </a:r>
          </a:p>
          <a:p>
            <a:pPr>
              <a:lnSpc>
                <a:spcPts val="2108"/>
              </a:lnSpc>
              <a:spcBef>
                <a:spcPts val="0"/>
              </a:spcBef>
              <a:spcAft>
                <a:spcPts val="0"/>
              </a:spcAft>
              <a:defRPr sz="1700" b="0">
                <a:solidFill>
                  <a:srgbClr val="182F45"/>
                </a:solidFill>
                <a:latin typeface="Arial"/>
              </a:defRPr>
            </a:pPr>
            <a:r>
              <a:t>illustrative reports and stack</a:t>
            </a:r>
          </a:p>
          <a:p>
            <a:pPr>
              <a:lnSpc>
                <a:spcPts val="2108"/>
              </a:lnSpc>
              <a:spcBef>
                <a:spcPts val="0"/>
              </a:spcBef>
              <a:spcAft>
                <a:spcPts val="0"/>
              </a:spcAft>
              <a:defRPr sz="1700" b="0">
                <a:solidFill>
                  <a:srgbClr val="182F45"/>
                </a:solidFill>
                <a:latin typeface="Arial"/>
              </a:defRPr>
            </a:pPr>
            <a:r>
              <a:t>notes.</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INTEGRATION REQUIRED</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Tool provisioning, real</a:t>
            </a:r>
          </a:p>
          <a:p>
            <a:pPr>
              <a:lnSpc>
                <a:spcPts val="2108"/>
              </a:lnSpc>
              <a:spcBef>
                <a:spcPts val="0"/>
              </a:spcBef>
              <a:spcAft>
                <a:spcPts val="0"/>
              </a:spcAft>
              <a:defRPr sz="1700" b="0">
                <a:solidFill>
                  <a:srgbClr val="182F45"/>
                </a:solidFill>
                <a:latin typeface="Arial"/>
              </a:defRPr>
            </a:pPr>
            <a:r>
              <a:t>application tests/build, DAST,</a:t>
            </a:r>
          </a:p>
          <a:p>
            <a:pPr>
              <a:lnSpc>
                <a:spcPts val="2108"/>
              </a:lnSpc>
              <a:spcBef>
                <a:spcPts val="0"/>
              </a:spcBef>
              <a:spcAft>
                <a:spcPts val="0"/>
              </a:spcAft>
              <a:defRPr sz="1700" b="0">
                <a:solidFill>
                  <a:srgbClr val="182F45"/>
                </a:solidFill>
                <a:latin typeface="Arial"/>
              </a:defRPr>
            </a:pPr>
            <a:r>
              <a:t>trust verification, exceptions and</a:t>
            </a:r>
          </a:p>
          <a:p>
            <a:pPr>
              <a:lnSpc>
                <a:spcPts val="2108"/>
              </a:lnSpc>
              <a:spcBef>
                <a:spcPts val="0"/>
              </a:spcBef>
              <a:spcAft>
                <a:spcPts val="0"/>
              </a:spcAft>
              <a:defRPr sz="1700" b="0">
                <a:solidFill>
                  <a:srgbClr val="182F45"/>
                </a:solidFill>
                <a:latin typeface="Arial"/>
              </a:defRPr>
            </a:pPr>
            <a:r>
              <a:t>deployment.</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Use the implementation guide to turn the reference into a tested application pipeline.</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Project guidance • examples are illustrative</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41 / 57</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06 PROJECT PRACTICE</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Local use: prerequisites and first checks</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Run Bash wrappers in Git Bash, Linux or a configured WSL environment.</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PREPARE</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Install reviewed Git, Gitleaks,</a:t>
            </a:r>
          </a:p>
          <a:p>
            <a:pPr>
              <a:lnSpc>
                <a:spcPts val="2108"/>
              </a:lnSpc>
              <a:spcBef>
                <a:spcPts val="0"/>
              </a:spcBef>
              <a:spcAft>
                <a:spcPts val="0"/>
              </a:spcAft>
              <a:defRPr sz="1700" b="0">
                <a:solidFill>
                  <a:srgbClr val="182F45"/>
                </a:solidFill>
                <a:latin typeface="Arial"/>
              </a:defRPr>
            </a:pPr>
            <a:r>
              <a:t>Trivy and Semgrep versions.</a:t>
            </a:r>
          </a:p>
          <a:p>
            <a:pPr>
              <a:lnSpc>
                <a:spcPts val="2108"/>
              </a:lnSpc>
              <a:spcBef>
                <a:spcPts val="0"/>
              </a:spcBef>
              <a:spcAft>
                <a:spcPts val="0"/>
              </a:spcAft>
              <a:defRPr sz="1700" b="0">
                <a:solidFill>
                  <a:srgbClr val="182F45"/>
                </a:solidFill>
                <a:latin typeface="Arial"/>
              </a:defRPr>
            </a:pPr>
            <a:r>
              <a:t>Allow required advisory access.</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EXECUTE</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bash scripts/preflight.sh</a:t>
            </a:r>
          </a:p>
          <a:p>
            <a:pPr>
              <a:lnSpc>
                <a:spcPts val="2108"/>
              </a:lnSpc>
              <a:spcBef>
                <a:spcPts val="0"/>
              </a:spcBef>
              <a:spcAft>
                <a:spcPts val="0"/>
              </a:spcAft>
              <a:defRPr sz="1700" b="0">
                <a:solidFill>
                  <a:srgbClr val="182F45"/>
                </a:solidFill>
                <a:latin typeface="Arial"/>
              </a:defRPr>
            </a:pPr>
            <a:r>
              <a:t>bash scripts/secret-scan.sh</a:t>
            </a:r>
          </a:p>
          <a:p>
            <a:pPr>
              <a:lnSpc>
                <a:spcPts val="2108"/>
              </a:lnSpc>
              <a:spcBef>
                <a:spcPts val="0"/>
              </a:spcBef>
              <a:spcAft>
                <a:spcPts val="0"/>
              </a:spcAft>
              <a:defRPr sz="1700" b="0">
                <a:solidFill>
                  <a:srgbClr val="182F45"/>
                </a:solidFill>
                <a:latin typeface="Arial"/>
              </a:defRPr>
            </a:pPr>
            <a:r>
              <a:t>bash scripts/sca-scan.sh</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CONTINUE</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bash scripts/sast-scan.sh</a:t>
            </a:r>
          </a:p>
          <a:p>
            <a:pPr>
              <a:lnSpc>
                <a:spcPts val="2108"/>
              </a:lnSpc>
              <a:spcBef>
                <a:spcPts val="0"/>
              </a:spcBef>
              <a:spcAft>
                <a:spcPts val="0"/>
              </a:spcAft>
              <a:defRPr sz="1700" b="0">
                <a:solidFill>
                  <a:srgbClr val="182F45"/>
                </a:solidFill>
                <a:latin typeface="Arial"/>
              </a:defRPr>
            </a:pPr>
            <a:r>
              <a:t>bash scripts/iac-scan.sh</a:t>
            </a:r>
          </a:p>
          <a:p>
            <a:pPr>
              <a:lnSpc>
                <a:spcPts val="2108"/>
              </a:lnSpc>
              <a:spcBef>
                <a:spcPts val="0"/>
              </a:spcBef>
              <a:spcAft>
                <a:spcPts val="0"/>
              </a:spcAft>
              <a:defRPr sz="1700" b="0">
                <a:solidFill>
                  <a:srgbClr val="182F45"/>
                </a:solidFill>
                <a:latin typeface="Arial"/>
              </a:defRPr>
            </a:pPr>
            <a:r>
              <a:t>Inspect reports/generated/ and</a:t>
            </a:r>
          </a:p>
          <a:p>
            <a:pPr>
              <a:lnSpc>
                <a:spcPts val="2108"/>
              </a:lnSpc>
              <a:spcBef>
                <a:spcPts val="0"/>
              </a:spcBef>
              <a:spcAft>
                <a:spcPts val="0"/>
              </a:spcAft>
              <a:defRPr sz="1700" b="0">
                <a:solidFill>
                  <a:srgbClr val="182F45"/>
                </a:solidFill>
                <a:latin typeface="Arial"/>
              </a:defRPr>
            </a:pPr>
            <a:r>
              <a:t>exit statuses.</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See docs/implementation/quickstart.md for commands, outputs and troubleshooting.</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Project guidance • examples are illustrative</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42 / 57</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06 PROJECT PRACTICE</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A stack changes inputs, not the control goals</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Use the same reasoning across application languages.</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NODE / JAVA</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Node: resolved package lock</a:t>
            </a:r>
          </a:p>
          <a:p>
            <a:pPr>
              <a:lnSpc>
                <a:spcPts val="2108"/>
              </a:lnSpc>
              <a:spcBef>
                <a:spcPts val="0"/>
              </a:spcBef>
              <a:spcAft>
                <a:spcPts val="0"/>
              </a:spcAft>
              <a:defRPr sz="1700" b="0">
                <a:solidFill>
                  <a:srgbClr val="182F45"/>
                </a:solidFill>
                <a:latin typeface="Arial"/>
              </a:defRPr>
            </a:pPr>
            <a:r>
              <a:t>and final image. Java: resolved</a:t>
            </a:r>
          </a:p>
          <a:p>
            <a:pPr>
              <a:lnSpc>
                <a:spcPts val="2108"/>
              </a:lnSpc>
              <a:spcBef>
                <a:spcPts val="0"/>
              </a:spcBef>
              <a:spcAft>
                <a:spcPts val="0"/>
              </a:spcAft>
              <a:defRPr sz="1700" b="0">
                <a:solidFill>
                  <a:srgbClr val="182F45"/>
                </a:solidFill>
                <a:latin typeface="Arial"/>
              </a:defRPr>
            </a:pPr>
            <a:r>
              <a:t>Maven or Gradle graph,</a:t>
            </a:r>
          </a:p>
          <a:p>
            <a:pPr>
              <a:lnSpc>
                <a:spcPts val="2108"/>
              </a:lnSpc>
              <a:spcBef>
                <a:spcPts val="0"/>
              </a:spcBef>
              <a:spcAft>
                <a:spcPts val="0"/>
              </a:spcAft>
              <a:defRPr sz="1700" b="0">
                <a:solidFill>
                  <a:srgbClr val="182F45"/>
                </a:solidFill>
                <a:latin typeface="Arial"/>
              </a:defRPr>
            </a:pPr>
            <a:r>
              <a:t>packaged archives and runtime</a:t>
            </a:r>
          </a:p>
          <a:p>
            <a:pPr>
              <a:lnSpc>
                <a:spcPts val="2108"/>
              </a:lnSpc>
              <a:spcBef>
                <a:spcPts val="0"/>
              </a:spcBef>
              <a:spcAft>
                <a:spcPts val="0"/>
              </a:spcAft>
              <a:defRPr sz="1700" b="0">
                <a:solidFill>
                  <a:srgbClr val="182F45"/>
                </a:solidFill>
                <a:latin typeface="Arial"/>
              </a:defRPr>
            </a:pPr>
            <a:r>
              <a:t>image.</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PYTHON / .NET</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Python: pinned resolution plus</a:t>
            </a:r>
          </a:p>
          <a:p>
            <a:pPr>
              <a:lnSpc>
                <a:spcPts val="2108"/>
              </a:lnSpc>
              <a:spcBef>
                <a:spcPts val="0"/>
              </a:spcBef>
              <a:spcAft>
                <a:spcPts val="0"/>
              </a:spcAft>
              <a:defRPr sz="1700" b="0">
                <a:solidFill>
                  <a:srgbClr val="182F45"/>
                </a:solidFill>
                <a:latin typeface="Arial"/>
              </a:defRPr>
            </a:pPr>
            <a:r>
              <a:t>built wheel/image. .NET:</a:t>
            </a:r>
          </a:p>
          <a:p>
            <a:pPr>
              <a:lnSpc>
                <a:spcPts val="2108"/>
              </a:lnSpc>
              <a:spcBef>
                <a:spcPts val="0"/>
              </a:spcBef>
              <a:spcAft>
                <a:spcPts val="0"/>
              </a:spcAft>
              <a:defRPr sz="1700" b="0">
                <a:solidFill>
                  <a:srgbClr val="182F45"/>
                </a:solidFill>
                <a:latin typeface="Arial"/>
              </a:defRPr>
            </a:pPr>
            <a:r>
              <a:t>resolved NuGet dependencies</a:t>
            </a:r>
          </a:p>
          <a:p>
            <a:pPr>
              <a:lnSpc>
                <a:spcPts val="2108"/>
              </a:lnSpc>
              <a:spcBef>
                <a:spcPts val="0"/>
              </a:spcBef>
              <a:spcAft>
                <a:spcPts val="0"/>
              </a:spcAft>
              <a:defRPr sz="1700" b="0">
                <a:solidFill>
                  <a:srgbClr val="182F45"/>
                </a:solidFill>
                <a:latin typeface="Arial"/>
              </a:defRPr>
            </a:pPr>
            <a:r>
              <a:t>and published application.</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GO</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Module resolution plus built</a:t>
            </a:r>
          </a:p>
          <a:p>
            <a:pPr>
              <a:lnSpc>
                <a:spcPts val="2108"/>
              </a:lnSpc>
              <a:spcBef>
                <a:spcPts val="0"/>
              </a:spcBef>
              <a:spcAft>
                <a:spcPts val="0"/>
              </a:spcAft>
              <a:defRPr sz="1700" b="0">
                <a:solidFill>
                  <a:srgbClr val="182F45"/>
                </a:solidFill>
                <a:latin typeface="Arial"/>
              </a:defRPr>
            </a:pPr>
            <a:r>
              <a:t>binary metadata and image. Add</a:t>
            </a:r>
          </a:p>
          <a:p>
            <a:pPr>
              <a:lnSpc>
                <a:spcPts val="2108"/>
              </a:lnSpc>
              <a:spcBef>
                <a:spcPts val="0"/>
              </a:spcBef>
              <a:spcAft>
                <a:spcPts val="0"/>
              </a:spcAft>
              <a:defRPr sz="1700" b="0">
                <a:solidFill>
                  <a:srgbClr val="182F45"/>
                </a:solidFill>
                <a:latin typeface="Arial"/>
              </a:defRPr>
            </a:pPr>
            <a:r>
              <a:t>language-aware vulnerability and</a:t>
            </a:r>
          </a:p>
          <a:p>
            <a:pPr>
              <a:lnSpc>
                <a:spcPts val="2108"/>
              </a:lnSpc>
              <a:spcBef>
                <a:spcPts val="0"/>
              </a:spcBef>
              <a:spcAft>
                <a:spcPts val="0"/>
              </a:spcAft>
              <a:defRPr sz="1700" b="0">
                <a:solidFill>
                  <a:srgbClr val="182F45"/>
                </a:solidFill>
                <a:latin typeface="Arial"/>
              </a:defRPr>
            </a:pPr>
            <a:r>
              <a:t>code checks as needed.</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Scan the resolved dependencies and the final deliverable; validate the supported formats.</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Project guidance • examples are illustrative</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43 / 57</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06 PROJECT PRACTICE</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CI templates need explicit setup</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Continuous Integration platforms differ in syntax and trust configuration.</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RUNNER</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Provision reviewed tool versions.</a:t>
            </a:r>
          </a:p>
          <a:p>
            <a:pPr>
              <a:lnSpc>
                <a:spcPts val="2108"/>
              </a:lnSpc>
              <a:spcBef>
                <a:spcPts val="0"/>
              </a:spcBef>
              <a:spcAft>
                <a:spcPts val="0"/>
              </a:spcAft>
              <a:defRPr sz="1700" b="0">
                <a:solidFill>
                  <a:srgbClr val="182F45"/>
                </a:solidFill>
                <a:latin typeface="Arial"/>
              </a:defRPr>
            </a:pPr>
            <a:r>
              <a:t>Isolate untrusted changes. Use</a:t>
            </a:r>
          </a:p>
          <a:p>
            <a:pPr>
              <a:lnSpc>
                <a:spcPts val="2108"/>
              </a:lnSpc>
              <a:spcBef>
                <a:spcPts val="0"/>
              </a:spcBef>
              <a:spcAft>
                <a:spcPts val="0"/>
              </a:spcAft>
              <a:defRPr sz="1700" b="0">
                <a:solidFill>
                  <a:srgbClr val="182F45"/>
                </a:solidFill>
                <a:latin typeface="Arial"/>
              </a:defRPr>
            </a:pPr>
            <a:r>
              <a:t>least-privilege, short-lived</a:t>
            </a:r>
          </a:p>
          <a:p>
            <a:pPr>
              <a:lnSpc>
                <a:spcPts val="2108"/>
              </a:lnSpc>
              <a:spcBef>
                <a:spcPts val="0"/>
              </a:spcBef>
              <a:spcAft>
                <a:spcPts val="0"/>
              </a:spcAft>
              <a:defRPr sz="1700" b="0">
                <a:solidFill>
                  <a:srgbClr val="182F45"/>
                </a:solidFill>
                <a:latin typeface="Arial"/>
              </a:defRPr>
            </a:pPr>
            <a:r>
              <a:t>credentials.</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JOBS</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Preserve scanner failures and</a:t>
            </a:r>
          </a:p>
          <a:p>
            <a:pPr>
              <a:lnSpc>
                <a:spcPts val="2108"/>
              </a:lnSpc>
              <a:spcBef>
                <a:spcPts val="0"/>
              </a:spcBef>
              <a:spcAft>
                <a:spcPts val="0"/>
              </a:spcAft>
              <a:defRPr sz="1700" b="0">
                <a:solidFill>
                  <a:srgbClr val="182F45"/>
                </a:solidFill>
                <a:latin typeface="Arial"/>
              </a:defRPr>
            </a:pPr>
            <a:r>
              <a:t>always collect reports. Pass the</a:t>
            </a:r>
          </a:p>
          <a:p>
            <a:pPr>
              <a:lnSpc>
                <a:spcPts val="2108"/>
              </a:lnSpc>
              <a:spcBef>
                <a:spcPts val="0"/>
              </a:spcBef>
              <a:spcAft>
                <a:spcPts val="0"/>
              </a:spcAft>
              <a:defRPr sz="1700" b="0">
                <a:solidFill>
                  <a:srgbClr val="182F45"/>
                </a:solidFill>
                <a:latin typeface="Arial"/>
              </a:defRPr>
            </a:pPr>
            <a:r>
              <a:t>artifact digest explicitly between</a:t>
            </a:r>
          </a:p>
          <a:p>
            <a:pPr>
              <a:lnSpc>
                <a:spcPts val="2108"/>
              </a:lnSpc>
              <a:spcBef>
                <a:spcPts val="0"/>
              </a:spcBef>
              <a:spcAft>
                <a:spcPts val="0"/>
              </a:spcAft>
              <a:defRPr sz="1700" b="0">
                <a:solidFill>
                  <a:srgbClr val="182F45"/>
                </a:solidFill>
                <a:latin typeface="Arial"/>
              </a:defRPr>
            </a:pPr>
            <a:r>
              <a:t>jobs.</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PROMOTION</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Require checks and protected</a:t>
            </a:r>
          </a:p>
          <a:p>
            <a:pPr>
              <a:lnSpc>
                <a:spcPts val="2108"/>
              </a:lnSpc>
              <a:spcBef>
                <a:spcPts val="0"/>
              </a:spcBef>
              <a:spcAft>
                <a:spcPts val="0"/>
              </a:spcAft>
              <a:defRPr sz="1700" b="0">
                <a:solidFill>
                  <a:srgbClr val="182F45"/>
                </a:solidFill>
                <a:latin typeface="Arial"/>
              </a:defRPr>
            </a:pPr>
            <a:r>
              <a:t>environments. Verify policy</a:t>
            </a:r>
          </a:p>
          <a:p>
            <a:pPr>
              <a:lnSpc>
                <a:spcPts val="2108"/>
              </a:lnSpc>
              <a:spcBef>
                <a:spcPts val="0"/>
              </a:spcBef>
              <a:spcAft>
                <a:spcPts val="0"/>
              </a:spcAft>
              <a:defRPr sz="1700" b="0">
                <a:solidFill>
                  <a:srgbClr val="182F45"/>
                </a:solidFill>
                <a:latin typeface="Arial"/>
              </a:defRPr>
            </a:pPr>
            <a:r>
              <a:t>before production deployment.</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A copied YAML file is an integration starting point, not proof of enforcement.</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Project guidance • examples are illustrative</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44 / 57</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06 PROJECT PRACTICE</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Corrections made during this review</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Changes address misleading pass results and inconsistent scope.</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SCAN WRAPPERS</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Explicit configuration, blocking</a:t>
            </a:r>
          </a:p>
          <a:p>
            <a:pPr>
              <a:lnSpc>
                <a:spcPts val="2108"/>
              </a:lnSpc>
              <a:spcBef>
                <a:spcPts val="0"/>
              </a:spcBef>
              <a:spcAft>
                <a:spcPts val="0"/>
              </a:spcAft>
              <a:defRPr sz="1700" b="0">
                <a:solidFill>
                  <a:srgbClr val="182F45"/>
                </a:solidFill>
                <a:latin typeface="Arial"/>
              </a:defRPr>
            </a:pPr>
            <a:r>
              <a:t>exit behavior, worktree secret</a:t>
            </a:r>
          </a:p>
          <a:p>
            <a:pPr>
              <a:lnSpc>
                <a:spcPts val="2108"/>
              </a:lnSpc>
              <a:spcBef>
                <a:spcPts val="0"/>
              </a:spcBef>
              <a:spcAft>
                <a:spcPts val="0"/>
              </a:spcAft>
              <a:defRPr sz="1700" b="0">
                <a:solidFill>
                  <a:srgbClr val="182F45"/>
                </a:solidFill>
                <a:latin typeface="Arial"/>
              </a:defRPr>
            </a:pPr>
            <a:r>
              <a:t>coverage and digest validation.</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PIPELINES</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Removed ignored scan failures.</a:t>
            </a:r>
          </a:p>
          <a:p>
            <a:pPr>
              <a:lnSpc>
                <a:spcPts val="2108"/>
              </a:lnSpc>
              <a:spcBef>
                <a:spcPts val="0"/>
              </a:spcBef>
              <a:spcAft>
                <a:spcPts val="0"/>
              </a:spcAft>
              <a:defRPr sz="1700" b="0">
                <a:solidFill>
                  <a:srgbClr val="182F45"/>
                </a:solidFill>
                <a:latin typeface="Arial"/>
              </a:defRPr>
            </a:pPr>
            <a:r>
              <a:t>Fixed chained command failure</a:t>
            </a:r>
          </a:p>
          <a:p>
            <a:pPr>
              <a:lnSpc>
                <a:spcPts val="2108"/>
              </a:lnSpc>
              <a:spcBef>
                <a:spcPts val="0"/>
              </a:spcBef>
              <a:spcAft>
                <a:spcPts val="0"/>
              </a:spcAft>
              <a:defRPr sz="1700" b="0">
                <a:solidFill>
                  <a:srgbClr val="182F45"/>
                </a:solidFill>
                <a:latin typeface="Arial"/>
              </a:defRPr>
            </a:pPr>
            <a:r>
              <a:t>handling. Added clearer</a:t>
            </a:r>
          </a:p>
          <a:p>
            <a:pPr>
              <a:lnSpc>
                <a:spcPts val="2108"/>
              </a:lnSpc>
              <a:spcBef>
                <a:spcPts val="0"/>
              </a:spcBef>
              <a:spcAft>
                <a:spcPts val="0"/>
              </a:spcAft>
              <a:defRPr sz="1700" b="0">
                <a:solidFill>
                  <a:srgbClr val="182F45"/>
                </a:solidFill>
                <a:latin typeface="Arial"/>
              </a:defRPr>
            </a:pPr>
            <a:r>
              <a:t>prerequisite and evidence</a:t>
            </a:r>
          </a:p>
          <a:p>
            <a:pPr>
              <a:lnSpc>
                <a:spcPts val="2108"/>
              </a:lnSpc>
              <a:spcBef>
                <a:spcPts val="0"/>
              </a:spcBef>
              <a:spcAft>
                <a:spcPts val="0"/>
              </a:spcAft>
              <a:defRPr sz="1700" b="0">
                <a:solidFill>
                  <a:srgbClr val="182F45"/>
                </a:solidFill>
                <a:latin typeface="Arial"/>
              </a:defRPr>
            </a:pPr>
            <a:r>
              <a:t>guidance.</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LEARNING MATERIAL</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Rebuilt flow, expanded</a:t>
            </a:r>
          </a:p>
          <a:p>
            <a:pPr>
              <a:lnSpc>
                <a:spcPts val="2108"/>
              </a:lnSpc>
              <a:spcBef>
                <a:spcPts val="0"/>
              </a:spcBef>
              <a:spcAft>
                <a:spcPts val="0"/>
              </a:spcAft>
              <a:defRPr sz="1700" b="0">
                <a:solidFill>
                  <a:srgbClr val="182F45"/>
                </a:solidFill>
                <a:latin typeface="Arial"/>
              </a:defRPr>
            </a:pPr>
            <a:r>
              <a:t>terminology, explained</a:t>
            </a:r>
          </a:p>
          <a:p>
            <a:pPr>
              <a:lnSpc>
                <a:spcPts val="2108"/>
              </a:lnSpc>
              <a:spcBef>
                <a:spcPts val="0"/>
              </a:spcBef>
              <a:spcAft>
                <a:spcPts val="0"/>
              </a:spcAft>
              <a:defRPr sz="1700" b="0">
                <a:solidFill>
                  <a:srgbClr val="182F45"/>
                </a:solidFill>
                <a:latin typeface="Arial"/>
              </a:defRPr>
            </a:pPr>
            <a:r>
              <a:t>comparison data and separated</a:t>
            </a:r>
          </a:p>
          <a:p>
            <a:pPr>
              <a:lnSpc>
                <a:spcPts val="2108"/>
              </a:lnSpc>
              <a:spcBef>
                <a:spcPts val="0"/>
              </a:spcBef>
              <a:spcAft>
                <a:spcPts val="0"/>
              </a:spcAft>
              <a:defRPr sz="1700" b="0">
                <a:solidFill>
                  <a:srgbClr val="182F45"/>
                </a:solidFill>
                <a:latin typeface="Arial"/>
              </a:defRPr>
            </a:pPr>
            <a:r>
              <a:t>implementation from target</a:t>
            </a:r>
          </a:p>
          <a:p>
            <a:pPr>
              <a:lnSpc>
                <a:spcPts val="2108"/>
              </a:lnSpc>
              <a:spcBef>
                <a:spcPts val="0"/>
              </a:spcBef>
              <a:spcAft>
                <a:spcPts val="0"/>
              </a:spcAft>
              <a:defRPr sz="1700" b="0">
                <a:solidFill>
                  <a:srgbClr val="182F45"/>
                </a:solidFill>
                <a:latin typeface="Arial"/>
              </a:defRPr>
            </a:pPr>
            <a:r>
              <a:t>design.</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See docs/PROJECT_REVIEW.md for the issue list, changes and remaining integration work.</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Project guidance • examples are illustrative</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45 / 57</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06 PROJECT PRACTICE</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Troubleshooting by symptom</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Resolve missing evidence before interpreting security results.</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TOOL NOT FOUND</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Check PATH and runner</a:t>
            </a:r>
          </a:p>
          <a:p>
            <a:pPr>
              <a:lnSpc>
                <a:spcPts val="2108"/>
              </a:lnSpc>
              <a:spcBef>
                <a:spcPts val="0"/>
              </a:spcBef>
              <a:spcAft>
                <a:spcPts val="0"/>
              </a:spcAft>
              <a:defRPr sz="1700" b="0">
                <a:solidFill>
                  <a:srgbClr val="182F45"/>
                </a:solidFill>
                <a:latin typeface="Arial"/>
              </a:defRPr>
            </a:pPr>
            <a:r>
              <a:t>provisioning. Preflight or the</a:t>
            </a:r>
          </a:p>
          <a:p>
            <a:pPr>
              <a:lnSpc>
                <a:spcPts val="2108"/>
              </a:lnSpc>
              <a:spcBef>
                <a:spcPts val="0"/>
              </a:spcBef>
              <a:spcAft>
                <a:spcPts val="0"/>
              </a:spcAft>
              <a:defRPr sz="1700" b="0">
                <a:solidFill>
                  <a:srgbClr val="182F45"/>
                </a:solidFill>
                <a:latin typeface="Arial"/>
              </a:defRPr>
            </a:pPr>
            <a:r>
              <a:t>wrapper should fail instead of</a:t>
            </a:r>
          </a:p>
          <a:p>
            <a:pPr>
              <a:lnSpc>
                <a:spcPts val="2108"/>
              </a:lnSpc>
              <a:spcBef>
                <a:spcPts val="0"/>
              </a:spcBef>
              <a:spcAft>
                <a:spcPts val="0"/>
              </a:spcAft>
              <a:defRPr sz="1700" b="0">
                <a:solidFill>
                  <a:srgbClr val="182F45"/>
                </a:solidFill>
                <a:latin typeface="Arial"/>
              </a:defRPr>
            </a:pPr>
            <a:r>
              <a:t>silently skipping.</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DB DOWNLOAD FAILS</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Check network, proxy, rate limits,</a:t>
            </a:r>
          </a:p>
          <a:p>
            <a:pPr>
              <a:lnSpc>
                <a:spcPts val="2108"/>
              </a:lnSpc>
              <a:spcBef>
                <a:spcPts val="0"/>
              </a:spcBef>
              <a:spcAft>
                <a:spcPts val="0"/>
              </a:spcAft>
              <a:defRPr sz="1700" b="0">
                <a:solidFill>
                  <a:srgbClr val="182F45"/>
                </a:solidFill>
                <a:latin typeface="Arial"/>
              </a:defRPr>
            </a:pPr>
            <a:r>
              <a:t>credentials and supported cache</a:t>
            </a:r>
          </a:p>
          <a:p>
            <a:pPr>
              <a:lnSpc>
                <a:spcPts val="2108"/>
              </a:lnSpc>
              <a:spcBef>
                <a:spcPts val="0"/>
              </a:spcBef>
              <a:spcAft>
                <a:spcPts val="0"/>
              </a:spcAft>
              <a:defRPr sz="1700" b="0">
                <a:solidFill>
                  <a:srgbClr val="182F45"/>
                </a:solidFill>
                <a:latin typeface="Arial"/>
              </a:defRPr>
            </a:pPr>
            <a:r>
              <a:t>format. Review the last</a:t>
            </a:r>
          </a:p>
          <a:p>
            <a:pPr>
              <a:lnSpc>
                <a:spcPts val="2108"/>
              </a:lnSpc>
              <a:spcBef>
                <a:spcPts val="0"/>
              </a:spcBef>
              <a:spcAft>
                <a:spcPts val="0"/>
              </a:spcAft>
              <a:defRPr sz="1700" b="0">
                <a:solidFill>
                  <a:srgbClr val="182F45"/>
                </a:solidFill>
                <a:latin typeface="Arial"/>
              </a:defRPr>
            </a:pPr>
            <a:r>
              <a:t>successful update.</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ZERO FINDINGS</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Check recognized files,</a:t>
            </a:r>
          </a:p>
          <a:p>
            <a:pPr>
              <a:lnSpc>
                <a:spcPts val="2108"/>
              </a:lnSpc>
              <a:spcBef>
                <a:spcPts val="0"/>
              </a:spcBef>
              <a:spcAft>
                <a:spcPts val="0"/>
              </a:spcAft>
              <a:defRPr sz="1700" b="0">
                <a:solidFill>
                  <a:srgbClr val="182F45"/>
                </a:solidFill>
                <a:latin typeface="Arial"/>
              </a:defRPr>
            </a:pPr>
            <a:r>
              <a:t>packages, rules, exclusions and</a:t>
            </a:r>
          </a:p>
          <a:p>
            <a:pPr>
              <a:lnSpc>
                <a:spcPts val="2108"/>
              </a:lnSpc>
              <a:spcBef>
                <a:spcPts val="0"/>
              </a:spcBef>
              <a:spcAft>
                <a:spcPts val="0"/>
              </a:spcAft>
              <a:defRPr sz="1700" b="0">
                <a:solidFill>
                  <a:srgbClr val="182F45"/>
                </a:solidFill>
                <a:latin typeface="Arial"/>
              </a:defRPr>
            </a:pPr>
            <a:r>
              <a:t>authenticated routes before</a:t>
            </a:r>
          </a:p>
          <a:p>
            <a:pPr>
              <a:lnSpc>
                <a:spcPts val="2108"/>
              </a:lnSpc>
              <a:spcBef>
                <a:spcPts val="0"/>
              </a:spcBef>
              <a:spcAft>
                <a:spcPts val="0"/>
              </a:spcAft>
              <a:defRPr sz="1700" b="0">
                <a:solidFill>
                  <a:srgbClr val="182F45"/>
                </a:solidFill>
                <a:latin typeface="Arial"/>
              </a:defRPr>
            </a:pPr>
            <a:r>
              <a:t>calling it clean.</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“The tool ran” and “the intended scope was assessed” are separate checks.</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Project guidance • examples are illustrative</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46 / 57</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07 OPERATIONS</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After release: a new CVE changes the answer</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The artifact is unchanged; the available knowledge has changed.</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DETECT</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A new advisory or KEV entry</a:t>
            </a:r>
          </a:p>
          <a:p>
            <a:pPr>
              <a:lnSpc>
                <a:spcPts val="2108"/>
              </a:lnSpc>
              <a:spcBef>
                <a:spcPts val="0"/>
              </a:spcBef>
              <a:spcAft>
                <a:spcPts val="0"/>
              </a:spcAft>
              <a:defRPr sz="1700" b="0">
                <a:solidFill>
                  <a:srgbClr val="182F45"/>
                </a:solidFill>
                <a:latin typeface="Arial"/>
              </a:defRPr>
            </a:pPr>
            <a:r>
              <a:t>arrives. Search inventories and</a:t>
            </a:r>
          </a:p>
          <a:p>
            <a:pPr>
              <a:lnSpc>
                <a:spcPts val="2108"/>
              </a:lnSpc>
              <a:spcBef>
                <a:spcPts val="0"/>
              </a:spcBef>
              <a:spcAft>
                <a:spcPts val="0"/>
              </a:spcAft>
              <a:defRPr sz="1700" b="0">
                <a:solidFill>
                  <a:srgbClr val="182F45"/>
                </a:solidFill>
                <a:latin typeface="Arial"/>
              </a:defRPr>
            </a:pPr>
            <a:r>
              <a:t>rescan affected supported</a:t>
            </a:r>
          </a:p>
          <a:p>
            <a:pPr>
              <a:lnSpc>
                <a:spcPts val="2108"/>
              </a:lnSpc>
              <a:spcBef>
                <a:spcPts val="0"/>
              </a:spcBef>
              <a:spcAft>
                <a:spcPts val="0"/>
              </a:spcAft>
              <a:defRPr sz="1700" b="0">
                <a:solidFill>
                  <a:srgbClr val="182F45"/>
                </a:solidFill>
                <a:latin typeface="Arial"/>
              </a:defRPr>
            </a:pPr>
            <a:r>
              <a:t>artifacts.</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RESPOND</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Confirm applicability and</a:t>
            </a:r>
          </a:p>
          <a:p>
            <a:pPr>
              <a:lnSpc>
                <a:spcPts val="2108"/>
              </a:lnSpc>
              <a:spcBef>
                <a:spcPts val="0"/>
              </a:spcBef>
              <a:spcAft>
                <a:spcPts val="0"/>
              </a:spcAft>
              <a:defRPr sz="1700" b="0">
                <a:solidFill>
                  <a:srgbClr val="182F45"/>
                </a:solidFill>
                <a:latin typeface="Arial"/>
              </a:defRPr>
            </a:pPr>
            <a:r>
              <a:t>exposure. Assign an owner, fix</a:t>
            </a:r>
          </a:p>
          <a:p>
            <a:pPr>
              <a:lnSpc>
                <a:spcPts val="2108"/>
              </a:lnSpc>
              <a:spcBef>
                <a:spcPts val="0"/>
              </a:spcBef>
              <a:spcAft>
                <a:spcPts val="0"/>
              </a:spcAft>
              <a:defRPr sz="1700" b="0">
                <a:solidFill>
                  <a:srgbClr val="182F45"/>
                </a:solidFill>
                <a:latin typeface="Arial"/>
              </a:defRPr>
            </a:pPr>
            <a:r>
              <a:t>or mitigate, and set a response</a:t>
            </a:r>
          </a:p>
          <a:p>
            <a:pPr>
              <a:lnSpc>
                <a:spcPts val="2108"/>
              </a:lnSpc>
              <a:spcBef>
                <a:spcPts val="0"/>
              </a:spcBef>
              <a:spcAft>
                <a:spcPts val="0"/>
              </a:spcAft>
              <a:defRPr sz="1700" b="0">
                <a:solidFill>
                  <a:srgbClr val="182F45"/>
                </a:solidFill>
                <a:latin typeface="Arial"/>
              </a:defRPr>
            </a:pPr>
            <a:r>
              <a:t>deadline.</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RELEASE AGAIN</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Rebuild from controlled inputs,</a:t>
            </a:r>
          </a:p>
          <a:p>
            <a:pPr>
              <a:lnSpc>
                <a:spcPts val="2108"/>
              </a:lnSpc>
              <a:spcBef>
                <a:spcPts val="0"/>
              </a:spcBef>
              <a:spcAft>
                <a:spcPts val="0"/>
              </a:spcAft>
              <a:defRPr sz="1700" b="0">
                <a:solidFill>
                  <a:srgbClr val="182F45"/>
                </a:solidFill>
                <a:latin typeface="Arial"/>
              </a:defRPr>
            </a:pPr>
            <a:r>
              <a:t>repeat the affected checks,</a:t>
            </a:r>
          </a:p>
          <a:p>
            <a:pPr>
              <a:lnSpc>
                <a:spcPts val="2108"/>
              </a:lnSpc>
              <a:spcBef>
                <a:spcPts val="0"/>
              </a:spcBef>
              <a:spcAft>
                <a:spcPts val="0"/>
              </a:spcAft>
              <a:defRPr sz="1700" b="0">
                <a:solidFill>
                  <a:srgbClr val="182F45"/>
                </a:solidFill>
                <a:latin typeface="Arial"/>
              </a:defRPr>
            </a:pPr>
            <a:r>
              <a:t>deploy and verify the new digest.</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A security result expires as the artifact, environment or intelligence changes.</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Project guidance • examples are illustrative</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47 / 57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07 OPERATIONS</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Standards guide outcomes and assurance</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This architecture is a reference; its exact sequence is not universally mandated.</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NIST SSDF</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Secure Software Development</a:t>
            </a:r>
          </a:p>
          <a:p>
            <a:pPr>
              <a:lnSpc>
                <a:spcPts val="2108"/>
              </a:lnSpc>
              <a:spcBef>
                <a:spcPts val="0"/>
              </a:spcBef>
              <a:spcAft>
                <a:spcPts val="0"/>
              </a:spcAft>
              <a:defRPr sz="1700" b="0">
                <a:solidFill>
                  <a:srgbClr val="182F45"/>
                </a:solidFill>
                <a:latin typeface="Arial"/>
              </a:defRPr>
            </a:pPr>
            <a:r>
              <a:t>Framework: organizational</a:t>
            </a:r>
          </a:p>
          <a:p>
            <a:pPr>
              <a:lnSpc>
                <a:spcPts val="2108"/>
              </a:lnSpc>
              <a:spcBef>
                <a:spcPts val="0"/>
              </a:spcBef>
              <a:spcAft>
                <a:spcPts val="0"/>
              </a:spcAft>
              <a:defRPr sz="1700" b="0">
                <a:solidFill>
                  <a:srgbClr val="182F45"/>
                </a:solidFill>
                <a:latin typeface="Arial"/>
              </a:defRPr>
            </a:pPr>
            <a:r>
              <a:t>practices for preparing,</a:t>
            </a:r>
          </a:p>
          <a:p>
            <a:pPr>
              <a:lnSpc>
                <a:spcPts val="2108"/>
              </a:lnSpc>
              <a:spcBef>
                <a:spcPts val="0"/>
              </a:spcBef>
              <a:spcAft>
                <a:spcPts val="0"/>
              </a:spcAft>
              <a:defRPr sz="1700" b="0">
                <a:solidFill>
                  <a:srgbClr val="182F45"/>
                </a:solidFill>
                <a:latin typeface="Arial"/>
              </a:defRPr>
            </a:pPr>
            <a:r>
              <a:t>protecting, producing and</a:t>
            </a:r>
          </a:p>
          <a:p>
            <a:pPr>
              <a:lnSpc>
                <a:spcPts val="2108"/>
              </a:lnSpc>
              <a:spcBef>
                <a:spcPts val="0"/>
              </a:spcBef>
              <a:spcAft>
                <a:spcPts val="0"/>
              </a:spcAft>
              <a:defRPr sz="1700" b="0">
                <a:solidFill>
                  <a:srgbClr val="182F45"/>
                </a:solidFill>
                <a:latin typeface="Arial"/>
              </a:defRPr>
            </a:pPr>
            <a:r>
              <a:t>responding.</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OWASP</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Open Worldwide Application</a:t>
            </a:r>
          </a:p>
          <a:p>
            <a:pPr>
              <a:lnSpc>
                <a:spcPts val="2108"/>
              </a:lnSpc>
              <a:spcBef>
                <a:spcPts val="0"/>
              </a:spcBef>
              <a:spcAft>
                <a:spcPts val="0"/>
              </a:spcAft>
              <a:defRPr sz="1700" b="0">
                <a:solidFill>
                  <a:srgbClr val="182F45"/>
                </a:solidFill>
                <a:latin typeface="Arial"/>
              </a:defRPr>
            </a:pPr>
            <a:r>
              <a:t>Security Project: application</a:t>
            </a:r>
          </a:p>
          <a:p>
            <a:pPr>
              <a:lnSpc>
                <a:spcPts val="2108"/>
              </a:lnSpc>
              <a:spcBef>
                <a:spcPts val="0"/>
              </a:spcBef>
              <a:spcAft>
                <a:spcPts val="0"/>
              </a:spcAft>
              <a:defRPr sz="1700" b="0">
                <a:solidFill>
                  <a:srgbClr val="182F45"/>
                </a:solidFill>
                <a:latin typeface="Arial"/>
              </a:defRPr>
            </a:pPr>
            <a:r>
              <a:t>requirements, verification</a:t>
            </a:r>
          </a:p>
          <a:p>
            <a:pPr>
              <a:lnSpc>
                <a:spcPts val="2108"/>
              </a:lnSpc>
              <a:spcBef>
                <a:spcPts val="0"/>
              </a:spcBef>
              <a:spcAft>
                <a:spcPts val="0"/>
              </a:spcAft>
              <a:defRPr sz="1700" b="0">
                <a:solidFill>
                  <a:srgbClr val="182F45"/>
                </a:solidFill>
                <a:latin typeface="Arial"/>
              </a:defRPr>
            </a:pPr>
            <a:r>
              <a:t>guidance and maturity</a:t>
            </a:r>
          </a:p>
          <a:p>
            <a:pPr>
              <a:lnSpc>
                <a:spcPts val="2108"/>
              </a:lnSpc>
              <a:spcBef>
                <a:spcPts val="0"/>
              </a:spcBef>
              <a:spcAft>
                <a:spcPts val="0"/>
              </a:spcAft>
              <a:defRPr sz="1700" b="0">
                <a:solidFill>
                  <a:srgbClr val="182F45"/>
                </a:solidFill>
                <a:latin typeface="Arial"/>
              </a:defRPr>
            </a:pPr>
            <a:r>
              <a:t>resources.</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SLSA</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Supply-chain Levels for Software</a:t>
            </a:r>
          </a:p>
          <a:p>
            <a:pPr>
              <a:lnSpc>
                <a:spcPts val="2108"/>
              </a:lnSpc>
              <a:spcBef>
                <a:spcPts val="0"/>
              </a:spcBef>
              <a:spcAft>
                <a:spcPts val="0"/>
              </a:spcAft>
              <a:defRPr sz="1700" b="0">
                <a:solidFill>
                  <a:srgbClr val="182F45"/>
                </a:solidFill>
                <a:latin typeface="Arial"/>
              </a:defRPr>
            </a:pPr>
            <a:r>
              <a:t>Artifacts: requirements and</a:t>
            </a:r>
          </a:p>
          <a:p>
            <a:pPr>
              <a:lnSpc>
                <a:spcPts val="2108"/>
              </a:lnSpc>
              <a:spcBef>
                <a:spcPts val="0"/>
              </a:spcBef>
              <a:spcAft>
                <a:spcPts val="0"/>
              </a:spcAft>
              <a:defRPr sz="1700" b="0">
                <a:solidFill>
                  <a:srgbClr val="182F45"/>
                </a:solidFill>
                <a:latin typeface="Arial"/>
              </a:defRPr>
            </a:pPr>
            <a:r>
              <a:t>assurance concepts for source</a:t>
            </a:r>
          </a:p>
          <a:p>
            <a:pPr>
              <a:lnSpc>
                <a:spcPts val="2108"/>
              </a:lnSpc>
              <a:spcBef>
                <a:spcPts val="0"/>
              </a:spcBef>
              <a:spcAft>
                <a:spcPts val="0"/>
              </a:spcAft>
              <a:defRPr sz="1700" b="0">
                <a:solidFill>
                  <a:srgbClr val="182F45"/>
                </a:solidFill>
                <a:latin typeface="Arial"/>
              </a:defRPr>
            </a:pPr>
            <a:r>
              <a:t>and build integrity.</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Use named versions and evidence-based mappings; avoid unsupported compliance claims.</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Sources in notes: ssdf, slsa</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48 / 57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07 OPERATIONS</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Adopt in small, verifiable increments</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Suggested engineering sequence; adapt it to application risk.</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FOUNDATION</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Protect source, provision tools,</a:t>
            </a:r>
          </a:p>
          <a:p>
            <a:pPr>
              <a:lnSpc>
                <a:spcPts val="2108"/>
              </a:lnSpc>
              <a:spcBef>
                <a:spcPts val="0"/>
              </a:spcBef>
              <a:spcAft>
                <a:spcPts val="0"/>
              </a:spcAft>
              <a:defRPr sz="1700" b="0">
                <a:solidFill>
                  <a:srgbClr val="182F45"/>
                </a:solidFill>
                <a:latin typeface="Arial"/>
              </a:defRPr>
            </a:pPr>
            <a:r>
              <a:t>run tests and enforce a small set</a:t>
            </a:r>
          </a:p>
          <a:p>
            <a:pPr>
              <a:lnSpc>
                <a:spcPts val="2108"/>
              </a:lnSpc>
              <a:spcBef>
                <a:spcPts val="0"/>
              </a:spcBef>
              <a:spcAft>
                <a:spcPts val="0"/>
              </a:spcAft>
              <a:defRPr sz="1700" b="0">
                <a:solidFill>
                  <a:srgbClr val="182F45"/>
                </a:solidFill>
                <a:latin typeface="Arial"/>
              </a:defRPr>
            </a:pPr>
            <a:r>
              <a:t>of high-signal source checks.</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ARTIFACT TRUST</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Scan the deliverable, generate</a:t>
            </a:r>
          </a:p>
          <a:p>
            <a:pPr>
              <a:lnSpc>
                <a:spcPts val="2108"/>
              </a:lnSpc>
              <a:spcBef>
                <a:spcPts val="0"/>
              </a:spcBef>
              <a:spcAft>
                <a:spcPts val="0"/>
              </a:spcAft>
              <a:defRPr sz="1700" b="0">
                <a:solidFill>
                  <a:srgbClr val="182F45"/>
                </a:solidFill>
                <a:latin typeface="Arial"/>
              </a:defRPr>
            </a:pPr>
            <a:r>
              <a:t>inventory, verify signing and</a:t>
            </a:r>
          </a:p>
          <a:p>
            <a:pPr>
              <a:lnSpc>
                <a:spcPts val="2108"/>
              </a:lnSpc>
              <a:spcBef>
                <a:spcPts val="0"/>
              </a:spcBef>
              <a:spcAft>
                <a:spcPts val="0"/>
              </a:spcAft>
              <a:defRPr sz="1700" b="0">
                <a:solidFill>
                  <a:srgbClr val="182F45"/>
                </a:solidFill>
                <a:latin typeface="Arial"/>
              </a:defRPr>
            </a:pPr>
            <a:r>
              <a:t>preserve the same digest</a:t>
            </a:r>
          </a:p>
          <a:p>
            <a:pPr>
              <a:lnSpc>
                <a:spcPts val="2108"/>
              </a:lnSpc>
              <a:spcBef>
                <a:spcPts val="0"/>
              </a:spcBef>
              <a:spcAft>
                <a:spcPts val="0"/>
              </a:spcAft>
              <a:defRPr sz="1700" b="0">
                <a:solidFill>
                  <a:srgbClr val="182F45"/>
                </a:solidFill>
                <a:latin typeface="Arial"/>
              </a:defRPr>
            </a:pPr>
            <a:r>
              <a:t>through staging.</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OPERATIONS</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Add authenticated behavior</a:t>
            </a:r>
          </a:p>
          <a:p>
            <a:pPr>
              <a:lnSpc>
                <a:spcPts val="2108"/>
              </a:lnSpc>
              <a:spcBef>
                <a:spcPts val="0"/>
              </a:spcBef>
              <a:spcAft>
                <a:spcPts val="0"/>
              </a:spcAft>
              <a:defRPr sz="1700" b="0">
                <a:solidFill>
                  <a:srgbClr val="182F45"/>
                </a:solidFill>
                <a:latin typeface="Arial"/>
              </a:defRPr>
            </a:pPr>
            <a:r>
              <a:t>tests, trusted release evidence,</a:t>
            </a:r>
          </a:p>
          <a:p>
            <a:pPr>
              <a:lnSpc>
                <a:spcPts val="2108"/>
              </a:lnSpc>
              <a:spcBef>
                <a:spcPts val="0"/>
              </a:spcBef>
              <a:spcAft>
                <a:spcPts val="0"/>
              </a:spcAft>
              <a:defRPr sz="1700" b="0">
                <a:solidFill>
                  <a:srgbClr val="182F45"/>
                </a:solidFill>
                <a:latin typeface="Arial"/>
              </a:defRPr>
            </a:pPr>
            <a:r>
              <a:t>admission controls and recurring</a:t>
            </a:r>
          </a:p>
          <a:p>
            <a:pPr>
              <a:lnSpc>
                <a:spcPts val="2108"/>
              </a:lnSpc>
              <a:spcBef>
                <a:spcPts val="0"/>
              </a:spcBef>
              <a:spcAft>
                <a:spcPts val="0"/>
              </a:spcAft>
              <a:defRPr sz="1700" b="0">
                <a:solidFill>
                  <a:srgbClr val="182F45"/>
                </a:solidFill>
                <a:latin typeface="Arial"/>
              </a:defRPr>
            </a:pPr>
            <a:r>
              <a:t>response.</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One reliable, owned control is more useful than several unverified report generators.</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Project guidance • examples are illustrative</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49 / 57</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08 REVIEW</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Check your understanding</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Try answering before opening the explanations in the notes.</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QUESTION 1</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Why can a new CVE appear in</a:t>
            </a:r>
          </a:p>
          <a:p>
            <a:pPr>
              <a:lnSpc>
                <a:spcPts val="2108"/>
              </a:lnSpc>
              <a:spcBef>
                <a:spcPts val="0"/>
              </a:spcBef>
              <a:spcAft>
                <a:spcPts val="0"/>
              </a:spcAft>
              <a:defRPr sz="1700" b="0">
                <a:solidFill>
                  <a:srgbClr val="182F45"/>
                </a:solidFill>
                <a:latin typeface="Arial"/>
              </a:defRPr>
            </a:pPr>
            <a:r>
              <a:t>an image that has not changed?</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QUESTION 2</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Why does a clean ZAP baseline</a:t>
            </a:r>
          </a:p>
          <a:p>
            <a:pPr>
              <a:lnSpc>
                <a:spcPts val="2108"/>
              </a:lnSpc>
              <a:spcBef>
                <a:spcPts val="0"/>
              </a:spcBef>
              <a:spcAft>
                <a:spcPts val="0"/>
              </a:spcAft>
              <a:defRPr sz="1700" b="0">
                <a:solidFill>
                  <a:srgbClr val="182F45"/>
                </a:solidFill>
                <a:latin typeface="Arial"/>
              </a:defRPr>
            </a:pPr>
            <a:r>
              <a:t>not prove that customer</a:t>
            </a:r>
          </a:p>
          <a:p>
            <a:pPr>
              <a:lnSpc>
                <a:spcPts val="2108"/>
              </a:lnSpc>
              <a:spcBef>
                <a:spcPts val="0"/>
              </a:spcBef>
              <a:spcAft>
                <a:spcPts val="0"/>
              </a:spcAft>
              <a:defRPr sz="1700" b="0">
                <a:solidFill>
                  <a:srgbClr val="182F45"/>
                </a:solidFill>
                <a:latin typeface="Arial"/>
              </a:defRPr>
            </a:pPr>
            <a:r>
              <a:t>authorization is correct?</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QUESTION 3</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Why must release verification</a:t>
            </a:r>
          </a:p>
          <a:p>
            <a:pPr>
              <a:lnSpc>
                <a:spcPts val="2108"/>
              </a:lnSpc>
              <a:spcBef>
                <a:spcPts val="0"/>
              </a:spcBef>
              <a:spcAft>
                <a:spcPts val="0"/>
              </a:spcAft>
              <a:defRPr sz="1700" b="0">
                <a:solidFill>
                  <a:srgbClr val="182F45"/>
                </a:solidFill>
                <a:latin typeface="Arial"/>
              </a:defRPr>
            </a:pPr>
            <a:r>
              <a:t>reject a report about the wrong</a:t>
            </a:r>
          </a:p>
          <a:p>
            <a:pPr>
              <a:lnSpc>
                <a:spcPts val="2108"/>
              </a:lnSpc>
              <a:spcBef>
                <a:spcPts val="0"/>
              </a:spcBef>
              <a:spcAft>
                <a:spcPts val="0"/>
              </a:spcAft>
              <a:defRPr sz="1700" b="0">
                <a:solidFill>
                  <a:srgbClr val="182F45"/>
                </a:solidFill>
                <a:latin typeface="Arial"/>
              </a:defRPr>
            </a:pPr>
            <a:r>
              <a:t>digest?</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If you can explain the evidence behind a decision, you understand the pipeline.</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Project guidance • examples are illustrative</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50 / 57</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08 REVIEW</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What a defensible release can explain</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Five questions connect the entire course.</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WHAT CHANGED?</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Identify reviewed source,</a:t>
            </a:r>
          </a:p>
          <a:p>
            <a:pPr>
              <a:lnSpc>
                <a:spcPts val="2108"/>
              </a:lnSpc>
              <a:spcBef>
                <a:spcPts val="0"/>
              </a:spcBef>
              <a:spcAft>
                <a:spcPts val="0"/>
              </a:spcAft>
              <a:defRPr sz="1700" b="0">
                <a:solidFill>
                  <a:srgbClr val="182F45"/>
                </a:solidFill>
                <a:latin typeface="Arial"/>
              </a:defRPr>
            </a:pPr>
            <a:r>
              <a:t>dependencies and build inputs.</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WHAT WAS CHECKED?</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Show the scope, outcomes,</a:t>
            </a:r>
          </a:p>
          <a:p>
            <a:pPr>
              <a:lnSpc>
                <a:spcPts val="2108"/>
              </a:lnSpc>
              <a:spcBef>
                <a:spcPts val="0"/>
              </a:spcBef>
              <a:spcAft>
                <a:spcPts val="0"/>
              </a:spcAft>
              <a:defRPr sz="1700" b="0">
                <a:solidFill>
                  <a:srgbClr val="182F45"/>
                </a:solidFill>
                <a:latin typeface="Arial"/>
              </a:defRPr>
            </a:pPr>
            <a:r>
              <a:t>tool/rule/data versions and</a:t>
            </a:r>
          </a:p>
          <a:p>
            <a:pPr>
              <a:lnSpc>
                <a:spcPts val="2108"/>
              </a:lnSpc>
              <a:spcBef>
                <a:spcPts val="0"/>
              </a:spcBef>
              <a:spcAft>
                <a:spcPts val="0"/>
              </a:spcAft>
              <a:defRPr sz="1700" b="0">
                <a:solidFill>
                  <a:srgbClr val="182F45"/>
                </a:solidFill>
                <a:latin typeface="Arial"/>
              </a:defRPr>
            </a:pPr>
            <a:r>
              <a:t>remaining uncertainty.</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WHAT WAS RELEASED?</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Show the approved digest,</a:t>
            </a:r>
          </a:p>
          <a:p>
            <a:pPr>
              <a:lnSpc>
                <a:spcPts val="2108"/>
              </a:lnSpc>
              <a:spcBef>
                <a:spcPts val="0"/>
              </a:spcBef>
              <a:spcAft>
                <a:spcPts val="0"/>
              </a:spcAft>
              <a:defRPr sz="1700" b="0">
                <a:solidFill>
                  <a:srgbClr val="182F45"/>
                </a:solidFill>
                <a:latin typeface="Arial"/>
              </a:defRPr>
            </a:pPr>
            <a:r>
              <a:t>trusted origin, policy decision</a:t>
            </a:r>
          </a:p>
          <a:p>
            <a:pPr>
              <a:lnSpc>
                <a:spcPts val="2108"/>
              </a:lnSpc>
              <a:spcBef>
                <a:spcPts val="0"/>
              </a:spcBef>
              <a:spcAft>
                <a:spcPts val="0"/>
              </a:spcAft>
              <a:defRPr sz="1700" b="0">
                <a:solidFill>
                  <a:srgbClr val="182F45"/>
                </a:solidFill>
                <a:latin typeface="Arial"/>
              </a:defRPr>
            </a:pPr>
            <a:r>
              <a:t>and production deployment</a:t>
            </a:r>
          </a:p>
          <a:p>
            <a:pPr>
              <a:lnSpc>
                <a:spcPts val="2108"/>
              </a:lnSpc>
              <a:spcBef>
                <a:spcPts val="0"/>
              </a:spcBef>
              <a:spcAft>
                <a:spcPts val="0"/>
              </a:spcAft>
              <a:defRPr sz="1700" b="0">
                <a:solidFill>
                  <a:srgbClr val="182F45"/>
                </a:solidFill>
                <a:latin typeface="Arial"/>
              </a:defRPr>
            </a:pPr>
            <a:r>
              <a:t>record.</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Reviewed source → tested artifact → verified release → continuous response.</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Project guidance • examples are illustrative</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51 / 57</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09 SOURCES</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Sources and maintenance</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Official documentation; full clickable links are in the slide notes and handbook.</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PRIMARY REFERENCES</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CVE identifier lifecycle</a:t>
            </a:r>
          </a:p>
          <a:p>
            <a:pPr>
              <a:lnSpc>
                <a:spcPts val="2108"/>
              </a:lnSpc>
              <a:spcBef>
                <a:spcPts val="0"/>
              </a:spcBef>
              <a:spcAft>
                <a:spcPts val="0"/>
              </a:spcAft>
              <a:defRPr sz="1700" b="0">
                <a:solidFill>
                  <a:srgbClr val="182F45"/>
                </a:solidFill>
                <a:latin typeface="Arial"/>
              </a:defRPr>
            </a:pPr>
          </a:p>
          <a:p>
            <a:pPr>
              <a:lnSpc>
                <a:spcPts val="2108"/>
              </a:lnSpc>
              <a:spcBef>
                <a:spcPts val="0"/>
              </a:spcBef>
              <a:spcAft>
                <a:spcPts val="0"/>
              </a:spcAft>
              <a:defRPr sz="1700" b="0">
                <a:solidFill>
                  <a:srgbClr val="182F45"/>
                </a:solidFill>
                <a:latin typeface="Arial"/>
              </a:defRPr>
            </a:pPr>
            <a:r>
              <a:t>NVD vulnerability enrichment</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PRIMARY REFERENCES</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Trivy: vulnerability matching</a:t>
            </a:r>
          </a:p>
          <a:p>
            <a:pPr>
              <a:lnSpc>
                <a:spcPts val="2108"/>
              </a:lnSpc>
              <a:spcBef>
                <a:spcPts val="0"/>
              </a:spcBef>
              <a:spcAft>
                <a:spcPts val="0"/>
              </a:spcAft>
              <a:defRPr sz="1700" b="0">
                <a:solidFill>
                  <a:srgbClr val="182F45"/>
                </a:solidFill>
                <a:latin typeface="Arial"/>
              </a:defRPr>
            </a:pPr>
          </a:p>
          <a:p>
            <a:pPr>
              <a:lnSpc>
                <a:spcPts val="2108"/>
              </a:lnSpc>
              <a:spcBef>
                <a:spcPts val="0"/>
              </a:spcBef>
              <a:spcAft>
                <a:spcPts val="0"/>
              </a:spcAft>
              <a:defRPr sz="1700" b="0">
                <a:solidFill>
                  <a:srgbClr val="182F45"/>
                </a:solidFill>
                <a:latin typeface="Arial"/>
              </a:defRPr>
            </a:pPr>
            <a:r>
              <a:t>Trivy database build and</a:t>
            </a:r>
          </a:p>
          <a:p>
            <a:pPr>
              <a:lnSpc>
                <a:spcPts val="2108"/>
              </a:lnSpc>
              <a:spcBef>
                <a:spcPts val="0"/>
              </a:spcBef>
              <a:spcAft>
                <a:spcPts val="0"/>
              </a:spcAft>
              <a:defRPr sz="1700" b="0">
                <a:solidFill>
                  <a:srgbClr val="182F45"/>
                </a:solidFill>
                <a:latin typeface="Arial"/>
              </a:defRPr>
            </a:pPr>
            <a:r>
              <a:t>metadata</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PRIMARY REFERENCES</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Trivy database publication</a:t>
            </a:r>
          </a:p>
          <a:p>
            <a:pPr>
              <a:lnSpc>
                <a:spcPts val="2108"/>
              </a:lnSpc>
              <a:spcBef>
                <a:spcPts val="0"/>
              </a:spcBef>
              <a:spcAft>
                <a:spcPts val="0"/>
              </a:spcAft>
              <a:defRPr sz="1700" b="0">
                <a:solidFill>
                  <a:srgbClr val="182F45"/>
                </a:solidFill>
                <a:latin typeface="Arial"/>
              </a:defRPr>
            </a:pPr>
            <a:r>
              <a:t>schedule</a:t>
            </a:r>
          </a:p>
          <a:p>
            <a:pPr>
              <a:lnSpc>
                <a:spcPts val="2108"/>
              </a:lnSpc>
              <a:spcBef>
                <a:spcPts val="0"/>
              </a:spcBef>
              <a:spcAft>
                <a:spcPts val="0"/>
              </a:spcAft>
              <a:defRPr sz="1700" b="0">
                <a:solidFill>
                  <a:srgbClr val="182F45"/>
                </a:solidFill>
                <a:latin typeface="Arial"/>
              </a:defRPr>
            </a:pPr>
          </a:p>
          <a:p>
            <a:pPr>
              <a:lnSpc>
                <a:spcPts val="2108"/>
              </a:lnSpc>
              <a:spcBef>
                <a:spcPts val="0"/>
              </a:spcBef>
              <a:spcAft>
                <a:spcPts val="0"/>
              </a:spcAft>
              <a:defRPr sz="1700" b="0">
                <a:solidFill>
                  <a:srgbClr val="182F45"/>
                </a:solidFill>
                <a:latin typeface="Arial"/>
              </a:defRPr>
            </a:pPr>
            <a:r>
              <a:t>Trivy Java index</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Source review date: 2026-09-16. Local configuration determines actual behavior.</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Sources in notes: cve, nvd, trivy, trivy-db, trivy-cron, java-db</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52 / 57</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09 SOURCES</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Sources and maintenance</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Official documentation; full clickable links are in the slide notes and handbook.</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PRIMARY REFERENCES</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Java index publication schedule</a:t>
            </a:r>
          </a:p>
          <a:p>
            <a:pPr>
              <a:lnSpc>
                <a:spcPts val="2108"/>
              </a:lnSpc>
              <a:spcBef>
                <a:spcPts val="0"/>
              </a:spcBef>
              <a:spcAft>
                <a:spcPts val="0"/>
              </a:spcAft>
              <a:defRPr sz="1700" b="0">
                <a:solidFill>
                  <a:srgbClr val="182F45"/>
                </a:solidFill>
                <a:latin typeface="Arial"/>
              </a:defRPr>
            </a:pPr>
          </a:p>
          <a:p>
            <a:pPr>
              <a:lnSpc>
                <a:spcPts val="2108"/>
              </a:lnSpc>
              <a:spcBef>
                <a:spcPts val="0"/>
              </a:spcBef>
              <a:spcAft>
                <a:spcPts val="0"/>
              </a:spcAft>
              <a:defRPr sz="1700" b="0">
                <a:solidFill>
                  <a:srgbClr val="182F45"/>
                </a:solidFill>
                <a:latin typeface="Arial"/>
              </a:defRPr>
            </a:pPr>
            <a:r>
              <a:t>Trivy database refresh controls</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PRIMARY REFERENCES</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Dependency-Check detection</a:t>
            </a:r>
          </a:p>
          <a:p>
            <a:pPr>
              <a:lnSpc>
                <a:spcPts val="2108"/>
              </a:lnSpc>
              <a:spcBef>
                <a:spcPts val="0"/>
              </a:spcBef>
              <a:spcAft>
                <a:spcPts val="0"/>
              </a:spcAft>
              <a:defRPr sz="1700" b="0">
                <a:solidFill>
                  <a:srgbClr val="182F45"/>
                </a:solidFill>
                <a:latin typeface="Arial"/>
              </a:defRPr>
            </a:pPr>
            <a:r>
              <a:t>model</a:t>
            </a:r>
          </a:p>
          <a:p>
            <a:pPr>
              <a:lnSpc>
                <a:spcPts val="2108"/>
              </a:lnSpc>
              <a:spcBef>
                <a:spcPts val="0"/>
              </a:spcBef>
              <a:spcAft>
                <a:spcPts val="0"/>
              </a:spcAft>
              <a:defRPr sz="1700" b="0">
                <a:solidFill>
                  <a:srgbClr val="182F45"/>
                </a:solidFill>
                <a:latin typeface="Arial"/>
              </a:defRPr>
            </a:pPr>
          </a:p>
          <a:p>
            <a:pPr>
              <a:lnSpc>
                <a:spcPts val="2108"/>
              </a:lnSpc>
              <a:spcBef>
                <a:spcPts val="0"/>
              </a:spcBef>
              <a:spcAft>
                <a:spcPts val="0"/>
              </a:spcAft>
              <a:defRPr sz="1700" b="0">
                <a:solidFill>
                  <a:srgbClr val="182F45"/>
                </a:solidFill>
                <a:latin typeface="Arial"/>
              </a:defRPr>
            </a:pPr>
            <a:r>
              <a:t>Dependency-Check update</a:t>
            </a:r>
          </a:p>
          <a:p>
            <a:pPr>
              <a:lnSpc>
                <a:spcPts val="2108"/>
              </a:lnSpc>
              <a:spcBef>
                <a:spcPts val="0"/>
              </a:spcBef>
              <a:spcAft>
                <a:spcPts val="0"/>
              </a:spcAft>
              <a:defRPr sz="1700" b="0">
                <a:solidFill>
                  <a:srgbClr val="182F45"/>
                </a:solidFill>
                <a:latin typeface="Arial"/>
              </a:defRPr>
            </a:pPr>
            <a:r>
              <a:t>options</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PRIMARY REFERENCES</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Gitleaks detection and</a:t>
            </a:r>
          </a:p>
          <a:p>
            <a:pPr>
              <a:lnSpc>
                <a:spcPts val="2108"/>
              </a:lnSpc>
              <a:spcBef>
                <a:spcPts val="0"/>
              </a:spcBef>
              <a:spcAft>
                <a:spcPts val="0"/>
              </a:spcAft>
              <a:defRPr sz="1700" b="0">
                <a:solidFill>
                  <a:srgbClr val="182F45"/>
                </a:solidFill>
                <a:latin typeface="Arial"/>
              </a:defRPr>
            </a:pPr>
            <a:r>
              <a:t>configuration</a:t>
            </a:r>
          </a:p>
          <a:p>
            <a:pPr>
              <a:lnSpc>
                <a:spcPts val="2108"/>
              </a:lnSpc>
              <a:spcBef>
                <a:spcPts val="0"/>
              </a:spcBef>
              <a:spcAft>
                <a:spcPts val="0"/>
              </a:spcAft>
              <a:defRPr sz="1700" b="0">
                <a:solidFill>
                  <a:srgbClr val="182F45"/>
                </a:solidFill>
                <a:latin typeface="Arial"/>
              </a:defRPr>
            </a:pPr>
          </a:p>
          <a:p>
            <a:pPr>
              <a:lnSpc>
                <a:spcPts val="2108"/>
              </a:lnSpc>
              <a:spcBef>
                <a:spcPts val="0"/>
              </a:spcBef>
              <a:spcAft>
                <a:spcPts val="0"/>
              </a:spcAft>
              <a:defRPr sz="1700" b="0">
                <a:solidFill>
                  <a:srgbClr val="182F45"/>
                </a:solidFill>
                <a:latin typeface="Arial"/>
              </a:defRPr>
            </a:pPr>
            <a:r>
              <a:t>Semgrep rule and analysis</a:t>
            </a:r>
          </a:p>
          <a:p>
            <a:pPr>
              <a:lnSpc>
                <a:spcPts val="2108"/>
              </a:lnSpc>
              <a:spcBef>
                <a:spcPts val="0"/>
              </a:spcBef>
              <a:spcAft>
                <a:spcPts val="0"/>
              </a:spcAft>
              <a:defRPr sz="1700" b="0">
                <a:solidFill>
                  <a:srgbClr val="182F45"/>
                </a:solidFill>
                <a:latin typeface="Arial"/>
              </a:defRPr>
            </a:pPr>
            <a:r>
              <a:t>concepts</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Source review date: 2026-09-16. Local configuration determines actual behavior.</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Sources in notes: java-cron, db-config, dc, dc-cli, gitleaks, semgrep</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53 / 57</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09 SOURCES</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Sources and maintenance</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Official documentation; full clickable links are in the slide notes and handbook.</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PRIMARY REFERENCES</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Semgrep command and exit</a:t>
            </a:r>
          </a:p>
          <a:p>
            <a:pPr>
              <a:lnSpc>
                <a:spcPts val="2108"/>
              </a:lnSpc>
              <a:spcBef>
                <a:spcPts val="0"/>
              </a:spcBef>
              <a:spcAft>
                <a:spcPts val="0"/>
              </a:spcAft>
              <a:defRPr sz="1700" b="0">
                <a:solidFill>
                  <a:srgbClr val="182F45"/>
                </a:solidFill>
                <a:latin typeface="Arial"/>
              </a:defRPr>
            </a:pPr>
            <a:r>
              <a:t>semantics</a:t>
            </a:r>
          </a:p>
          <a:p>
            <a:pPr>
              <a:lnSpc>
                <a:spcPts val="2108"/>
              </a:lnSpc>
              <a:spcBef>
                <a:spcPts val="0"/>
              </a:spcBef>
              <a:spcAft>
                <a:spcPts val="0"/>
              </a:spcAft>
              <a:defRPr sz="1700" b="0">
                <a:solidFill>
                  <a:srgbClr val="182F45"/>
                </a:solidFill>
                <a:latin typeface="Arial"/>
              </a:defRPr>
            </a:pPr>
          </a:p>
          <a:p>
            <a:pPr>
              <a:lnSpc>
                <a:spcPts val="2108"/>
              </a:lnSpc>
              <a:spcBef>
                <a:spcPts val="0"/>
              </a:spcBef>
              <a:spcAft>
                <a:spcPts val="0"/>
              </a:spcAft>
              <a:defRPr sz="1700" b="0">
                <a:solidFill>
                  <a:srgbClr val="182F45"/>
                </a:solidFill>
                <a:latin typeface="Arial"/>
              </a:defRPr>
            </a:pPr>
            <a:r>
              <a:t>CodeQL database and query</a:t>
            </a:r>
          </a:p>
          <a:p>
            <a:pPr>
              <a:lnSpc>
                <a:spcPts val="2108"/>
              </a:lnSpc>
              <a:spcBef>
                <a:spcPts val="0"/>
              </a:spcBef>
              <a:spcAft>
                <a:spcPts val="0"/>
              </a:spcAft>
              <a:defRPr sz="1700" b="0">
                <a:solidFill>
                  <a:srgbClr val="182F45"/>
                </a:solidFill>
                <a:latin typeface="Arial"/>
              </a:defRPr>
            </a:pPr>
            <a:r>
              <a:t>model</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PRIMARY REFERENCES</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SonarQube analysis overview</a:t>
            </a:r>
          </a:p>
          <a:p>
            <a:pPr>
              <a:lnSpc>
                <a:spcPts val="2108"/>
              </a:lnSpc>
              <a:spcBef>
                <a:spcPts val="0"/>
              </a:spcBef>
              <a:spcAft>
                <a:spcPts val="0"/>
              </a:spcAft>
              <a:defRPr sz="1700" b="0">
                <a:solidFill>
                  <a:srgbClr val="182F45"/>
                </a:solidFill>
                <a:latin typeface="Arial"/>
              </a:defRPr>
            </a:pPr>
          </a:p>
          <a:p>
            <a:pPr>
              <a:lnSpc>
                <a:spcPts val="2108"/>
              </a:lnSpc>
              <a:spcBef>
                <a:spcPts val="0"/>
              </a:spcBef>
              <a:spcAft>
                <a:spcPts val="0"/>
              </a:spcAft>
              <a:defRPr sz="1700" b="0">
                <a:solidFill>
                  <a:srgbClr val="182F45"/>
                </a:solidFill>
                <a:latin typeface="Arial"/>
              </a:defRPr>
            </a:pPr>
            <a:r>
              <a:t>Checkov configuration and graph</a:t>
            </a:r>
          </a:p>
          <a:p>
            <a:pPr>
              <a:lnSpc>
                <a:spcPts val="2108"/>
              </a:lnSpc>
              <a:spcBef>
                <a:spcPts val="0"/>
              </a:spcBef>
              <a:spcAft>
                <a:spcPts val="0"/>
              </a:spcAft>
              <a:defRPr sz="1700" b="0">
                <a:solidFill>
                  <a:srgbClr val="182F45"/>
                </a:solidFill>
                <a:latin typeface="Arial"/>
              </a:defRPr>
            </a:pPr>
            <a:r>
              <a:t>checks</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PRIMARY REFERENCES</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ZAP baseline scope and exit</a:t>
            </a:r>
          </a:p>
          <a:p>
            <a:pPr>
              <a:lnSpc>
                <a:spcPts val="2108"/>
              </a:lnSpc>
              <a:spcBef>
                <a:spcPts val="0"/>
              </a:spcBef>
              <a:spcAft>
                <a:spcPts val="0"/>
              </a:spcAft>
              <a:defRPr sz="1700" b="0">
                <a:solidFill>
                  <a:srgbClr val="182F45"/>
                </a:solidFill>
                <a:latin typeface="Arial"/>
              </a:defRPr>
            </a:pPr>
            <a:r>
              <a:t>codes</a:t>
            </a:r>
          </a:p>
          <a:p>
            <a:pPr>
              <a:lnSpc>
                <a:spcPts val="2108"/>
              </a:lnSpc>
              <a:spcBef>
                <a:spcPts val="0"/>
              </a:spcBef>
              <a:spcAft>
                <a:spcPts val="0"/>
              </a:spcAft>
              <a:defRPr sz="1700" b="0">
                <a:solidFill>
                  <a:srgbClr val="182F45"/>
                </a:solidFill>
                <a:latin typeface="Arial"/>
              </a:defRPr>
            </a:pPr>
          </a:p>
          <a:p>
            <a:pPr>
              <a:lnSpc>
                <a:spcPts val="2108"/>
              </a:lnSpc>
              <a:spcBef>
                <a:spcPts val="0"/>
              </a:spcBef>
              <a:spcAft>
                <a:spcPts val="0"/>
              </a:spcAft>
              <a:defRPr sz="1700" b="0">
                <a:solidFill>
                  <a:srgbClr val="182F45"/>
                </a:solidFill>
                <a:latin typeface="Arial"/>
              </a:defRPr>
            </a:pPr>
            <a:r>
              <a:t>ZAP full scan</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Source review date: 2026-09-16. Local configuration determines actual behavior.</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Sources in notes: semgrep-cli, codeql, sonar, checkov, zap-base, zap-full</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54 / 57</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09 SOURCES</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Sources and maintenance</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Official documentation; full clickable links are in the slide notes and handbook.</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PRIMARY REFERENCES</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ZAP add-ons and rules</a:t>
            </a:r>
          </a:p>
          <a:p>
            <a:pPr>
              <a:lnSpc>
                <a:spcPts val="2108"/>
              </a:lnSpc>
              <a:spcBef>
                <a:spcPts val="0"/>
              </a:spcBef>
              <a:spcAft>
                <a:spcPts val="0"/>
              </a:spcAft>
              <a:defRPr sz="1700" b="0">
                <a:solidFill>
                  <a:srgbClr val="182F45"/>
                </a:solidFill>
                <a:latin typeface="Arial"/>
              </a:defRPr>
            </a:pPr>
          </a:p>
          <a:p>
            <a:pPr>
              <a:lnSpc>
                <a:spcPts val="2108"/>
              </a:lnSpc>
              <a:spcBef>
                <a:spcPts val="0"/>
              </a:spcBef>
              <a:spcAft>
                <a:spcPts val="0"/>
              </a:spcAft>
              <a:defRPr sz="1700" b="0">
                <a:solidFill>
                  <a:srgbClr val="182F45"/>
                </a:solidFill>
                <a:latin typeface="Arial"/>
              </a:defRPr>
            </a:pPr>
            <a:r>
              <a:t>Syft software inventory</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PRIMARY REFERENCES</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Grype vulnerability scanning</a:t>
            </a:r>
          </a:p>
          <a:p>
            <a:pPr>
              <a:lnSpc>
                <a:spcPts val="2108"/>
              </a:lnSpc>
              <a:spcBef>
                <a:spcPts val="0"/>
              </a:spcBef>
              <a:spcAft>
                <a:spcPts val="0"/>
              </a:spcAft>
              <a:defRPr sz="1700" b="0">
                <a:solidFill>
                  <a:srgbClr val="182F45"/>
                </a:solidFill>
                <a:latin typeface="Arial"/>
              </a:defRPr>
            </a:pPr>
          </a:p>
          <a:p>
            <a:pPr>
              <a:lnSpc>
                <a:spcPts val="2108"/>
              </a:lnSpc>
              <a:spcBef>
                <a:spcPts val="0"/>
              </a:spcBef>
              <a:spcAft>
                <a:spcPts val="0"/>
              </a:spcAft>
              <a:defRPr sz="1700" b="0">
                <a:solidFill>
                  <a:srgbClr val="182F45"/>
                </a:solidFill>
                <a:latin typeface="Arial"/>
              </a:defRPr>
            </a:pPr>
            <a:r>
              <a:t>Cosign signature verification</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PRIMARY REFERENCES</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Kyverno admission validation</a:t>
            </a:r>
          </a:p>
          <a:p>
            <a:pPr>
              <a:lnSpc>
                <a:spcPts val="2108"/>
              </a:lnSpc>
              <a:spcBef>
                <a:spcPts val="0"/>
              </a:spcBef>
              <a:spcAft>
                <a:spcPts val="0"/>
              </a:spcAft>
              <a:defRPr sz="1700" b="0">
                <a:solidFill>
                  <a:srgbClr val="182F45"/>
                </a:solidFill>
                <a:latin typeface="Arial"/>
              </a:defRPr>
            </a:pPr>
          </a:p>
          <a:p>
            <a:pPr>
              <a:lnSpc>
                <a:spcPts val="2108"/>
              </a:lnSpc>
              <a:spcBef>
                <a:spcPts val="0"/>
              </a:spcBef>
              <a:spcAft>
                <a:spcPts val="0"/>
              </a:spcAft>
              <a:defRPr sz="1700" b="0">
                <a:solidFill>
                  <a:srgbClr val="182F45"/>
                </a:solidFill>
                <a:latin typeface="Arial"/>
              </a:defRPr>
            </a:pPr>
            <a:r>
              <a:t>Falco runtime rules</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Source review date: 2026-09-16. Local configuration determines actual behavior.</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Sources in notes: zap-addons, syft, grype, cosign, kyverno, falco</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55 / 57</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09 SOURCES</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Sources and maintenance</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Official documentation; full clickable links are in the slide notes and handbook.</a:t>
            </a:r>
          </a:p>
        </p:txBody>
      </p:sp>
      <p:sp>
        <p:nvSpPr>
          <p:cNvPr id="7" name="Rectangle 6"/>
          <p:cNvSpPr/>
          <p:nvPr/>
        </p:nvSpPr>
        <p:spPr>
          <a:xfrm>
            <a:off x="431800"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PRIMARY REFERENCES</a:t>
            </a:r>
          </a:p>
        </p:txBody>
      </p:sp>
      <p:sp>
        <p:nvSpPr>
          <p:cNvPr id="10" name="TextBox 9"/>
          <p:cNvSpPr txBox="1"/>
          <p:nvPr/>
        </p:nvSpPr>
        <p:spPr>
          <a:xfrm>
            <a:off x="622300"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FIRST Exploit Prediction Scoring</a:t>
            </a:r>
          </a:p>
          <a:p>
            <a:pPr>
              <a:lnSpc>
                <a:spcPts val="2108"/>
              </a:lnSpc>
              <a:spcBef>
                <a:spcPts val="0"/>
              </a:spcBef>
              <a:spcAft>
                <a:spcPts val="0"/>
              </a:spcAft>
              <a:defRPr sz="1700" b="0">
                <a:solidFill>
                  <a:srgbClr val="182F45"/>
                </a:solidFill>
                <a:latin typeface="Arial"/>
              </a:defRPr>
            </a:pPr>
            <a:r>
              <a:t>System</a:t>
            </a:r>
          </a:p>
          <a:p>
            <a:pPr>
              <a:lnSpc>
                <a:spcPts val="2108"/>
              </a:lnSpc>
              <a:spcBef>
                <a:spcPts val="0"/>
              </a:spcBef>
              <a:spcAft>
                <a:spcPts val="0"/>
              </a:spcAft>
              <a:defRPr sz="1700" b="0">
                <a:solidFill>
                  <a:srgbClr val="182F45"/>
                </a:solidFill>
                <a:latin typeface="Arial"/>
              </a:defRPr>
            </a:pPr>
          </a:p>
          <a:p>
            <a:pPr>
              <a:lnSpc>
                <a:spcPts val="2108"/>
              </a:lnSpc>
              <a:spcBef>
                <a:spcPts val="0"/>
              </a:spcBef>
              <a:spcAft>
                <a:spcPts val="0"/>
              </a:spcAft>
              <a:defRPr sz="1700" b="0">
                <a:solidFill>
                  <a:srgbClr val="182F45"/>
                </a:solidFill>
                <a:latin typeface="Arial"/>
              </a:defRPr>
            </a:pPr>
            <a:r>
              <a:t>FIRST CVSS v4.0 specification</a:t>
            </a:r>
          </a:p>
        </p:txBody>
      </p:sp>
      <p:sp>
        <p:nvSpPr>
          <p:cNvPr id="11" name="Rectangle 10"/>
          <p:cNvSpPr/>
          <p:nvPr/>
        </p:nvSpPr>
        <p:spPr>
          <a:xfrm>
            <a:off x="4258733"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8733" y="2641600"/>
            <a:ext cx="3598333" cy="50800"/>
          </a:xfrm>
          <a:prstGeom prst="rect">
            <a:avLst/>
          </a:prstGeom>
          <a:solidFill>
            <a:srgbClr val="D09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9233"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PRIMARY REFERENCES</a:t>
            </a:r>
          </a:p>
        </p:txBody>
      </p:sp>
      <p:sp>
        <p:nvSpPr>
          <p:cNvPr id="14" name="TextBox 13"/>
          <p:cNvSpPr txBox="1"/>
          <p:nvPr/>
        </p:nvSpPr>
        <p:spPr>
          <a:xfrm>
            <a:off x="4449233"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CISA official KEV data mirror</a:t>
            </a:r>
          </a:p>
          <a:p>
            <a:pPr>
              <a:lnSpc>
                <a:spcPts val="2108"/>
              </a:lnSpc>
              <a:spcBef>
                <a:spcPts val="0"/>
              </a:spcBef>
              <a:spcAft>
                <a:spcPts val="0"/>
              </a:spcAft>
              <a:defRPr sz="1700" b="0">
                <a:solidFill>
                  <a:srgbClr val="182F45"/>
                </a:solidFill>
                <a:latin typeface="Arial"/>
              </a:defRPr>
            </a:pPr>
          </a:p>
          <a:p>
            <a:pPr>
              <a:lnSpc>
                <a:spcPts val="2108"/>
              </a:lnSpc>
              <a:spcBef>
                <a:spcPts val="0"/>
              </a:spcBef>
              <a:spcAft>
                <a:spcPts val="0"/>
              </a:spcAft>
              <a:defRPr sz="1700" b="0">
                <a:solidFill>
                  <a:srgbClr val="182F45"/>
                </a:solidFill>
                <a:latin typeface="Arial"/>
              </a:defRPr>
            </a:pPr>
            <a:r>
              <a:t>MITRE Common Weakness</a:t>
            </a:r>
          </a:p>
          <a:p>
            <a:pPr>
              <a:lnSpc>
                <a:spcPts val="2108"/>
              </a:lnSpc>
              <a:spcBef>
                <a:spcPts val="0"/>
              </a:spcBef>
              <a:spcAft>
                <a:spcPts val="0"/>
              </a:spcAft>
              <a:defRPr sz="1700" b="0">
                <a:solidFill>
                  <a:srgbClr val="182F45"/>
                </a:solidFill>
                <a:latin typeface="Arial"/>
              </a:defRPr>
            </a:pPr>
            <a:r>
              <a:t>Enumeration</a:t>
            </a:r>
          </a:p>
        </p:txBody>
      </p:sp>
      <p:sp>
        <p:nvSpPr>
          <p:cNvPr id="15" name="Rectangle 14"/>
          <p:cNvSpPr/>
          <p:nvPr/>
        </p:nvSpPr>
        <p:spPr>
          <a:xfrm>
            <a:off x="8085666" y="2641600"/>
            <a:ext cx="3598333"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5666" y="2641600"/>
            <a:ext cx="3598333"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6166" y="2908300"/>
            <a:ext cx="3217333"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PRIMARY REFERENCES</a:t>
            </a:r>
          </a:p>
        </p:txBody>
      </p:sp>
      <p:sp>
        <p:nvSpPr>
          <p:cNvPr id="18" name="TextBox 17"/>
          <p:cNvSpPr txBox="1"/>
          <p:nvPr/>
        </p:nvSpPr>
        <p:spPr>
          <a:xfrm>
            <a:off x="8276166" y="3606800"/>
            <a:ext cx="3217333" cy="1587500"/>
          </a:xfrm>
          <a:prstGeom prst="rect">
            <a:avLst/>
          </a:prstGeom>
          <a:noFill/>
        </p:spPr>
        <p:txBody>
          <a:bodyPr wrap="none" lIns="0" rIns="0" tIns="0" bIns="0">
            <a:spAutoFit/>
          </a:bodyPr>
          <a:lstStyle/>
          <a:p>
            <a:pPr>
              <a:lnSpc>
                <a:spcPts val="2108"/>
              </a:lnSpc>
              <a:spcBef>
                <a:spcPts val="0"/>
              </a:spcBef>
              <a:spcAft>
                <a:spcPts val="0"/>
              </a:spcAft>
              <a:defRPr sz="1700" b="0">
                <a:solidFill>
                  <a:srgbClr val="182F45"/>
                </a:solidFill>
                <a:latin typeface="Arial"/>
              </a:defRPr>
            </a:pPr>
            <a:r>
              <a:t>Open Source Vulnerabilities</a:t>
            </a:r>
          </a:p>
          <a:p>
            <a:pPr>
              <a:lnSpc>
                <a:spcPts val="2108"/>
              </a:lnSpc>
              <a:spcBef>
                <a:spcPts val="0"/>
              </a:spcBef>
              <a:spcAft>
                <a:spcPts val="0"/>
              </a:spcAft>
              <a:defRPr sz="1700" b="0">
                <a:solidFill>
                  <a:srgbClr val="182F45"/>
                </a:solidFill>
                <a:latin typeface="Arial"/>
              </a:defRPr>
            </a:pPr>
          </a:p>
          <a:p>
            <a:pPr>
              <a:lnSpc>
                <a:spcPts val="2108"/>
              </a:lnSpc>
              <a:spcBef>
                <a:spcPts val="0"/>
              </a:spcBef>
              <a:spcAft>
                <a:spcPts val="0"/>
              </a:spcAft>
              <a:defRPr sz="1700" b="0">
                <a:solidFill>
                  <a:srgbClr val="182F45"/>
                </a:solidFill>
                <a:latin typeface="Arial"/>
              </a:defRPr>
            </a:pPr>
            <a:r>
              <a:t>NIST SP 800-218 SSDF v1.1</a:t>
            </a:r>
          </a:p>
        </p:txBody>
      </p:sp>
      <p:sp>
        <p:nvSpPr>
          <p:cNvPr id="19" name="Rectangle 18"/>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Source review date: 2026-09-16. Local configuration determines actual behavior.</a:t>
            </a:r>
          </a:p>
        </p:txBody>
      </p:sp>
      <p:sp>
        <p:nvSpPr>
          <p:cNvPr id="21" name="TextBox 20"/>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Sources in notes: epss, cvss, kev, cwe, osv, ssdf</a:t>
            </a:r>
          </a:p>
        </p:txBody>
      </p:sp>
      <p:sp>
        <p:nvSpPr>
          <p:cNvPr id="22" name="TextBox 21"/>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56 / 57</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7000" cy="68580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31800" y="292100"/>
            <a:ext cx="11049000" cy="254000"/>
          </a:xfrm>
          <a:prstGeom prst="rect">
            <a:avLst/>
          </a:prstGeom>
          <a:noFill/>
        </p:spPr>
        <p:txBody>
          <a:bodyPr wrap="none" lIns="0" rIns="0" tIns="0" bIns="0">
            <a:spAutoFit/>
          </a:bodyPr>
          <a:lstStyle/>
          <a:p>
            <a:pPr>
              <a:lnSpc>
                <a:spcPts val="1364"/>
              </a:lnSpc>
              <a:spcBef>
                <a:spcPts val="0"/>
              </a:spcBef>
              <a:spcAft>
                <a:spcPts val="0"/>
              </a:spcAft>
              <a:defRPr sz="1100" b="1">
                <a:solidFill>
                  <a:srgbClr val="007E83"/>
                </a:solidFill>
                <a:latin typeface="Arial"/>
              </a:defRPr>
            </a:pPr>
            <a:r>
              <a:t>09 SOURCES</a:t>
            </a:r>
          </a:p>
        </p:txBody>
      </p:sp>
      <p:sp>
        <p:nvSpPr>
          <p:cNvPr id="5" name="TextBox 4"/>
          <p:cNvSpPr txBox="1"/>
          <p:nvPr/>
        </p:nvSpPr>
        <p:spPr>
          <a:xfrm>
            <a:off x="431800" y="736600"/>
            <a:ext cx="11252200" cy="1054100"/>
          </a:xfrm>
          <a:prstGeom prst="rect">
            <a:avLst/>
          </a:prstGeom>
          <a:noFill/>
        </p:spPr>
        <p:txBody>
          <a:bodyPr wrap="none" lIns="0" rIns="0" tIns="0" bIns="0">
            <a:spAutoFit/>
          </a:bodyPr>
          <a:lstStyle/>
          <a:p>
            <a:pPr>
              <a:lnSpc>
                <a:spcPts val="3720"/>
              </a:lnSpc>
              <a:spcBef>
                <a:spcPts val="0"/>
              </a:spcBef>
              <a:spcAft>
                <a:spcPts val="0"/>
              </a:spcAft>
              <a:defRPr sz="3000" b="1">
                <a:solidFill>
                  <a:srgbClr val="182F45"/>
                </a:solidFill>
                <a:latin typeface="Arial"/>
              </a:defRPr>
            </a:pPr>
            <a:r>
              <a:t>Sources and maintenance</a:t>
            </a:r>
          </a:p>
        </p:txBody>
      </p:sp>
      <p:sp>
        <p:nvSpPr>
          <p:cNvPr id="6" name="TextBox 5"/>
          <p:cNvSpPr txBox="1"/>
          <p:nvPr/>
        </p:nvSpPr>
        <p:spPr>
          <a:xfrm>
            <a:off x="431800" y="1790700"/>
            <a:ext cx="11252200" cy="571500"/>
          </a:xfrm>
          <a:prstGeom prst="rect">
            <a:avLst/>
          </a:prstGeom>
          <a:noFill/>
        </p:spPr>
        <p:txBody>
          <a:bodyPr wrap="none" lIns="0" rIns="0" tIns="0" bIns="0">
            <a:spAutoFit/>
          </a:bodyPr>
          <a:lstStyle/>
          <a:p>
            <a:pPr>
              <a:lnSpc>
                <a:spcPts val="1984"/>
              </a:lnSpc>
              <a:spcBef>
                <a:spcPts val="0"/>
              </a:spcBef>
              <a:spcAft>
                <a:spcPts val="0"/>
              </a:spcAft>
              <a:defRPr sz="1600" b="0">
                <a:solidFill>
                  <a:srgbClr val="486176"/>
                </a:solidFill>
                <a:latin typeface="Arial"/>
              </a:defRPr>
            </a:pPr>
            <a:r>
              <a:t>Official documentation; full clickable links are in the slide notes and handbook.</a:t>
            </a:r>
          </a:p>
        </p:txBody>
      </p:sp>
      <p:sp>
        <p:nvSpPr>
          <p:cNvPr id="7" name="Rectangle 6"/>
          <p:cNvSpPr/>
          <p:nvPr/>
        </p:nvSpPr>
        <p:spPr>
          <a:xfrm>
            <a:off x="431800" y="2641600"/>
            <a:ext cx="11252200" cy="2679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1800" y="2641600"/>
            <a:ext cx="11252200" cy="50800"/>
          </a:xfrm>
          <a:prstGeom prst="rect">
            <a:avLst/>
          </a:prstGeom>
          <a:solidFill>
            <a:srgbClr val="00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2300" y="2908300"/>
            <a:ext cx="10871200" cy="609600"/>
          </a:xfrm>
          <a:prstGeom prst="rect">
            <a:avLst/>
          </a:prstGeom>
          <a:noFill/>
        </p:spPr>
        <p:txBody>
          <a:bodyPr wrap="none" lIns="0" rIns="0" tIns="0" bIns="0">
            <a:spAutoFit/>
          </a:bodyPr>
          <a:lstStyle/>
          <a:p>
            <a:pPr>
              <a:lnSpc>
                <a:spcPts val="1860"/>
              </a:lnSpc>
              <a:spcBef>
                <a:spcPts val="0"/>
              </a:spcBef>
              <a:spcAft>
                <a:spcPts val="0"/>
              </a:spcAft>
              <a:defRPr sz="1500" b="1">
                <a:solidFill>
                  <a:srgbClr val="007E83"/>
                </a:solidFill>
                <a:latin typeface="Arial"/>
              </a:defRPr>
            </a:pPr>
            <a:r>
              <a:t>PRIMARY REFERENCES</a:t>
            </a:r>
          </a:p>
        </p:txBody>
      </p:sp>
      <p:sp>
        <p:nvSpPr>
          <p:cNvPr id="10" name="TextBox 9"/>
          <p:cNvSpPr txBox="1"/>
          <p:nvPr/>
        </p:nvSpPr>
        <p:spPr>
          <a:xfrm>
            <a:off x="622300" y="3606800"/>
            <a:ext cx="10871200" cy="1587500"/>
          </a:xfrm>
          <a:prstGeom prst="rect">
            <a:avLst/>
          </a:prstGeom>
          <a:noFill/>
        </p:spPr>
        <p:txBody>
          <a:bodyPr wrap="none" lIns="0" rIns="0" tIns="0" bIns="0">
            <a:spAutoFit/>
          </a:bodyPr>
          <a:lstStyle/>
          <a:p>
            <a:pPr>
              <a:lnSpc>
                <a:spcPts val="1984"/>
              </a:lnSpc>
              <a:spcBef>
                <a:spcPts val="0"/>
              </a:spcBef>
              <a:spcAft>
                <a:spcPts val="0"/>
              </a:spcAft>
              <a:defRPr sz="1600" b="0">
                <a:solidFill>
                  <a:srgbClr val="182F45"/>
                </a:solidFill>
                <a:latin typeface="Arial"/>
              </a:defRPr>
            </a:pPr>
            <a:r>
              <a:t>SLSA v1.2 specification</a:t>
            </a:r>
          </a:p>
        </p:txBody>
      </p:sp>
      <p:sp>
        <p:nvSpPr>
          <p:cNvPr id="11" name="Rectangle 10"/>
          <p:cNvSpPr/>
          <p:nvPr/>
        </p:nvSpPr>
        <p:spPr>
          <a:xfrm>
            <a:off x="431800" y="5613400"/>
            <a:ext cx="11252200" cy="571500"/>
          </a:xfrm>
          <a:prstGeom prst="rect">
            <a:avLst/>
          </a:prstGeom>
          <a:solidFill>
            <a:srgbClr val="182F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4200" y="5753100"/>
            <a:ext cx="10922000" cy="355600"/>
          </a:xfrm>
          <a:prstGeom prst="rect">
            <a:avLst/>
          </a:prstGeom>
          <a:noFill/>
        </p:spPr>
        <p:txBody>
          <a:bodyPr wrap="none" lIns="0" rIns="0" tIns="0" bIns="0">
            <a:spAutoFit/>
          </a:bodyPr>
          <a:lstStyle/>
          <a:p>
            <a:pPr>
              <a:lnSpc>
                <a:spcPts val="1736"/>
              </a:lnSpc>
              <a:spcBef>
                <a:spcPts val="0"/>
              </a:spcBef>
              <a:spcAft>
                <a:spcPts val="0"/>
              </a:spcAft>
              <a:defRPr sz="1400" b="1">
                <a:solidFill>
                  <a:srgbClr val="FFFFFF"/>
                </a:solidFill>
                <a:latin typeface="Arial"/>
              </a:defRPr>
            </a:pPr>
            <a:r>
              <a:t>Source review date: 2026-09-16. Local configuration determines actual behavior.</a:t>
            </a:r>
          </a:p>
        </p:txBody>
      </p:sp>
      <p:sp>
        <p:nvSpPr>
          <p:cNvPr id="13" name="TextBox 12"/>
          <p:cNvSpPr txBox="1"/>
          <p:nvPr/>
        </p:nvSpPr>
        <p:spPr>
          <a:xfrm>
            <a:off x="431800" y="6413500"/>
            <a:ext cx="10210800" cy="254000"/>
          </a:xfrm>
          <a:prstGeom prst="rect">
            <a:avLst/>
          </a:prstGeom>
          <a:noFill/>
        </p:spPr>
        <p:txBody>
          <a:bodyPr wrap="none" lIns="0" rIns="0" tIns="0" bIns="0">
            <a:spAutoFit/>
          </a:bodyPr>
          <a:lstStyle/>
          <a:p>
            <a:pPr>
              <a:lnSpc>
                <a:spcPts val="1116"/>
              </a:lnSpc>
              <a:spcBef>
                <a:spcPts val="0"/>
              </a:spcBef>
              <a:spcAft>
                <a:spcPts val="0"/>
              </a:spcAft>
              <a:defRPr sz="900" b="0">
                <a:solidFill>
                  <a:srgbClr val="486176"/>
                </a:solidFill>
                <a:latin typeface="Arial"/>
              </a:defRPr>
            </a:pPr>
            <a:r>
              <a:t>Sources in notes: slsa</a:t>
            </a:r>
          </a:p>
        </p:txBody>
      </p:sp>
      <p:sp>
        <p:nvSpPr>
          <p:cNvPr id="14" name="TextBox 13"/>
          <p:cNvSpPr txBox="1"/>
          <p:nvPr/>
        </p:nvSpPr>
        <p:spPr>
          <a:xfrm>
            <a:off x="10858500" y="6388100"/>
            <a:ext cx="863600" cy="279400"/>
          </a:xfrm>
          <a:prstGeom prst="rect">
            <a:avLst/>
          </a:prstGeom>
          <a:noFill/>
        </p:spPr>
        <p:txBody>
          <a:bodyPr wrap="none" lIns="0" rIns="0" tIns="0" bIns="0">
            <a:spAutoFit/>
          </a:bodyPr>
          <a:lstStyle/>
          <a:p>
            <a:pPr>
              <a:lnSpc>
                <a:spcPts val="1364"/>
              </a:lnSpc>
              <a:spcBef>
                <a:spcPts val="0"/>
              </a:spcBef>
              <a:spcAft>
                <a:spcPts val="0"/>
              </a:spcAft>
              <a:defRPr sz="1100" b="1">
                <a:solidFill>
                  <a:srgbClr val="486176"/>
                </a:solidFill>
                <a:latin typeface="Arial"/>
              </a:defRPr>
            </a:pPr>
            <a:r>
              <a:t>57 / 57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DevSecOps: from first principles to release evidence</dc:title>
  <dc:subject>Pipeline flow, security-tool internals and implementation boundaries</dc:subject>
  <dc:creator>DevSecOps reference project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