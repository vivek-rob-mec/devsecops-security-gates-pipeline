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src.nist.gov/pubs/sp/800/218/final" TargetMode="External"/><Relationship Id="rId3" Type="http://schemas.openxmlformats.org/officeDocument/2006/relationships/hyperlink" Target="https://csrc.nist.gov/projects/ssdf" TargetMode="External"/><Relationship Id="rId4" Type="http://schemas.openxmlformats.org/officeDocument/2006/relationships/hyperlink" Target="https://devguide.owasp.org/en/09-operations/01-devsecops/" TargetMode="External"/><Relationship Id="rId5" Type="http://schemas.openxmlformats.org/officeDocument/2006/relationships/hyperlink" Target="https://cheatsheetseries.owasp.org/cheatsheets/CI_CD_Security_Cheat_Sheet.html" TargetMode="External"/><Relationship Id="rId6" Type="http://schemas.openxmlformats.org/officeDocument/2006/relationships/hyperlink" Target="https://owasp.org/projects/asvs" TargetMode="External"/><Relationship Id="rId7" Type="http://schemas.openxmlformats.org/officeDocument/2006/relationships/hyperlink" Target="https://owasp.org/projects/samm" TargetMode="External"/><Relationship Id="rId8" Type="http://schemas.openxmlformats.org/officeDocument/2006/relationships/hyperlink" Target="https://slsa.dev/spec/v1.2/" TargetMode="External"/><Relationship Id="rId9" Type="http://schemas.openxmlformats.org/officeDocument/2006/relationships/hyperlink" Target="https://cyclonedx.org/specification/overview/" TargetMode="External"/><Relationship Id="rId10" Type="http://schemas.openxmlformats.org/officeDocument/2006/relationships/hyperlink" Target="https://spdx.dev/use/specifications/" TargetMode="External"/><Relationship Id="rId11" Type="http://schemas.openxmlformats.org/officeDocument/2006/relationships/hyperlink" Target="https://www.cisa.gov/known-exploited-vulnerabilities-catalog" TargetMode="External"/><Relationship Id="rId12" Type="http://schemas.openxmlformats.org/officeDocument/2006/relationships/hyperlink" Target="https://www.first.org/epss/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75320" y="914400"/>
            <a:ext cx="3200400" cy="3200400"/>
          </a:xfrm>
          <a:prstGeom prst="ellipse">
            <a:avLst/>
          </a:prstGeom>
          <a:noFill/>
          <a:ln w="25400"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1080" y="1280160"/>
            <a:ext cx="2468880" cy="2468880"/>
          </a:xfrm>
          <a:prstGeom prst="ellipse">
            <a:avLst/>
          </a:prstGeom>
          <a:noFill/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915400" y="1600200"/>
            <a:ext cx="1828800" cy="1828800"/>
          </a:xfrm>
          <a:prstGeom prst="hexagon">
            <a:avLst/>
          </a:prstGeom>
          <a:solidFill>
            <a:srgbClr val="13243A"/>
          </a:solidFill>
          <a:ln w="25400"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2221992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0C2D6"/>
                </a:solidFill>
                <a:latin typeface="Aptos"/>
              </a:rPr>
              <a:t>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4023360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Aptos"/>
              </a:rPr>
              <a:t>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4023360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Aptos"/>
              </a:rPr>
              <a:t>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15568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ptos Display"/>
              </a:rPr>
              <a:t>DevSecOps Security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6035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C2D6"/>
                </a:solidFill>
                <a:latin typeface="Aptos"/>
              </a:rPr>
              <a:t>Industry-aligned CI/CD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6537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70" b="0" i="0">
                <a:solidFill>
                  <a:srgbClr val="A8B3C5"/>
                </a:solidFill>
                <a:latin typeface="Aptos"/>
              </a:rPr>
              <a:t>A practical, enforceable sequence for secrets, SCA, SAST, IaC, containers, SBOM, signing, DAST, release controls and runtime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60520"/>
            <a:ext cx="1051560" cy="310896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219956"/>
            <a:ext cx="960119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SCA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4160520"/>
            <a:ext cx="105156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39" y="4219956"/>
            <a:ext cx="960119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SAST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4952" y="4160520"/>
            <a:ext cx="1051560" cy="31089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4219956"/>
            <a:ext cx="960119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DAST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160520"/>
            <a:ext cx="1051560" cy="310896"/>
          </a:xfrm>
          <a:prstGeom prst="roundRect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4219956"/>
            <a:ext cx="960119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SBOM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41264" y="4160520"/>
            <a:ext cx="141732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6983" y="4219956"/>
            <a:ext cx="13258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SIGNING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0749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18096"/>
                </a:solidFill>
                <a:latin typeface="Aptos"/>
              </a:rPr>
              <a:t>Expanded from your original SCA / SAST / DAST deck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The pipeline should enforce outcomes — not just run scanners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A secure pipeline is a control system: every stage has evidence, pass/fail criteria, ownership and an exception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NIST SSDF • OWASP DevSecOps • SLSA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682495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572768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Protect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1865376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Protected branches + review + least-privilege CI identities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2514600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468880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Stop 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761488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Pre-commit + PR scanning; rotate immediately when exposed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3410711"/>
            <a:ext cx="384048" cy="384048"/>
          </a:xfrm>
          <a:prstGeom prst="ellipse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74720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364991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Control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657599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Lockfiles, SCA, license policy, trusted registries, SBOM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306824"/>
            <a:ext cx="384048" cy="38404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370832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261104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Test code early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553712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SAST + unit/integration tests on every pull request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5202936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66944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157216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Secure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449824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IaC, Dockerfile and Kubernetes policy scanning</a:t>
            </a:r>
          </a:p>
        </p:txBody>
      </p:sp>
      <p:sp>
        <p:nvSpPr>
          <p:cNvPr id="31" name="Oval 30"/>
          <p:cNvSpPr/>
          <p:nvPr/>
        </p:nvSpPr>
        <p:spPr>
          <a:xfrm>
            <a:off x="6236207" y="1618488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7" y="1682495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1" y="1572768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Harden the 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1" y="1865376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Ephemeral runners, pinned actions, minimal privileges</a:t>
            </a:r>
          </a:p>
        </p:txBody>
      </p:sp>
      <p:sp>
        <p:nvSpPr>
          <p:cNvPr id="35" name="Oval 34"/>
          <p:cNvSpPr/>
          <p:nvPr/>
        </p:nvSpPr>
        <p:spPr>
          <a:xfrm>
            <a:off x="6236207" y="2514600"/>
            <a:ext cx="384048" cy="384048"/>
          </a:xfrm>
          <a:prstGeom prst="ellipse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7" y="2578608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1" y="2468880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Prove what was built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1" y="2761488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Immutable artifact + SBOM + signature + provenance</a:t>
            </a:r>
          </a:p>
        </p:txBody>
      </p:sp>
      <p:sp>
        <p:nvSpPr>
          <p:cNvPr id="39" name="Oval 38"/>
          <p:cNvSpPr/>
          <p:nvPr/>
        </p:nvSpPr>
        <p:spPr>
          <a:xfrm>
            <a:off x="6236207" y="3410711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7" y="3474720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1" y="3364991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Test the running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1" y="3657599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DAST/API tests in staging; safe authenticated coverage</a:t>
            </a:r>
          </a:p>
        </p:txBody>
      </p:sp>
      <p:sp>
        <p:nvSpPr>
          <p:cNvPr id="43" name="Oval 42"/>
          <p:cNvSpPr/>
          <p:nvPr/>
        </p:nvSpPr>
        <p:spPr>
          <a:xfrm>
            <a:off x="6236207" y="4306824"/>
            <a:ext cx="384048" cy="38404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7" y="4370832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1" y="4261104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Promote, never rebuild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1" y="4553712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The same digest moves from test → stage → production</a:t>
            </a:r>
          </a:p>
        </p:txBody>
      </p:sp>
      <p:sp>
        <p:nvSpPr>
          <p:cNvPr id="47" name="Oval 46"/>
          <p:cNvSpPr/>
          <p:nvPr/>
        </p:nvSpPr>
        <p:spPr>
          <a:xfrm>
            <a:off x="6236207" y="5202936"/>
            <a:ext cx="384048" cy="38404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7" y="5266944"/>
            <a:ext cx="3840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1" y="5157216"/>
            <a:ext cx="23774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Operate securely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1" y="5449824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A8B3C5"/>
                </a:solidFill>
                <a:latin typeface="Aptos"/>
              </a:rPr>
              <a:t>Monitor, rescan, patch, rollback and 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From the current deck to a production-grade DevSecOps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Your current sequence is a solid start. The target adds source integrity, IaC/container gates, SBOM, signing/provenance, policy-as-code and runtime feedback.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53218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54864" cy="4480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4956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Current baseline captured in your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39696"/>
            <a:ext cx="49377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• Preflight → checkout → Gitleaks/Trivy IaC → install → build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Trivy SCA + SonarQube → Nexus → deploy → validation/rollback → ZAP DAST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Examples recorded in the source deck: Trivy 0.71.2, Dependency-Check 12.2.2, Semgrep 1.168.0, SonarQube 26.6.0.123539-community, ZAP 2.17.0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Good foundations: fast-fail security, artifact repository, deployment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572768"/>
            <a:ext cx="5303520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572768"/>
            <a:ext cx="54864" cy="44805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37360"/>
            <a:ext cx="493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Target state — added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139696"/>
            <a:ext cx="4919472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• Threat model + security requirements before coding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Protected source, code review, CI identity hardening and third-party action pinning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SCA + SBOM + license policy + container image scan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Artifact signing + SLSA-style provenance + immutable promotion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DAST/API tests in pre-production + admission policy + runtime monitoring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Formal vulnerability SLA and time-bound risk acceptance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STANDARDS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Standards and frameworks behind this 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There is no single universal “mandatory DevSecOps pipeline.” Industry practice combines governance, verification and supply-chain controls.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NIST SP 800-218 • OWASP ASVS/SAMM • SLSA v1.2 • CycloneDX/SPDX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17904"/>
            <a:ext cx="2697480" cy="19659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17904"/>
            <a:ext cx="54864" cy="1965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682495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NIST SSDF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084831"/>
            <a:ext cx="2313432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B3C5"/>
                </a:solidFill>
                <a:latin typeface="Aptos"/>
              </a:rPr>
              <a:t>Prepare the Organization • Protect the Software • Produce Well-Secured Software • Respond to Vulnerabilities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517904"/>
            <a:ext cx="2697480" cy="19659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3008" y="1517904"/>
            <a:ext cx="54864" cy="1965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1682495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OWASP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084831"/>
            <a:ext cx="2313432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B3C5"/>
                </a:solidFill>
                <a:latin typeface="Aptos"/>
              </a:rPr>
              <a:t>ASVS defines verification requirements. SAMM measures maturity. DevSecOps guidance maps security activities into CI/CD.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517904"/>
            <a:ext cx="2697480" cy="19659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517904"/>
            <a:ext cx="54864" cy="19659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1682495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SLSA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084831"/>
            <a:ext cx="2313432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B3C5"/>
                </a:solidFill>
                <a:latin typeface="Aptos"/>
              </a:rPr>
              <a:t>Build and Source tracks add provenance, hosted/hardened build expectations and source change-control assurances.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98864" y="1517904"/>
            <a:ext cx="2331720" cy="19659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1517904"/>
            <a:ext cx="54864" cy="1965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1682495"/>
            <a:ext cx="1965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SBOM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084831"/>
            <a:ext cx="1947672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A8B3C5"/>
                </a:solidFill>
                <a:latin typeface="Aptos"/>
              </a:rPr>
              <a:t>CycloneDX and SPDX provide interoperable formats for component, license and supply-chain transparency.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739896"/>
            <a:ext cx="5413248" cy="190195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739896"/>
            <a:ext cx="54864" cy="19019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904487"/>
            <a:ext cx="5047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Recommended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306824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A8B3C5"/>
                </a:solidFill>
                <a:latin typeface="Aptos"/>
              </a:rPr>
              <a:t>• Use NIST SSDF as the organizational control framework.</a:t>
            </a:r>
            <a:br/>
            <a:r>
              <a:rPr sz="1030" b="0" i="0">
                <a:solidFill>
                  <a:srgbClr val="A8B3C5"/>
                </a:solidFill>
                <a:latin typeface="Aptos"/>
              </a:rPr>
              <a:t>• Map application requirements to OWASP ASVS 5.0.</a:t>
            </a:r>
            <a:br/>
            <a:r>
              <a:rPr sz="1030" b="0" i="0">
                <a:solidFill>
                  <a:srgbClr val="A8B3C5"/>
                </a:solidFill>
                <a:latin typeface="Aptos"/>
              </a:rPr>
              <a:t>• Use OWASP SAMM to measure and mature the program.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3739896"/>
            <a:ext cx="5303520" cy="190195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3739896"/>
            <a:ext cx="54864" cy="19019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3904487"/>
            <a:ext cx="493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Supply-chain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306824"/>
            <a:ext cx="49194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A8B3C5"/>
                </a:solidFill>
                <a:latin typeface="Aptos"/>
              </a:rPr>
              <a:t>• Generate and retain SBOM for every release.</a:t>
            </a:r>
            <a:br/>
            <a:r>
              <a:rPr sz="1030" b="0" i="0">
                <a:solidFill>
                  <a:srgbClr val="A8B3C5"/>
                </a:solidFill>
                <a:latin typeface="Aptos"/>
              </a:rPr>
              <a:t>• Sign release artifacts and verify before deployment.</a:t>
            </a:r>
            <a:br/>
            <a:r>
              <a:rPr sz="1030" b="0" i="0">
                <a:solidFill>
                  <a:srgbClr val="A8B3C5"/>
                </a:solidFill>
                <a:latin typeface="Aptos"/>
              </a:rPr>
              <a:t>• Adopt SLSA provenance; use stronger hosted/hardened builders for critical software.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Golden pipeline — recommended security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Fast checks run first. Expensive or intrusive tests run later. A failed hard gate stops promotion.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627632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755648"/>
            <a:ext cx="310896" cy="310896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01368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1746504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048256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Threat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203704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1929384" y="213055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57400" y="1627632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67128" y="1755648"/>
            <a:ext cx="310896" cy="310896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67128" y="1801368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746504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048256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Review + protect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37560" y="2203704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3364991" y="213055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93008" y="1627632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02736" y="1755648"/>
            <a:ext cx="310896" cy="310896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1801368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5928" y="1746504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Secrets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2048256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Gitleaks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73168" y="2203704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evron 29"/>
          <p:cNvSpPr/>
          <p:nvPr/>
        </p:nvSpPr>
        <p:spPr>
          <a:xfrm>
            <a:off x="4800600" y="213055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28616" y="1627632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38344" y="1755648"/>
            <a:ext cx="310896" cy="310896"/>
          </a:xfrm>
          <a:prstGeom prst="ellipse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8344" y="1801368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1536" y="1746504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Deps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1536" y="2048256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SCA + lock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08775" y="2203704"/>
            <a:ext cx="137161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evron 36"/>
          <p:cNvSpPr/>
          <p:nvPr/>
        </p:nvSpPr>
        <p:spPr>
          <a:xfrm>
            <a:off x="6236207" y="213055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64224" y="1627632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73952" y="1755648"/>
            <a:ext cx="310896" cy="310896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1801368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67144" y="1746504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7144" y="2048256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SAST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644383" y="2203704"/>
            <a:ext cx="137161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evron 43"/>
          <p:cNvSpPr/>
          <p:nvPr/>
        </p:nvSpPr>
        <p:spPr>
          <a:xfrm>
            <a:off x="7671816" y="213055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799832" y="1627632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09560" y="1755648"/>
            <a:ext cx="310896" cy="310896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1801368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2" y="1746504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IaC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2048256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Misconfig scan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79992" y="2203704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hevron 50"/>
          <p:cNvSpPr/>
          <p:nvPr/>
        </p:nvSpPr>
        <p:spPr>
          <a:xfrm>
            <a:off x="9107424" y="213055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235440" y="1627632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45167" y="1755648"/>
            <a:ext cx="310896" cy="310896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45167" y="1801368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1746504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Test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38360" y="2048256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Unit/integration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515600" y="2203704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hevron 57"/>
          <p:cNvSpPr/>
          <p:nvPr/>
        </p:nvSpPr>
        <p:spPr>
          <a:xfrm>
            <a:off x="10543032" y="213055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671048" y="1627632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80776" y="1755648"/>
            <a:ext cx="310896" cy="310896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80776" y="1801368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73968" y="1746504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Build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73968" y="2048256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Ephemeral runner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" y="3575304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1520" y="3703320"/>
            <a:ext cx="310896" cy="310896"/>
          </a:xfrm>
          <a:prstGeom prst="ellipse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3749040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" y="3694176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Image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" y="3995928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Container scan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901952" y="4151376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hevron 69"/>
          <p:cNvSpPr/>
          <p:nvPr/>
        </p:nvSpPr>
        <p:spPr>
          <a:xfrm>
            <a:off x="1929384" y="4078224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057400" y="3575304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67128" y="3703320"/>
            <a:ext cx="310896" cy="310896"/>
          </a:xfrm>
          <a:prstGeom prst="ellipse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67128" y="3749040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60320" y="3694176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SBOM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60320" y="3995928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CycloneDX/SPDX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337560" y="4151376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Chevron 76"/>
          <p:cNvSpPr/>
          <p:nvPr/>
        </p:nvSpPr>
        <p:spPr>
          <a:xfrm>
            <a:off x="3364991" y="4078224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493008" y="3575304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602736" y="3703320"/>
            <a:ext cx="310896" cy="310896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02736" y="3749040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95928" y="3694176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Sign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95928" y="3995928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Artifact + provenance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773168" y="4151376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hevron 83"/>
          <p:cNvSpPr/>
          <p:nvPr/>
        </p:nvSpPr>
        <p:spPr>
          <a:xfrm>
            <a:off x="4800600" y="4078224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928616" y="3575304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038344" y="3703320"/>
            <a:ext cx="310896" cy="310896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38344" y="3749040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31536" y="3694176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Publish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31536" y="3995928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Immutable repo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208775" y="4151376"/>
            <a:ext cx="137161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Chevron 90"/>
          <p:cNvSpPr/>
          <p:nvPr/>
        </p:nvSpPr>
        <p:spPr>
          <a:xfrm>
            <a:off x="6236207" y="4078224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364224" y="3575304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73952" y="3703320"/>
            <a:ext cx="310896" cy="310896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73952" y="3749040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67144" y="3694176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Stage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67144" y="3995928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Deploy same digest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644383" y="4151376"/>
            <a:ext cx="137161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Chevron 97"/>
          <p:cNvSpPr/>
          <p:nvPr/>
        </p:nvSpPr>
        <p:spPr>
          <a:xfrm>
            <a:off x="7671816" y="4078224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799832" y="3575304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909560" y="3703320"/>
            <a:ext cx="310896" cy="310896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09560" y="3749040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02752" y="3694176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DAST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02752" y="3995928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Web/API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9079992" y="4151376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Chevron 104"/>
          <p:cNvSpPr/>
          <p:nvPr/>
        </p:nvSpPr>
        <p:spPr>
          <a:xfrm>
            <a:off x="9107424" y="4078224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235440" y="3575304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345167" y="3703320"/>
            <a:ext cx="310896" cy="310896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345167" y="3749040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38360" y="3694176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Policy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38360" y="3995928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Admission checks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515600" y="4151376"/>
            <a:ext cx="1371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hevron 111"/>
          <p:cNvSpPr/>
          <p:nvPr/>
        </p:nvSpPr>
        <p:spPr>
          <a:xfrm>
            <a:off x="10543032" y="4078224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671048" y="3575304"/>
            <a:ext cx="1271016" cy="1152144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780776" y="3703320"/>
            <a:ext cx="310896" cy="310896"/>
          </a:xfrm>
          <a:prstGeom prst="ellipse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780776" y="3749040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173968" y="3694176"/>
            <a:ext cx="6492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Prod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173968" y="3995928"/>
            <a:ext cx="65836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Progressive release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77440" y="5806440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8B5CF6"/>
                </a:solidFill>
                <a:latin typeface="Aptos"/>
              </a:rPr>
              <a:t>Feedback loop → backlog, patch, retest, incident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Put each control in the right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Do not run every scanner at every stage. Optimize for feedback speed, coverage and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64208"/>
            <a:ext cx="2075688" cy="425196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64208"/>
            <a:ext cx="2075688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874519"/>
            <a:ext cx="1783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Developer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2304288"/>
            <a:ext cx="1143000" cy="310896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363724"/>
            <a:ext cx="1051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07792"/>
            <a:ext cx="17556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B3C5"/>
                </a:solidFill>
                <a:latin typeface="Aptos"/>
              </a:rPr>
              <a:t>Secret pre-commit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Lint / type checks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Focused SAST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Unit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34924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Aptos"/>
              </a:rPr>
              <a:t>SHIFT LEFT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16936" y="1664208"/>
            <a:ext cx="2075688" cy="425196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16936" y="1664208"/>
            <a:ext cx="2075688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1874519"/>
            <a:ext cx="1783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Pull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2304288"/>
            <a:ext cx="1143000" cy="310896"/>
          </a:xfrm>
          <a:prstGeom prst="roundRect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363724"/>
            <a:ext cx="1051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2907792"/>
            <a:ext cx="17556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B3C5"/>
                </a:solidFill>
                <a:latin typeface="Aptos"/>
              </a:rPr>
              <a:t>Secrets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SCA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SAST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IaC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Unit +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34924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0C2D6"/>
                </a:solidFill>
                <a:latin typeface="Aptos"/>
              </a:rPr>
              <a:t>SHIFT LEFT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3792" y="1664208"/>
            <a:ext cx="2075688" cy="425196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93792" y="1664208"/>
            <a:ext cx="2075688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0096" y="1874519"/>
            <a:ext cx="1783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Build &amp; package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2304288"/>
            <a:ext cx="114300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5816" y="2363724"/>
            <a:ext cx="1051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Minutes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096" y="2907792"/>
            <a:ext cx="17556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B3C5"/>
                </a:solidFill>
                <a:latin typeface="Aptos"/>
              </a:rPr>
              <a:t>Clean build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Image scan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SBOM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Sign + provenance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534924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Aptos"/>
              </a:rPr>
              <a:t>SHIFT RIGHT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0648" y="1664208"/>
            <a:ext cx="2075688" cy="425196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70648" y="1664208"/>
            <a:ext cx="2075688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6952" y="1874519"/>
            <a:ext cx="1783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Pre-production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16952" y="2304288"/>
            <a:ext cx="1143000" cy="31089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2363724"/>
            <a:ext cx="1051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Minutes–hours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2" y="2907792"/>
            <a:ext cx="17556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B3C5"/>
                </a:solidFill>
                <a:latin typeface="Aptos"/>
              </a:rPr>
              <a:t>DAST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API tests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Policy checks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Performance / resilience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2" y="534924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2C55E"/>
                </a:solidFill>
                <a:latin typeface="Aptos"/>
              </a:rPr>
              <a:t>SHIFT RIGHT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47504" y="1664208"/>
            <a:ext cx="2075688" cy="425196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47504" y="1664208"/>
            <a:ext cx="207568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93808" y="1874519"/>
            <a:ext cx="1783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Production + continuous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93808" y="2304288"/>
            <a:ext cx="114300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39528" y="2363724"/>
            <a:ext cx="1051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Ongoing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3808" y="2907792"/>
            <a:ext cx="175564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B3C5"/>
                </a:solidFill>
                <a:latin typeface="Aptos"/>
              </a:rPr>
              <a:t>Runtime detection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Rescan artifacts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Patch SLAs</a:t>
            </a:r>
            <a:br/>
            <a:r>
              <a:rPr sz="1000" b="0" i="0">
                <a:solidFill>
                  <a:srgbClr val="A8B3C5"/>
                </a:solidFill>
                <a:latin typeface="Aptos"/>
              </a:rPr>
              <a:t>Vulnerability response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534924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Aptos"/>
              </a:rPr>
              <a:t>SHIFT RIGHT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Design gates as policy — not as “scanner succeeded”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The finding is input. The decision includes severity, exploitability, reachability, asset criticality and documented exceptions.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520440" cy="438912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4864" cy="4389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1907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Hard gate — stop the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21408"/>
            <a:ext cx="3136392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A8B3C5"/>
                </a:solidFill>
                <a:latin typeface="Aptos"/>
              </a:rPr>
              <a:t>• Confirmed secret exposure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Known-exploited vulnerability in shipped component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Unapproved critical vulnerability in new code or image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Unsigned/unverified production artifact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Failed mandatory tests or admission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54480"/>
            <a:ext cx="3520440" cy="438912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54480"/>
            <a:ext cx="54864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1907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Soft gate — allow with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21408"/>
            <a:ext cx="3136392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A8B3C5"/>
                </a:solidFill>
                <a:latin typeface="Aptos"/>
              </a:rPr>
              <a:t>• Medium/low findings under risk threshold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Legacy debt outside “new code” policy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Non-exploitable finding with evidence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Time-bound waiver with owner/remediation date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Metrics-only control during staged adoption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493008" cy="438912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54864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19072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Evidence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21408"/>
            <a:ext cx="3108960" cy="3675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A8B3C5"/>
                </a:solidFill>
                <a:latin typeface="Aptos"/>
              </a:rPr>
              <a:t>• Tool report + rule/version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Commit SHA and artifact digest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Owner + ticket for every exception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Expiry date + compensating control</a:t>
            </a:r>
            <a:br/>
            <a:r>
              <a:rPr sz="1080" b="0" i="0">
                <a:solidFill>
                  <a:srgbClr val="A8B3C5"/>
                </a:solidFill>
                <a:latin typeface="Aptos"/>
              </a:rPr>
              <a:t>• Audit trail of release 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PREPARE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0 — prepare the organization before you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Security gates fail when nobody owns policy, false positives, exceptions or remediation.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NIST SSDF “Prepare the Organization” • OWASP SAMM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36192"/>
            <a:ext cx="5440680" cy="449884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36192"/>
            <a:ext cx="54864" cy="4498848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700784"/>
            <a:ext cx="5074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Define once at organization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03120"/>
            <a:ext cx="5056632" cy="3785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A8B3C5"/>
                </a:solidFill>
                <a:latin typeface="Aptos"/>
              </a:rPr>
              <a:t>• Application risk tiers: low / medium / high / critical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Approved languages, registries, base images and CI runners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Vulnerability policy: what blocks, what warns, remediation SLA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Secrets policy and approved secret stores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Required release evidence and retention period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Central rule sets for SAST/IaC/policy-as-code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536192"/>
            <a:ext cx="5303520" cy="449884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536192"/>
            <a:ext cx="54864" cy="44988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00784"/>
            <a:ext cx="493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Define per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919472" cy="3785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 i="0">
                <a:solidFill>
                  <a:srgbClr val="A8B3C5"/>
                </a:solidFill>
                <a:latin typeface="Aptos"/>
              </a:rPr>
              <a:t>• Threat model and abuse cases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Data classification and trust boundaries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ASVS target level / security requirements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Authentication, authorization and API expectations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DAST scope and test accounts</a:t>
            </a:r>
            <a:br/>
            <a:r>
              <a:rPr sz="1070" b="0" i="0">
                <a:solidFill>
                  <a:srgbClr val="A8B3C5"/>
                </a:solidFill>
                <a:latin typeface="Aptos"/>
              </a:rPr>
              <a:t>• Rollback / recovery objective and owner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SHIFT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1 — developer / pre-commit fast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Goal: catch mistakes in seconds before they become a pull-request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93008" cy="4443984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54864" cy="44439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Recommended local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39696"/>
            <a:ext cx="3108960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Secret scan on staged files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Formatter + lint + type checks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Unit tests for changed modules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Focused SAST rules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Dependency manifest sanity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Optional IaC/Dockerfile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72768"/>
            <a:ext cx="3493008" cy="4443984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72768"/>
            <a:ext cx="54864" cy="4443984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Developer experience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39696"/>
            <a:ext cx="3108960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Finish in seconds, not minutes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Give exact file/line + remediation guidance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Auto-fix safe formatting/lint issues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Local bypass only if CI still enforces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No production credentials on developer machines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72768"/>
            <a:ext cx="3493008" cy="4443984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72768"/>
            <a:ext cx="54864" cy="44439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Example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39696"/>
            <a:ext cx="3108960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pre-commit / Husky / lefthook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Gitleaks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ESLint, Ruff, Checkstyle, golangci-lint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Semgrep focused rules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Trivy config / Checkov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SOURCE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2 — protect source control and pull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A secure build cannot compensate for untrusted source or an uncontrolled merge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SLSA Source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09344"/>
            <a:ext cx="3493008" cy="437083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09344"/>
            <a:ext cx="54864" cy="43708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773936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Branch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76272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No direct pushes to protected branches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Require PR/MR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Require successful checks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Require current branch before merge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Restrict force-push/tag creation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09344"/>
            <a:ext cx="3493008" cy="437083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609344"/>
            <a:ext cx="54864" cy="43708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773936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Human change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76272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At least one reviewer; more for critical systems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CODEOWNERS for sensitive paths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Separate author and approver for high-risk changes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Review pipeline/IaC/dependency changes carefully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09344"/>
            <a:ext cx="3493008" cy="437083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609344"/>
            <a:ext cx="54864" cy="437083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773936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CI identity hygiene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76272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Short-lived tokens / OIDC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Minimum repo/cloud permissions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Pin third-party actions/plugins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Do not expose privileged secrets to untrusted forks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SECRET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3 — secret scanning: fail fast and rotate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Treat any committed credential as compromised. Removing it from Git does not undo exposure.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OWASP CI/CD Security 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3657600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54864" cy="4526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719072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Recommended scan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21408"/>
            <a:ext cx="3273552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Pre-commit: staged files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PR: changed files/worktree for speed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Scheduled: full repository/history scan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Artifact/image scan for copied secrets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Continuous default-branch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554480"/>
            <a:ext cx="3364992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554480"/>
            <a:ext cx="54864" cy="452628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719072"/>
            <a:ext cx="29992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Your Gitleaks baseline — improve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121408"/>
            <a:ext cx="2980944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0" i="0">
                <a:solidFill>
                  <a:srgbClr val="A8B3C5"/>
                </a:solidFill>
                <a:latin typeface="Aptos"/>
              </a:rPr>
              <a:t>• Workspace scan is useful for PR feedback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Do not rely only on current workspace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Add a scheduled history scan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Tune allowlists without masking real credentials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554480"/>
            <a:ext cx="3511296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554480"/>
            <a:ext cx="54864" cy="4526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719072"/>
            <a:ext cx="3145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On a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21408"/>
            <a:ext cx="3127248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1. Block merge/release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2. Revoke / rotate immediately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3. Move secret to vault/workload identity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4. Clean source history if needed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5. Investigate use/logs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6. Record root cause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SCA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4 — dependency control, SCA and license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SCA is more than CVE lookup: control what enters the build and know exactly what 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93008" cy="446227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54864" cy="446227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Before installation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39696"/>
            <a:ext cx="31089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Require lockfiles/version constraints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Use trusted registries or internal proxy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Review new direct dependencies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Prefer pinned reproducible resolution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Prevent unexpected package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72768"/>
            <a:ext cx="3493008" cy="446227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72768"/>
            <a:ext cx="54864" cy="44622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During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39696"/>
            <a:ext cx="31089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Scan direct + transitive dependencies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Check vulnerabilities + license policy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Correlate with reachability where supported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Fail on policy, not CVSS alone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Export SARIF/JSON where possible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72768"/>
            <a:ext cx="3493008" cy="446227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72768"/>
            <a:ext cx="54864" cy="44622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Tools and your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39696"/>
            <a:ext cx="31089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• Trivy filesystem/repository scan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OWASP Dependency-Check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osv-scanner, Grype, native ecosystem audits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• Lockfile analysis is usually the important source of truth; scanning installed modules may add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SBOM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5 — generate an SBOM for every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The SBOM is release evidence: store it with the artifact and use it for later vulnerability response.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CycloneDX • SPDX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09344"/>
            <a:ext cx="3438144" cy="43434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09344"/>
            <a:ext cx="54864" cy="434340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773936"/>
            <a:ext cx="30723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What to include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176272"/>
            <a:ext cx="3054096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Application + transitive components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Package identifiers + versions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Dependency relationships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Licenses/supplier metadata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Hash/link to exact release artifact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609344"/>
            <a:ext cx="3438144" cy="43434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609344"/>
            <a:ext cx="54864" cy="4343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773936"/>
            <a:ext cx="30723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Formats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176272"/>
            <a:ext cx="3054096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0" i="0">
                <a:solidFill>
                  <a:srgbClr val="A8B3C5"/>
                </a:solidFill>
                <a:latin typeface="Aptos"/>
              </a:rPr>
              <a:t>• CycloneDX — supply-chain/security oriented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SPDX — ISO/IEC standardized BOM format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Choose one canonical enterprise format; accept others where customer/ecosystem requires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09344"/>
            <a:ext cx="3493008" cy="43434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609344"/>
            <a:ext cx="54864" cy="4343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773936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Operationalize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76272"/>
            <a:ext cx="310896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Attach SBOM to release/registry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Sign or attest SBOM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Continuously rescan inventory as CVEs emerge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Use VEX/equivalent for applicability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SAST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6 — SAST: scan source before you build the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Use high-signal rules in pull requests; broader rules can run on the default branch or scheduled scans.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474720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4864" cy="4526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1907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What SAST finds 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21408"/>
            <a:ext cx="3090672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Injection patterns / unsafe APIs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Insecure cryptography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Path traversal / SSRF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XSS sources/sinks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Hardcoded secret-like values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Unsafe deserialization / command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554480"/>
            <a:ext cx="3502152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554480"/>
            <a:ext cx="54864" cy="452628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719072"/>
            <a:ext cx="3136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Recommended gate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21408"/>
            <a:ext cx="3118104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Block new critical/high-confidence findings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Separate “new code” from legacy debt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Tune noisy rules centrally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Require review for suppressed high findings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Export SARIF/JSON where possible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493008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54864" cy="4526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19072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Tooling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21408"/>
            <a:ext cx="3108960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Semgrep — fast rules/dataflow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SonarQube — quality + security gate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CodeQL — semantic analysis where supported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Language-specific analyzers complement general SAST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IAC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7 — scan Infrastructure as Code before resources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Misconfiguration scanning belongs before deployment, with admission policy as a second line of defense.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2542032" cy="3337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54864" cy="3337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828800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Terraform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31136"/>
            <a:ext cx="2157984" cy="262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Public exposure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Encryption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IAM wildcards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Logging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Network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64208"/>
            <a:ext cx="2542032" cy="3337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64208"/>
            <a:ext cx="54864" cy="33375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828800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Kubernetes 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231136"/>
            <a:ext cx="2157984" cy="262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Privileged pods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Host mounts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Root user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Capabilities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Resource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664208"/>
            <a:ext cx="2542032" cy="3337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664208"/>
            <a:ext cx="54864" cy="3337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828800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Dockerfile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231136"/>
            <a:ext cx="2157984" cy="262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Root user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Secrets in layers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Unpinned base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Unneeded packages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Unsafe install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1664208"/>
            <a:ext cx="2542032" cy="3337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1664208"/>
            <a:ext cx="54864" cy="3337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1828800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Cloud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231136"/>
            <a:ext cx="2157984" cy="262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Open storage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Weak IAM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Unencrypted data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Public endpoints</a:t>
            </a:r>
            <a:br/>
            <a:r>
              <a:rPr sz="1019" b="0" i="0">
                <a:solidFill>
                  <a:srgbClr val="A8B3C5"/>
                </a:solidFill>
                <a:latin typeface="Aptos"/>
              </a:rPr>
              <a:t>Missing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30368"/>
            <a:ext cx="10881360" cy="6858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54864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394959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Common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97296"/>
            <a:ext cx="10497312" cy="-27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Trivy config • Checkov • KICS • Terrascan • OPA/Conftest for organization policy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BUILD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8 — harden the build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The CI runner is part of your software supply chain. Treat it as production-grade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SLSA Build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72768"/>
            <a:ext cx="54864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Runner / agent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Ephemeral runners for release builds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Patch runner images/software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Avoid privileged Docker-in-Docker where possible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Restrict egress where feasible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Separate untrusted PR jobs from privileged jobs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72768"/>
            <a:ext cx="54864" cy="44805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Build reproducibility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Pin toolchains and dependencies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Use clean workspace + deterministic inputs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Capture compiler/build-tool version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Same artifact through all environments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Keep logs/checksums as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572768"/>
            <a:ext cx="54864" cy="4480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Automated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Unit tests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Integration / contract tests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Security tests for authn/authz edge cases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Database migration tests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Fail before packaging on broken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9 — container image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Scan the image that will run, not only the repository. A secure source tree can still produce a vulnerable image.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54864" cy="4480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Build the image safely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Minimal trusted base image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Pin base by digest for critical releases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Run as non-root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Multi-stage builds remove compilers/secrets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Do not bake credentials into layers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72768"/>
            <a:ext cx="54864" cy="44805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Scan the final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OS + application packages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Known vulnerabilities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Secrets in layers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Configuration issues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Record image digest used for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72768"/>
            <a:ext cx="54864" cy="4480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Trivy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Grype / Anchore tooling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Registry-native scanners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Policy engine validates vuln/signature state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ARTIFACT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10 — sign the artifact and capture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A signature answers “who/what authorized this artifact?” Provenance answers “how and from what source was it built?”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SLSA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72768"/>
            <a:ext cx="54864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Artifact signing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Sign image/package digest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Use protected KMS/HSM or keyless identity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Keep signing credentials outside user steps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Verify signature before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72768"/>
            <a:ext cx="54864" cy="44805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Provenance / attestation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Source repo + commit SHA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Build workflow / builder identity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Inputs and output digests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Build time/metadata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Link SBOM/test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572768"/>
            <a:ext cx="54864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Practical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Sigstore / Cosign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SLSA provenance formats / generators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in-toto attestations where appropriate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Admission policy blocks untrusted images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ARTIFACT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11 — publish once, promote the same immutable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Never rebuild separately for staging and production. Promotion should move the same digest through environments.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2423160" cy="22860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920240"/>
            <a:ext cx="54864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084832"/>
            <a:ext cx="2057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487168"/>
            <a:ext cx="2039112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8B3C5"/>
                </a:solidFill>
                <a:latin typeface="Aptos"/>
              </a:rPr>
              <a:t>Create artifact once</a:t>
            </a:r>
            <a:br/>
            <a:r>
              <a:rPr sz="1100" b="0" i="0">
                <a:solidFill>
                  <a:srgbClr val="A8B3C5"/>
                </a:solidFill>
                <a:latin typeface="Aptos"/>
              </a:rPr>
              <a:t>Record digest</a:t>
            </a:r>
            <a:br/>
            <a:r>
              <a:rPr sz="1100" b="0" i="0">
                <a:solidFill>
                  <a:srgbClr val="A8B3C5"/>
                </a:solidFill>
                <a:latin typeface="Aptos"/>
              </a:rPr>
              <a:t>Sign + attest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3054096"/>
            <a:ext cx="1280160" cy="0"/>
          </a:xfrm>
          <a:prstGeom prst="line">
            <a:avLst/>
          </a:prstGeom>
          <a:ln w="19050">
            <a:solidFill>
              <a:srgbClr val="00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4462272" y="2980944"/>
            <a:ext cx="146304" cy="146304"/>
          </a:xfrm>
          <a:prstGeom prst="chevron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26864" y="1810512"/>
            <a:ext cx="2834640" cy="260604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26864" y="1810512"/>
            <a:ext cx="54864" cy="260604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1" y="1975104"/>
            <a:ext cx="2468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NEXUS / ARTIFACTORY /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2377440"/>
            <a:ext cx="2450592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Immutable release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SBOM + signature + provenance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Retention + access 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79" y="3054096"/>
            <a:ext cx="1261873" cy="0"/>
          </a:xfrm>
          <a:prstGeom prst="line">
            <a:avLst/>
          </a:prstGeom>
          <a:ln w="190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8650224" y="2980944"/>
            <a:ext cx="146304" cy="146304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51392" y="1920240"/>
            <a:ext cx="2423160" cy="22860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51392" y="1920240"/>
            <a:ext cx="54864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084832"/>
            <a:ext cx="2057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PROMOTE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487168"/>
            <a:ext cx="2039112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8B3C5"/>
                </a:solidFill>
                <a:latin typeface="Aptos"/>
              </a:rPr>
              <a:t>Dev → Stage → Prod</a:t>
            </a:r>
            <a:br/>
            <a:r>
              <a:rPr sz="1100" b="0" i="0">
                <a:solidFill>
                  <a:srgbClr val="A8B3C5"/>
                </a:solidFill>
                <a:latin typeface="Aptos"/>
              </a:rPr>
              <a:t>Same digest</a:t>
            </a:r>
            <a:br/>
            <a:r>
              <a:rPr sz="1100" b="0" i="0">
                <a:solidFill>
                  <a:srgbClr val="A8B3C5"/>
                </a:solidFill>
                <a:latin typeface="Aptos"/>
              </a:rPr>
              <a:t>Verify before deploy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00600"/>
            <a:ext cx="10451592" cy="102412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800600"/>
            <a:ext cx="54864" cy="10241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965192"/>
            <a:ext cx="100858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Required repository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367528"/>
            <a:ext cx="10067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Immutability • vulnerability metadata • retention • least privilege • quarantine/revocation • audit log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12 — deploy to test/staging using the exact release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Environment-specific configuration and secrets are injected at deploy time — not embedded in the artifact.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54864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Before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Verify artifact digest/signature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Verify provenance/trusted builder where required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Apply versioned configuration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Fetch secrets from secret store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Validate migrations/feature flags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72768"/>
            <a:ext cx="54864" cy="44805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Deployment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Health/readiness checks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Smoke tests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Synthetic transaction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Configuration drift check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Rollback path tested/automated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72768"/>
            <a:ext cx="54864" cy="4480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Secrets and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Vault/cloud secret manager/workload identity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No long-lived cloud keys in CI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Environment-specific service account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Minimum deployment permissions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Audit privileged deployment actions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DAST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13 — DAST: test the running application in pre-production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DAST should be scoped, authenticated where possible, and safe for the target environment.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520440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4864" cy="4526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1907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21408"/>
            <a:ext cx="3136392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Spider/crawl reachable pages/endpoints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Import OpenAPI / GraphQL definitions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Use test credentials for authenticated routes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Capture exact deployed version/digest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54480"/>
            <a:ext cx="3520440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54480"/>
            <a:ext cx="54864" cy="4526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1907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21408"/>
            <a:ext cx="3136392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A8B3C5"/>
                </a:solidFill>
                <a:latin typeface="Aptos"/>
              </a:rPr>
              <a:t>• Passive checks: headers/cookies/disclosure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Active checks: injections/server-side weaknesses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Intrusive scans only in controlled non-prod</a:t>
            </a:r>
            <a:br/>
            <a:r>
              <a:rPr sz="1060" b="0" i="0">
                <a:solidFill>
                  <a:srgbClr val="A8B3C5"/>
                </a:solidFill>
                <a:latin typeface="Aptos"/>
              </a:rPr>
              <a:t>• Use rate limits and safe payload policies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493008" cy="45262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54864" cy="452628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19072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ZAP guidance for your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21408"/>
            <a:ext cx="3108960" cy="3813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A8B3C5"/>
                </a:solidFill>
                <a:latin typeface="Aptos"/>
              </a:rPr>
              <a:t>• Baseline scan for fast passive coverage</a:t>
            </a:r>
            <a:br/>
            <a:r>
              <a:rPr sz="1030" b="0" i="0">
                <a:solidFill>
                  <a:srgbClr val="A8B3C5"/>
                </a:solidFill>
                <a:latin typeface="Aptos"/>
              </a:rPr>
              <a:t>• Full/active scan in staging on release/schedule</a:t>
            </a:r>
            <a:br/>
            <a:r>
              <a:rPr sz="1030" b="0" i="0">
                <a:solidFill>
                  <a:srgbClr val="A8B3C5"/>
                </a:solidFill>
                <a:latin typeface="Aptos"/>
              </a:rPr>
              <a:t>• Excluding static assets can reduce load/noise</a:t>
            </a:r>
            <a:br/>
            <a:r>
              <a:rPr sz="1030" b="0" i="0">
                <a:solidFill>
                  <a:srgbClr val="A8B3C5"/>
                </a:solidFill>
                <a:latin typeface="Aptos"/>
              </a:rPr>
              <a:t>• Do not broadly exclude dynamic endpoints by path/extension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API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14 — API security needs dedicated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A web scanner alone does not prove authorization correctness, schema handling or business-logic security.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54864" cy="44805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Automate from the API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Import OpenAPI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Validate request/response schema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Fuzz parameters/boundaries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Test unexpected methods/content types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Detect undocumented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72768"/>
            <a:ext cx="54864" cy="4480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Security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Authentication bypass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BOLA / IDOR authorization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Role/tenant isolation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Mass assignment / over-posting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Rate limits/abuse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Sensitive data exposure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72768"/>
            <a:ext cx="54864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Tool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OWASP ZAP + OpenAPI import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Schemathesis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Postman/Newman security collections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42Crunch / API security platforms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KUBERNETES /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15 — policy-as-code at deployment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Shift-left scans prevent mistakes; admission policy prevents bypass. Use both.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664208"/>
            <a:ext cx="2057400" cy="34290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1664208"/>
            <a:ext cx="54864" cy="342900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" y="1828800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30" b="1" i="0">
                <a:solidFill>
                  <a:srgbClr val="F8FAFC"/>
                </a:solidFill>
                <a:latin typeface="Aptos"/>
              </a:rPr>
              <a:t>Verify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" y="2231136"/>
            <a:ext cx="1673352" cy="2715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Trusted registry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Digest pin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Valid signature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664208"/>
            <a:ext cx="2057400" cy="34290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1664208"/>
            <a:ext cx="54864" cy="3429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1828800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30" b="1" i="0">
                <a:solidFill>
                  <a:srgbClr val="F8FAFC"/>
                </a:solidFill>
                <a:latin typeface="Aptos"/>
              </a:rPr>
              <a:t>Restrict privilege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231136"/>
            <a:ext cx="1673352" cy="2715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No privileged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No hostPath by default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Drop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1664208"/>
            <a:ext cx="2057400" cy="34290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3" y="1664208"/>
            <a:ext cx="54864" cy="3429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0951" y="1828800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30" b="1" i="0">
                <a:solidFill>
                  <a:srgbClr val="F8FAFC"/>
                </a:solidFill>
                <a:latin typeface="Aptos"/>
              </a:rPr>
              <a:t>Enforce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1" y="2231136"/>
            <a:ext cx="1673352" cy="2715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Non-root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Service account rules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No default token if unused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9208" y="1664208"/>
            <a:ext cx="2057400" cy="34290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9208" y="1664208"/>
            <a:ext cx="54864" cy="3429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0376" y="1828800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30" b="1" i="0">
                <a:solidFill>
                  <a:srgbClr val="F8FAFC"/>
                </a:solidFill>
                <a:latin typeface="Aptos"/>
              </a:rPr>
              <a:t>Require resilience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2231136"/>
            <a:ext cx="1673352" cy="2715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CPU/memory limits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Probes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Replica 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28632" y="1664208"/>
            <a:ext cx="2057400" cy="34290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28632" y="1664208"/>
            <a:ext cx="54864" cy="3429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1828800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30" b="1" i="0">
                <a:solidFill>
                  <a:srgbClr val="F8FAFC"/>
                </a:solidFill>
                <a:latin typeface="Aptos"/>
              </a:rPr>
              <a:t>Protect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231136"/>
            <a:ext cx="1673352" cy="2715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No secrets in manifest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Approved namespaces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Network policies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21808"/>
            <a:ext cx="10899648" cy="694944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321808"/>
            <a:ext cx="54864" cy="6949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486400"/>
            <a:ext cx="105338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Common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5888736"/>
            <a:ext cx="10515600" cy="-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Kyverno • OPA Gatekeeper • Conftest • Kubescape • cloud admission / policy services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RELEASE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Pre-production release decision — explicit pass / fail / exception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Every security gate must end in an auditable decision. “Scanner completed” is not a release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554480" cy="65836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679192"/>
            <a:ext cx="11887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Aptos"/>
              </a:rPr>
              <a:t>Candidate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81528"/>
            <a:ext cx="1170432" cy="-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5"/>
                </a:solidFill>
                <a:latin typeface="Aptos"/>
              </a:rPr>
              <a:t>ready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58568" y="2843784"/>
            <a:ext cx="621792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2770632" y="277063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2944368" y="2121408"/>
            <a:ext cx="1554480" cy="1444752"/>
          </a:xfrm>
          <a:prstGeom prst="diamond">
            <a:avLst/>
          </a:prstGeom>
          <a:solidFill>
            <a:srgbClr val="13243A"/>
          </a:solidFill>
          <a:ln w="25400"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2968" y="2532888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Aptos"/>
              </a:rPr>
              <a:t>All hard</a:t>
            </a:r>
            <a:br/>
            <a:r>
              <a:rPr sz="1050" b="1" i="0">
                <a:solidFill>
                  <a:srgbClr val="F8FAFC"/>
                </a:solidFill>
                <a:latin typeface="Aptos"/>
              </a:rPr>
              <a:t>gates pass?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26280" y="2843784"/>
            <a:ext cx="704088" cy="0"/>
          </a:xfrm>
          <a:prstGeom prst="line">
            <a:avLst/>
          </a:prstGeom>
          <a:ln w="190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5120640" y="2770632"/>
            <a:ext cx="146304" cy="146304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542032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  <a:latin typeface="Aptos"/>
              </a:rPr>
              <a:t>YES</a:t>
            </a:r>
          </a:p>
        </p:txBody>
      </p:sp>
      <p:sp>
        <p:nvSpPr>
          <p:cNvPr id="21" name="Diamond 20"/>
          <p:cNvSpPr/>
          <p:nvPr/>
        </p:nvSpPr>
        <p:spPr>
          <a:xfrm>
            <a:off x="5285232" y="2121408"/>
            <a:ext cx="1554480" cy="1444752"/>
          </a:xfrm>
          <a:prstGeom prst="diamond">
            <a:avLst/>
          </a:prstGeom>
          <a:solidFill>
            <a:srgbClr val="13243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3832" y="2532888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Aptos"/>
              </a:rPr>
              <a:t>Any open</a:t>
            </a:r>
            <a:br/>
            <a:r>
              <a:rPr sz="1050" b="1" i="0">
                <a:solidFill>
                  <a:srgbClr val="F8FAFC"/>
                </a:solidFill>
                <a:latin typeface="Aptos"/>
              </a:rPr>
              <a:t>exception?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67144" y="2843784"/>
            <a:ext cx="722376" cy="0"/>
          </a:xfrm>
          <a:prstGeom prst="line">
            <a:avLst/>
          </a:prstGeom>
          <a:ln w="190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7479792" y="2770632"/>
            <a:ext cx="146304" cy="146304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254203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  <a:latin typeface="Aptos"/>
              </a:rPr>
              <a:t>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62672" y="2514600"/>
            <a:ext cx="1600200" cy="65836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62672" y="2514600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67919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Aptos"/>
              </a:rPr>
              <a:t>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081528"/>
            <a:ext cx="1216152" cy="-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8B3C5"/>
                </a:solidFill>
                <a:latin typeface="Aptos"/>
              </a:rPr>
              <a:t>approved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90304" y="2843784"/>
            <a:ext cx="768096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9948672" y="2770632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31552" y="2514600"/>
            <a:ext cx="1325880" cy="65836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31552" y="2514600"/>
            <a:ext cx="54864" cy="658368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2679192"/>
            <a:ext cx="9601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Aptos"/>
              </a:rPr>
              <a:t>PROMOTE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081528"/>
            <a:ext cx="941832" cy="-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</p:txBody>
      </p:sp>
      <p:cxnSp>
        <p:nvCxnSpPr>
          <p:cNvPr id="36" name="Connector 35"/>
          <p:cNvCxnSpPr/>
          <p:nvPr/>
        </p:nvCxnSpPr>
        <p:spPr>
          <a:xfrm>
            <a:off x="3730752" y="3593592"/>
            <a:ext cx="0" cy="658368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evron 36"/>
          <p:cNvSpPr/>
          <p:nvPr/>
        </p:nvSpPr>
        <p:spPr>
          <a:xfrm rot="5400000">
            <a:off x="3657600" y="4142232"/>
            <a:ext cx="146304" cy="146304"/>
          </a:xfrm>
          <a:prstGeom prst="chevr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697480" y="4343400"/>
            <a:ext cx="2066543" cy="74980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97480" y="4343400"/>
            <a:ext cx="54864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98648" y="4507992"/>
            <a:ext cx="17007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Aptos"/>
              </a:rPr>
              <a:t>Fix / update / retest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98648" y="4910328"/>
            <a:ext cx="1682495" cy="36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</p:txBody>
      </p:sp>
      <p:cxnSp>
        <p:nvCxnSpPr>
          <p:cNvPr id="42" name="Connector 41"/>
          <p:cNvCxnSpPr/>
          <p:nvPr/>
        </p:nvCxnSpPr>
        <p:spPr>
          <a:xfrm>
            <a:off x="6053328" y="3593592"/>
            <a:ext cx="0" cy="658368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evron 42"/>
          <p:cNvSpPr/>
          <p:nvPr/>
        </p:nvSpPr>
        <p:spPr>
          <a:xfrm rot="5400000">
            <a:off x="5980176" y="4142232"/>
            <a:ext cx="146304" cy="146304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919472" y="4343400"/>
            <a:ext cx="2267712" cy="74980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19472" y="4343400"/>
            <a:ext cx="54864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4507992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Validate waiver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910328"/>
            <a:ext cx="1883664" cy="36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 i="0">
                <a:solidFill>
                  <a:srgbClr val="A8B3C5"/>
                </a:solidFill>
                <a:latin typeface="Aptos"/>
              </a:rPr>
              <a:t>Owner + expiry + compensating control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214616" y="4718304"/>
            <a:ext cx="996696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evron 48"/>
          <p:cNvSpPr/>
          <p:nvPr/>
        </p:nvSpPr>
        <p:spPr>
          <a:xfrm>
            <a:off x="8101584" y="4645152"/>
            <a:ext cx="146304" cy="146304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iamond 49"/>
          <p:cNvSpPr/>
          <p:nvPr/>
        </p:nvSpPr>
        <p:spPr>
          <a:xfrm>
            <a:off x="8284464" y="4087368"/>
            <a:ext cx="1481328" cy="1261872"/>
          </a:xfrm>
          <a:prstGeom prst="diamond">
            <a:avLst/>
          </a:prstGeom>
          <a:solidFill>
            <a:srgbClr val="13243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3064" y="4443984"/>
            <a:ext cx="1024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Aptos"/>
              </a:rPr>
              <a:t>Approved</a:t>
            </a:r>
            <a:br/>
            <a:r>
              <a:rPr sz="1000" b="1" i="0">
                <a:solidFill>
                  <a:srgbClr val="F8FAFC"/>
                </a:solidFill>
                <a:latin typeface="Aptos"/>
              </a:rPr>
              <a:t>waiver?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802368" y="4718304"/>
            <a:ext cx="713232" cy="0"/>
          </a:xfrm>
          <a:prstGeom prst="line">
            <a:avLst/>
          </a:prstGeom>
          <a:ln w="190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hevron 52"/>
          <p:cNvSpPr/>
          <p:nvPr/>
        </p:nvSpPr>
        <p:spPr>
          <a:xfrm>
            <a:off x="10405872" y="4645152"/>
            <a:ext cx="146304" cy="146304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588752" y="4389120"/>
            <a:ext cx="932688" cy="64008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588752" y="4389120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89920" y="4553712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Aptos"/>
              </a:rPr>
              <a:t>RELEASE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4956048"/>
            <a:ext cx="548640" cy="-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Stage 16 — production release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Production should add controlled promotion, blast-radius reduction and automatic rollback — not rebuild the 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54864" cy="4480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Release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Change record/release metadata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Verify signature, digest, evidence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Separation of duties for critical systems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Manual approval only where risk/compliance requires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72768"/>
            <a:ext cx="54864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Progressive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Canary or blue/green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Small initial traffic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Error/latency/security health checks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Automatic halt on regression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Rollback to known-good digest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72768"/>
            <a:ext cx="54864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After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Smoke/synthetic tests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Configuration verification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Deployment audit/attestation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Light passive security check if approved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Avoid aggressive production DAST by default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OPERATE &amp; RESPOND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Runtime security closes the DevSecOps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Security does not end at deployment. New CVEs, attacks and configuration drift appear after release.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NIST SSDF “Respond to Vulnerabilities”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72768"/>
            <a:ext cx="54864" cy="448056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Application/authentication logs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Cloud/Kubernetes audit logs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WAF/API gateway events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Runtime behavior/eBPF detections where justified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Central SIEM/detection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72768"/>
            <a:ext cx="54864" cy="4480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Continuously reassess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Rescan stored images/SBOM inventory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Monitor new CVEs and exploitation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Detect EOL components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Track configuration drift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Retest after major changes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72768"/>
            <a:ext cx="3493008" cy="44805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572768"/>
            <a:ext cx="54864" cy="4480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737360"/>
            <a:ext cx="3127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Respond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39696"/>
            <a:ext cx="310896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B3C5"/>
                </a:solidFill>
                <a:latin typeface="Aptos"/>
              </a:rPr>
              <a:t>• Patch/rebuild/redeploy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Revoke compromised artifacts/keys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Rollback on exploitation/regression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Root-cause analysis + rule updates</a:t>
            </a:r>
            <a:br/>
            <a:r>
              <a:rPr sz="1050" b="0" i="0">
                <a:solidFill>
                  <a:srgbClr val="A8B3C5"/>
                </a:solidFill>
                <a:latin typeface="Aptos"/>
              </a:rPr>
              <a:t>• Vulnerability disclosure process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Prioritize vulnerabilities with context — not CVSS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A strong gate considers exploitation evidence, reachability and business impact.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547104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718096"/>
                </a:solidFill>
                <a:latin typeface="Aptos"/>
              </a:rPr>
              <a:t>CISA KEV • FIRST EPSS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2057400" cy="18288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00200"/>
            <a:ext cx="54864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76479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67128"/>
            <a:ext cx="1673352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8B3C5"/>
                </a:solidFill>
                <a:latin typeface="Aptos"/>
              </a:rPr>
              <a:t>CVSS/tool severity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1600200"/>
            <a:ext cx="2057400" cy="18288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1600200"/>
            <a:ext cx="54864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8" y="176479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Exploitation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67128"/>
            <a:ext cx="1673352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8B3C5"/>
                </a:solidFill>
                <a:latin typeface="Aptos"/>
              </a:rPr>
              <a:t>CISA KEV / exploit intel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600200"/>
            <a:ext cx="2057400" cy="18288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160020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176479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Probability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2167128"/>
            <a:ext cx="1673352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8B3C5"/>
                </a:solidFill>
                <a:latin typeface="Aptos"/>
              </a:rPr>
              <a:t>EPSS or equivalent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600200"/>
            <a:ext cx="2057400" cy="18288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600200"/>
            <a:ext cx="54864" cy="182880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176479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Reachability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2167128"/>
            <a:ext cx="1673352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8B3C5"/>
                </a:solidFill>
                <a:latin typeface="Aptos"/>
              </a:rPr>
              <a:t>Is vulnerable code reachable?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600200"/>
            <a:ext cx="2057400" cy="182880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60020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2368" y="176479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 i="0">
                <a:solidFill>
                  <a:srgbClr val="F8FAFC"/>
                </a:solidFill>
                <a:latin typeface="Aptos"/>
              </a:rPr>
              <a:t>Asset criticality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2167128"/>
            <a:ext cx="1673352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A8B3C5"/>
                </a:solidFill>
                <a:latin typeface="Aptos"/>
              </a:rPr>
              <a:t>Exposure, data, privilege, blast radius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794760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70" b="1" i="0">
                <a:solidFill>
                  <a:srgbClr val="F8FAFC"/>
                </a:solidFill>
                <a:latin typeface="Aptos"/>
              </a:rPr>
              <a:t>Example remediation policy (starting point — ratify with AppSec and business owners)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58368" y="416052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4572000"/>
                <a:gridCol w="3337560"/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8FAFC"/>
                          </a:solidFill>
                          <a:latin typeface="Aptos"/>
                        </a:rPr>
                        <a:t>Risk signal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8FAFC"/>
                          </a:solidFill>
                          <a:latin typeface="Aptos"/>
                        </a:rPr>
                        <a:t>Default action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8FAFC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Known exploited / active incident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Block release or emergency remediate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Immediate / emergency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Critical + reachable + internet exposed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Block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24–72 hours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High + reachable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Block new releases; urgent fix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≤ 7 days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Medium / low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Track and fix by SLA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30–90 days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Accepted false positive / not applicable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Document evidence + expiry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F8FAFC"/>
                          </a:solidFill>
                          <a:latin typeface="Aptos"/>
                        </a:rPr>
                        <a:t>Periodic review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Risk acceptance must be a workflow — not a permanent suppression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Every waiver should have an owner, rationale, compensating control and expiry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1673352" cy="160020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1956816"/>
            <a:ext cx="310896" cy="310896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002536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947672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Finding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249424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Tool + policy triggers gate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40864" y="2624328"/>
            <a:ext cx="155447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2386583" y="2551176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23744" y="1828800"/>
            <a:ext cx="1673352" cy="160020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33472" y="1956816"/>
            <a:ext cx="310896" cy="310896"/>
          </a:xfrm>
          <a:prstGeom prst="ellipse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002536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3" y="1947672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6663" y="2249424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Validate exploitability / false positive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06240" y="2624328"/>
            <a:ext cx="155448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4251959" y="2551176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1828800"/>
            <a:ext cx="1673352" cy="160020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98848" y="1956816"/>
            <a:ext cx="310896" cy="310896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002536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947672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Fix preferred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249424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Patch, upgrade, code/config change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71616" y="2624328"/>
            <a:ext cx="155448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evron 29"/>
          <p:cNvSpPr/>
          <p:nvPr/>
        </p:nvSpPr>
        <p:spPr>
          <a:xfrm>
            <a:off x="6117336" y="2551176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54496" y="1828800"/>
            <a:ext cx="1673352" cy="160020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2002536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1947672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Exception request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7416" y="2249424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Business reason + risk + compensating control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36992" y="2624328"/>
            <a:ext cx="155448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evron 36"/>
          <p:cNvSpPr/>
          <p:nvPr/>
        </p:nvSpPr>
        <p:spPr>
          <a:xfrm>
            <a:off x="7982712" y="2551176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19872" y="1828800"/>
            <a:ext cx="1673352" cy="160020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29600" y="1956816"/>
            <a:ext cx="310896" cy="310896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2002536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1947672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Approve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2792" y="2249424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AppSec / risk owner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802368" y="2624328"/>
            <a:ext cx="155448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evron 43"/>
          <p:cNvSpPr/>
          <p:nvPr/>
        </p:nvSpPr>
        <p:spPr>
          <a:xfrm>
            <a:off x="9848088" y="2551176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85248" y="1828800"/>
            <a:ext cx="1673352" cy="1600200"/>
          </a:xfrm>
          <a:prstGeom prst="roundRect">
            <a:avLst/>
          </a:prstGeom>
          <a:solidFill>
            <a:srgbClr val="0F1B2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94976" y="1956816"/>
            <a:ext cx="310896" cy="310896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94976" y="2002536"/>
            <a:ext cx="31089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8111F"/>
                </a:solidFill>
                <a:latin typeface="Aptos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8168" y="1947672"/>
            <a:ext cx="1051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1" i="0">
                <a:solidFill>
                  <a:srgbClr val="F8FAFC"/>
                </a:solidFill>
                <a:latin typeface="Aptos"/>
              </a:rPr>
              <a:t>Expire &amp;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88168" y="2249424"/>
            <a:ext cx="1060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A8B3C5"/>
                </a:solidFill>
                <a:latin typeface="Aptos"/>
              </a:rPr>
              <a:t>Automatic reopen before expiry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3913632"/>
            <a:ext cx="5303520" cy="171907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" y="3913632"/>
            <a:ext cx="54864" cy="17190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" y="4078224"/>
            <a:ext cx="493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30" b="1" i="0">
                <a:solidFill>
                  <a:srgbClr val="F8FAFC"/>
                </a:solidFill>
                <a:latin typeface="Aptos"/>
              </a:rPr>
              <a:t>Minimum exception fields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4480560"/>
            <a:ext cx="491947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A8B3C5"/>
                </a:solidFill>
                <a:latin typeface="Aptos"/>
              </a:rPr>
              <a:t>Finding ID • artifact/commit • owner • business justification • impact • compensating control • approver • expiry • remediation ticket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36208" y="3913632"/>
            <a:ext cx="5303520" cy="171907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36208" y="3913632"/>
            <a:ext cx="54864" cy="17190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7376" y="4078224"/>
            <a:ext cx="493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30" b="1" i="0">
                <a:solidFill>
                  <a:srgbClr val="F8FAFC"/>
                </a:solidFill>
                <a:latin typeface="Aptos"/>
              </a:rPr>
              <a:t>Never do this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7376" y="4480560"/>
            <a:ext cx="491947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A8B3C5"/>
                </a:solidFill>
                <a:latin typeface="Aptos"/>
              </a:rPr>
              <a:t>Permanent ignore without owner • broad wildcard suppression • suppress because deadline is close • reuse waiver for different version/environment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TOOLING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Tool examples by language / application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Pick one primary tool per control, standardize it, and add specialists only where the language or risk justifies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72768"/>
          <a:ext cx="11045952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14600"/>
                <a:gridCol w="2743200"/>
                <a:gridCol w="2057400"/>
                <a:gridCol w="2359152"/>
              </a:tblGrid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Stack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Dependency / SCA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SAST / code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Quality / lint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Test / DAST complements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JavaScript / TypeScript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npm audit / osv-scanner / Trivy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Semgrep • SonarJS • CodeQL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ESLint • TypeScript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Jest/Vitest • ZAP • Schemathesis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Java / Kotlin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OWASP Dependency-Check • Trivy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Semgrep • SonarJava • CodeQL • FindSecBugs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Checkstyle • SpotBugs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JUnit • ZAP • API contract tests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Python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pip-audit • osv-scanner • Trivy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Bandit • Semgrep • CodeQL • SonarPython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Ruff • mypy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pytest • ZAP • Schemathesis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.NET / C#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NuGet/dotnet audit • Trivy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CodeQL • Semgrep • SonarC#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dotnet analyzers • StyleCop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xUnit/NUnit • ZAP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Go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govulncheck • osv-scanner • Trivy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gosec • CodeQL • Semgrep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golangci-lint • staticcheck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go test • ZAP/API tests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Rust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cargo-audit • cargo-deny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Semgrep + specialist SAST as needed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clippy • rustfmt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cargo test • API/DAST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PHP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composer audit • osv-scanner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Semgrep • SonarPHP • Psalm taint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PHP_CodeSniffer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PHPUnit • ZAP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3504" y="619963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718096"/>
                </a:solidFill>
                <a:latin typeface="Aptos"/>
              </a:rPr>
              <a:t>Tool suitability, licensing and coverage vary by edition and language version. Validate in a proof-of-concept before standardizing.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TOOLING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Common tools by DevSecOps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The best enterprise stack is usually a small standardized set with centralized policy and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54480"/>
          <a:ext cx="11045952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34640"/>
                <a:gridCol w="3886200"/>
                <a:gridCol w="2907792"/>
              </a:tblGrid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Open / common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Common enterprise alternatives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F8FAFC"/>
                          </a:solidFill>
                          <a:latin typeface="Aptos"/>
                        </a:rPr>
                        <a:t>Pipeline output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</a:tr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Secrets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Gitleaks • TruffleHog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GitHub/GitLab native secret scanning • enterprise secret platforms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Pass/fail + finding + rotation ticket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SCA / SBOM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Trivy • OWASP Dependency-Check • Syft • osv-scanner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Snyk • Mend • Black Duck • Sonatype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CVE/license report + SBOM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SAST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Semgrep • SonarQube • CodeQL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Checkmarx • Veracode • Fortify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SARIF/JSON + quality gate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IaC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Trivy config • Checkov • KICS • Conftest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Wiz Code • Prisma Cloud • Snyk IaC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Policy violations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Container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Trivy • Grype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Aqua • Anchore Enterprise • Prisma Cloud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Image CVEs + secrets + misconfig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DAST / API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OWASP ZAP • Schemathesis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Burp Suite Enterprise • Invicti • 42Crunch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Web/API findings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Signing / provenance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Cosign/Sigstore • in-toto • SLSA generators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KMS/HSM-backed signing / CI-native attestations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Signature + provenance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520192"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Admission / runtime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Kyverno • OPA Gatekeeper • Falco • Tetragon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Cloud/K8s security platforms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F8FAFC"/>
                          </a:solidFill>
                          <a:latin typeface="Aptos"/>
                        </a:rPr>
                        <a:t>Policy decision + runtime alerts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EXAMPLE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Example pipeline — Node.js /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This keeps your current toolset, but places each control in a stronger industry-aligned sequence.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08760"/>
            <a:ext cx="5577840" cy="4553712"/>
          </a:xfrm>
          <a:prstGeom prst="roundRect">
            <a:avLst/>
          </a:prstGeom>
          <a:solidFill>
            <a:srgbClr val="07101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08760"/>
            <a:ext cx="45720" cy="455371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655063"/>
            <a:ext cx="5266944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90" b="0" i="0">
                <a:solidFill>
                  <a:srgbClr val="C9D4E5"/>
                </a:solidFill>
                <a:latin typeface="Aptos Mono"/>
              </a:rPr>
              <a:t>01  checkout protected commit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02  gitleaks  → block confirmed secrets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03  trivy config / IaC checks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04  npm ci  → use lockfile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05  SCA: Trivy + Dependency-Check / OSV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06  lint + typecheck + unit tests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07  Semgrep + SonarQube quality gate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08  npm run build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09  container build → Trivy image scan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10  generate SBOM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11  sign image + provenance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12  publish to Nexus/registry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13  deploy exact digest to staging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14  smoke + ZAP baseline / API tests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15  approved release → progressive prod 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1508760"/>
            <a:ext cx="5065776" cy="2084831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3952" y="1508760"/>
            <a:ext cx="54864" cy="208483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73351"/>
            <a:ext cx="47000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Hard gates to start with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75688"/>
            <a:ext cx="4681728" cy="1371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A8B3C5"/>
                </a:solidFill>
                <a:latin typeface="Aptos"/>
              </a:rPr>
              <a:t>• Secret detected → stop</a:t>
            </a:r>
            <a:br/>
            <a:r>
              <a:rPr sz="980" b="0" i="0">
                <a:solidFill>
                  <a:srgbClr val="A8B3C5"/>
                </a:solidFill>
                <a:latin typeface="Aptos"/>
              </a:rPr>
              <a:t>• Build/tests fail → stop</a:t>
            </a:r>
            <a:br/>
            <a:r>
              <a:rPr sz="980" b="0" i="0">
                <a:solidFill>
                  <a:srgbClr val="A8B3C5"/>
                </a:solidFill>
                <a:latin typeface="Aptos"/>
              </a:rPr>
              <a:t>• New critical/high-confidence SAST → stop</a:t>
            </a:r>
            <a:br/>
            <a:r>
              <a:rPr sz="980" b="0" i="0">
                <a:solidFill>
                  <a:srgbClr val="A8B3C5"/>
                </a:solidFill>
                <a:latin typeface="Aptos"/>
              </a:rPr>
              <a:t>• Known-exploited or critical reachable SCA/image → stop</a:t>
            </a:r>
            <a:br/>
            <a:r>
              <a:rPr sz="980" b="0" i="0">
                <a:solidFill>
                  <a:srgbClr val="A8B3C5"/>
                </a:solidFill>
                <a:latin typeface="Aptos"/>
              </a:rPr>
              <a:t>• Unsigned release artifact → stop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3794760"/>
            <a:ext cx="5065776" cy="2267712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3952" y="3794760"/>
            <a:ext cx="54864" cy="22677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959352"/>
            <a:ext cx="47000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Keep from your original deck — with refinement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61688"/>
            <a:ext cx="46817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• Trivy for SCA/IaC/image scans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SonarQube + Semgrep for complementary static analysis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Nexus for artifact handling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ZAP after staging deployment, not as a source-code gate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EXAMPLE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Example pipeline — Java / Spring 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A Java stack uses the same control sequence with Maven/Gradle-specific dependency and test tooling.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36192"/>
            <a:ext cx="5623560" cy="4480560"/>
          </a:xfrm>
          <a:prstGeom prst="roundRect">
            <a:avLst/>
          </a:prstGeom>
          <a:solidFill>
            <a:srgbClr val="07101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36192"/>
            <a:ext cx="45720" cy="4480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682495"/>
            <a:ext cx="5312664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90" b="0" i="0">
                <a:solidFill>
                  <a:srgbClr val="C9D4E5"/>
                </a:solidFill>
                <a:latin typeface="Aptos Mono"/>
              </a:rPr>
              <a:t>01  checkout + branch protection evidence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02  Gitleaks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03  Trivy/Checkov for IaC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04  Maven/Gradle resolution from trusted proxy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05  Dependency-Check / Trivy SCA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06  JUnit + integration tests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07  Semgrep / SonarJava / CodeQL / FindSecBugs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08  package JAR/WAR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09  build image + image scan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10  SBOM + signature + provenance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11  publish artifact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12  staging deploy + smoke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13  ZAP / API security tests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14  promote same digest to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536192"/>
            <a:ext cx="5047488" cy="19659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536192"/>
            <a:ext cx="54864" cy="1965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1700784"/>
            <a:ext cx="4681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Java-specific watch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2103120"/>
            <a:ext cx="466344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• Transitive Maven/Gradle dependency depth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Deserialization/expression-language risks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Framework/plugin versions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Container/JRE base image patching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12463"/>
            <a:ext cx="5047488" cy="230428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712463"/>
            <a:ext cx="54864" cy="2304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3877055"/>
            <a:ext cx="4681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Recommended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4279392"/>
            <a:ext cx="466344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• Resolved dependency inventory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Dependency-Check/Trivy report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JUnit/integration report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SAST/Sonar quality gate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SBOM + signed image digest + DAST report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EXAMPLE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Example pipeline — Python / FastAPI /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Python benefits from ecosystem-specific dependency and code checks while supply-chain controls remain the same.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36192"/>
            <a:ext cx="5623560" cy="4480560"/>
          </a:xfrm>
          <a:prstGeom prst="roundRect">
            <a:avLst/>
          </a:prstGeom>
          <a:solidFill>
            <a:srgbClr val="07101D"/>
          </a:solidFill>
          <a:ln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36192"/>
            <a:ext cx="45720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682495"/>
            <a:ext cx="5312664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90" b="0" i="0">
                <a:solidFill>
                  <a:srgbClr val="C9D4E5"/>
                </a:solidFill>
                <a:latin typeface="Aptos Mono"/>
              </a:rPr>
              <a:t>01  checkout protected commit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02  Gitleaks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03  Trivy/Checkov for IaC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04  install pinned dependencies / hashes where feasible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05  pip-audit / OSV / Trivy SCA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06  Ruff + mypy + pytest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07  Bandit + Semgrep / CodeQL / SonarPython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08  build wheel / container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09  Trivy image scan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10  SBOM + sign + provenance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11  publish immutable artifact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12  staging + migration + smoke tests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13  ZAP + Schemathesis / API tests</a:t>
            </a:r>
            <a:br/>
            <a:r>
              <a:rPr sz="890" b="0" i="0">
                <a:solidFill>
                  <a:srgbClr val="C9D4E5"/>
                </a:solidFill>
                <a:latin typeface="Aptos Mono"/>
              </a:rPr>
              <a:t>14  promote same digest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536192"/>
            <a:ext cx="5047488" cy="19659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536192"/>
            <a:ext cx="54864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1700784"/>
            <a:ext cx="4681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Python-specific watch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2103120"/>
            <a:ext cx="466344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• Unpinned transitive dependencies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Unsafe deserialization/pickle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Template escaping/command execution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Debug mode / unsafe prod settings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12463"/>
            <a:ext cx="5047488" cy="230428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712463"/>
            <a:ext cx="54864" cy="2304288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3877055"/>
            <a:ext cx="4681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Framework security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4279392"/>
            <a:ext cx="466344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• Authentication/authorization tests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Tenant isolation / IDOR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CSRF/CORS/session policy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API schema fuzzing for FastAPI/OpenAPI</a:t>
            </a:r>
            <a:br/>
            <a:r>
              <a:rPr sz="990" b="0" i="0">
                <a:solidFill>
                  <a:srgbClr val="A8B3C5"/>
                </a:solidFill>
                <a:latin typeface="Aptos"/>
              </a:rPr>
              <a:t>• Database migration rollback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PLATFORM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The gate order stays the same across CI/CD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Jenkins, GitHub Actions, GitLab CI and Azure DevOps differ in syntax — not in the security control sequence.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27632"/>
            <a:ext cx="2542032" cy="324612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54864" cy="3246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792224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Jenkins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194560"/>
            <a:ext cx="2157984" cy="2532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A8B3C5"/>
                </a:solidFill>
                <a:latin typeface="Aptos"/>
              </a:rPr>
              <a:t>Shared Library / pipeline template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Ephemeral agents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Credentials binding / OIDC where 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27632"/>
            <a:ext cx="2542032" cy="324612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27632"/>
            <a:ext cx="54864" cy="3246120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792224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194560"/>
            <a:ext cx="2157984" cy="2532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A8B3C5"/>
                </a:solidFill>
                <a:latin typeface="Aptos"/>
              </a:rPr>
              <a:t>Reusable workflows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Protected environments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OIDC federation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Pin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627632"/>
            <a:ext cx="2542032" cy="324612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627632"/>
            <a:ext cx="54864" cy="3246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792224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GitLab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194560"/>
            <a:ext cx="2157984" cy="2532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A8B3C5"/>
                </a:solidFill>
                <a:latin typeface="Aptos"/>
              </a:rPr>
              <a:t>Includes/templates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Protected variables/environments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Security report artifacts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1627632"/>
            <a:ext cx="2542032" cy="324612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1627632"/>
            <a:ext cx="54864" cy="3246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1792224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Azure DevOps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94560"/>
            <a:ext cx="2157984" cy="2532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A8B3C5"/>
                </a:solidFill>
                <a:latin typeface="Aptos"/>
              </a:rPr>
              <a:t>YAML templates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Environment approvals/checks</a:t>
            </a:r>
            <a:br/>
            <a:r>
              <a:rPr sz="960" b="0" i="0">
                <a:solidFill>
                  <a:srgbClr val="A8B3C5"/>
                </a:solidFill>
                <a:latin typeface="Aptos"/>
              </a:rPr>
              <a:t>Service connections / federated identity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102352"/>
            <a:ext cx="10881360" cy="822960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102352"/>
            <a:ext cx="54864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266944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30" b="1" i="0">
                <a:solidFill>
                  <a:srgbClr val="F8FAFC"/>
                </a:solidFill>
                <a:latin typeface="Aptos"/>
              </a:rPr>
              <a:t>Enterprise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669280"/>
            <a:ext cx="1049731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9" b="0" i="0">
                <a:solidFill>
                  <a:srgbClr val="A8B3C5"/>
                </a:solidFill>
                <a:latin typeface="Aptos"/>
              </a:rPr>
              <a:t>Centralize the pipeline template and policy so teams inherit gates by default; deviations require a reviewed exception.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POLICY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Sample policy thresholds — a strong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These are reference defaults, not universal law. Adjust by application tier, exposure, regulation and false-positive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554480"/>
          <a:ext cx="1089964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977639"/>
                <a:gridCol w="5047488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29" b="1">
                          <a:solidFill>
                            <a:srgbClr val="F8FAFC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9" b="1">
                          <a:solidFill>
                            <a:srgbClr val="F8FAFC"/>
                          </a:solidFill>
                          <a:latin typeface="Aptos"/>
                        </a:rPr>
                        <a:t>Recommended default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9" b="1">
                          <a:solidFill>
                            <a:srgbClr val="F8FAFC"/>
                          </a:solidFill>
                          <a:latin typeface="Aptos"/>
                        </a:rPr>
                        <a:t>Why</a:t>
                      </a:r>
                    </a:p>
                  </a:txBody>
                  <a:tcPr marL="54864" marR="54864" marT="36576" marB="36576">
                    <a:solidFill>
                      <a:srgbClr val="1324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Secrets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0 confirmed secrets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Credential exposure requires rotation, not risk scoring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SAST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0 new critical/high-confidence exploitable findings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Prevents introducing new severe code weaknesses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SCA / image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0 known-exploited; 0 critical reachable for internet-facing apps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Prioritizes exploitation and reachability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IaC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0 critical misconfiguration; 0 prohibited org policies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Infrastructure mistakes can create immediate exposure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Tests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Mandatory suites pass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Security fixes without functional validation create risk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SBOM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Generated and stored for every release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Enables later response when new CVEs appear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Signature / provenance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Required for production releases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Prevents untrusted artifacts from promotion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DAST / API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0 new critical/high confirmed findings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Tests deployed behavior before production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Exception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Owner + approver + expiry + compensating control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F8FAFC"/>
                          </a:solidFill>
                          <a:latin typeface="Aptos"/>
                        </a:rPr>
                        <a:t>Prevents permanent silent suppression</a:t>
                      </a:r>
                    </a:p>
                  </a:txBody>
                  <a:tcPr marL="54864" marR="54864" marT="36576" marB="36576"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RELEASE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Every release should leave an evidence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This is what makes the pipeline auditable, reproducible and useful during an incident.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3401568" cy="175564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54864" cy="17556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828800"/>
            <a:ext cx="30358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31136"/>
            <a:ext cx="301752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Commit SHA • PR/MR • reviewers • change ticket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664208"/>
            <a:ext cx="3401568" cy="175564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664208"/>
            <a:ext cx="54864" cy="17556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828800"/>
            <a:ext cx="30358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231136"/>
            <a:ext cx="301752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Unit/integration/security test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664208"/>
            <a:ext cx="3401568" cy="175564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664208"/>
            <a:ext cx="54864" cy="17556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828800"/>
            <a:ext cx="30358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Security scans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31136"/>
            <a:ext cx="301752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Secrets • SCA • SAST • IaC • image • DAST/API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13048"/>
            <a:ext cx="3401568" cy="175564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13048"/>
            <a:ext cx="54864" cy="1755648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977639"/>
            <a:ext cx="30358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379976"/>
            <a:ext cx="301752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SBOM • artifact digest • signature • provenance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3813048"/>
            <a:ext cx="3401568" cy="175564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5968" y="3813048"/>
            <a:ext cx="54864" cy="17556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977639"/>
            <a:ext cx="30358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379976"/>
            <a:ext cx="301752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Environment • manifest/values • deployed digest • timestamp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3813048"/>
            <a:ext cx="3401568" cy="1755648"/>
          </a:xfrm>
          <a:prstGeom prst="roundRect">
            <a:avLst/>
          </a:prstGeom>
          <a:solidFill>
            <a:srgbClr val="0F1B2D"/>
          </a:solidFill>
          <a:ln w="1397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73568" y="3813048"/>
            <a:ext cx="54864" cy="17556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3977639"/>
            <a:ext cx="30358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379976"/>
            <a:ext cx="301752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90" b="0" i="0">
                <a:solidFill>
                  <a:srgbClr val="A8B3C5"/>
                </a:solidFill>
                <a:latin typeface="Aptos"/>
              </a:rPr>
              <a:t>Gate results • approver • exceptions • expiry 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907024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60" b="1" i="0">
                <a:solidFill>
                  <a:srgbClr val="00C2D6"/>
                </a:solidFill>
                <a:latin typeface="Aptos"/>
              </a:rPr>
              <a:t>Store evidence in an access-controlled, searchable system; make release records immutable where practical.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Implementation roadmap — 30 / 60 /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Start with high-signal controls, then add artifact trust and advanced runtime/policy enforcement.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64208"/>
            <a:ext cx="3502152" cy="4251960"/>
          </a:xfrm>
          <a:prstGeom prst="roundRect">
            <a:avLst/>
          </a:prstGeom>
          <a:solidFill>
            <a:srgbClr val="0F1B2D"/>
          </a:solidFill>
          <a:ln w="203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01952"/>
            <a:ext cx="1234440" cy="310896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61388"/>
            <a:ext cx="11430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0–30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Aptos"/>
              </a:rPr>
              <a:t>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0" i="0">
                <a:solidFill>
                  <a:srgbClr val="A8B3C5"/>
                </a:solidFill>
                <a:latin typeface="Aptos"/>
              </a:rPr>
              <a:t>• Protected branches + reviews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Gitleaks on PRs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SCA + SAST + IaC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Unit/integration gates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Central vulnerability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4568" y="1664208"/>
            <a:ext cx="3502152" cy="4251960"/>
          </a:xfrm>
          <a:prstGeom prst="roundRect">
            <a:avLst/>
          </a:prstGeom>
          <a:solidFill>
            <a:srgbClr val="0F1B2D"/>
          </a:solidFill>
          <a:ln w="20320"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27448" y="1901952"/>
            <a:ext cx="1234440" cy="310896"/>
          </a:xfrm>
          <a:prstGeom prst="roundRect">
            <a:avLst/>
          </a:prstGeom>
          <a:solidFill>
            <a:srgbClr val="00C2D6"/>
          </a:solidFill>
          <a:ln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1961388"/>
            <a:ext cx="11430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31–60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432304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Aptos"/>
              </a:rPr>
              <a:t>Supply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01752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0" i="0">
                <a:solidFill>
                  <a:srgbClr val="A8B3C5"/>
                </a:solidFill>
                <a:latin typeface="Aptos"/>
              </a:rPr>
              <a:t>• Container image scanning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SBOM on every release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Artifact signing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Immutable repository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Staging DAST/API 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6" y="1664208"/>
            <a:ext cx="3502152" cy="4251960"/>
          </a:xfrm>
          <a:prstGeom prst="roundRect">
            <a:avLst/>
          </a:prstGeom>
          <a:solidFill>
            <a:srgbClr val="0F1B2D"/>
          </a:solidFill>
          <a:ln w="203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40496" y="1901952"/>
            <a:ext cx="1234440" cy="31089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6216" y="1961388"/>
            <a:ext cx="11430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111F"/>
                </a:solidFill>
                <a:latin typeface="Aptos"/>
              </a:rPr>
              <a:t>61–90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2432304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Aptos"/>
              </a:rPr>
              <a:t>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301752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0" i="0">
                <a:solidFill>
                  <a:srgbClr val="A8B3C5"/>
                </a:solidFill>
                <a:latin typeface="Aptos"/>
              </a:rPr>
              <a:t>• Admission policy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Provenance verification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Progressive production deploy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Runtime monitoring + rescan</a:t>
            </a:r>
            <a:br/>
            <a:r>
              <a:rPr sz="1040" b="0" i="0">
                <a:solidFill>
                  <a:srgbClr val="A8B3C5"/>
                </a:solidFill>
                <a:latin typeface="Aptos"/>
              </a:rPr>
              <a:t>• Exception expiry automation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FINAL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Non-negotiable production pipeline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Use this as the “must obey” baseline. Severity thresholds can vary; these control principles should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38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444752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485900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141732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Protected source branch; no unreviewed direct production changes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112264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153412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08483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No confirmed secret in source, build output or image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2779775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0924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275234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Dependency lock/resolution is controlled and SCA is enforced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447288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488436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419856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SAST + tests run before release packaging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1148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55948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087368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IaC and container configuration are checked before 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782312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823460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" y="475488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Release artifact is immutable, scanned and uniquely identified by digest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5449824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490972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42239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SBOM is created and retained for every release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1444752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7" y="1485900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141732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Production artifact is signed; deployment verifies trust policy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2112264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7" y="2153412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0256" y="208483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The same artifact is promoted across environments — never rebuilt per environment</a:t>
            </a:r>
          </a:p>
        </p:txBody>
      </p:sp>
      <p:sp>
        <p:nvSpPr>
          <p:cNvPr id="37" name="Oval 36"/>
          <p:cNvSpPr/>
          <p:nvPr/>
        </p:nvSpPr>
        <p:spPr>
          <a:xfrm>
            <a:off x="6217920" y="2779775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7" y="2820924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275234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DAST/API tests run against staging before production for internet-facing apps</a:t>
            </a:r>
          </a:p>
        </p:txBody>
      </p:sp>
      <p:sp>
        <p:nvSpPr>
          <p:cNvPr id="40" name="Oval 39"/>
          <p:cNvSpPr/>
          <p:nvPr/>
        </p:nvSpPr>
        <p:spPr>
          <a:xfrm>
            <a:off x="6217920" y="3447288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7" y="3488436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0256" y="3419856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Production deployment is progressive/controlled with health-based rollback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4114800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7" y="4155948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4087368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Every exception is documented, approved, time-bound and revalidated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4782312"/>
            <a:ext cx="274320" cy="2743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7" y="4823460"/>
            <a:ext cx="237744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30" b="1" i="0">
                <a:solidFill>
                  <a:srgbClr val="08111F"/>
                </a:solidFill>
                <a:latin typeface="Aptos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256" y="475488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Aptos"/>
              </a:rPr>
              <a:t>Runtime monitoring and vulnerability response feed back into 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605332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80" b="1" i="0">
                <a:solidFill>
                  <a:srgbClr val="00C2D6"/>
                </a:solidFill>
                <a:latin typeface="Aptos"/>
              </a:rPr>
              <a:t>Key principle: block unsafe promotion, preserve evidence, and make the secure path the default path.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27432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C2D6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27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 Display"/>
              </a:rPr>
              <a:t>Primary references used for this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835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3C5"/>
                </a:solidFill>
                <a:latin typeface="Aptos"/>
              </a:rPr>
              <a:t>Use these as the baseline; add your organization’s regulatory and customer requirements on 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NIST SP 800-218 — Secure Software Development Framework (SSDF) v1.1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00784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2"/>
              </a:rPr>
              <a:t>https://csrc.nist.gov/pubs/sp/800/218/final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03704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NIST SSDF project / revision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87168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3"/>
              </a:rPr>
              <a:t>https://csrc.nist.gov/projects/ssdf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8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OWASP DevSecOps Guideline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73552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4"/>
              </a:rPr>
              <a:t>https://devguide.owasp.org/en/09-operations/01-devsecops/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76472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OWASP CI/CD Security Cheat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5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5"/>
              </a:rPr>
              <a:t>https://cheatsheetseries.owasp.org/cheatsheets/CI_CD_Security_Cheat_Sheet.html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62856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OWASP Application Security Verification Standard (ASVS) 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46320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6"/>
              </a:rPr>
              <a:t>https://owasp.org/projects/asvs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OWASP Software Assurance Maturity Model (SAMM)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32703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7"/>
              </a:rPr>
              <a:t>https://owasp.org/projects/samm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417320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SLSA Specification v1.2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700784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8"/>
              </a:rPr>
              <a:t>https://slsa.dev/spec/v1.2/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03704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CycloneDX Specification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487168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9"/>
              </a:rPr>
              <a:t>https://cyclonedx.org/specification/overview/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90088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SPDX Specifications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73552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10"/>
              </a:rPr>
              <a:t>https://spdx.dev/use/specifications/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76472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CISA Known Exploited Vulnerabilities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59935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11"/>
              </a:rPr>
              <a:t>https://www.cisa.gov/known-exploited-vulnerabilities-catalog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562856"/>
            <a:ext cx="5074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F8FAFC"/>
                </a:solidFill>
                <a:latin typeface="Aptos"/>
              </a:rPr>
              <a:t>FIRST EPSS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846320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00C2D6"/>
                </a:solidFill>
                <a:latin typeface="Aptos"/>
                <a:hlinkClick r:id="rId12"/>
              </a:rPr>
              <a:t>https://www.first.org/epss/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21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565392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Aptos"/>
              </a:rPr>
              <a:t>DEVSECOPS 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096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1498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Aptos Display"/>
              </a:rPr>
              <a:t>Build trust into every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0C2D6"/>
                </a:solidFill>
                <a:latin typeface="Aptos"/>
              </a:rPr>
              <a:t>Fast feedback → verified build → trusted artifact → safe deployment → continuous response</a:t>
            </a:r>
          </a:p>
        </p:txBody>
      </p:sp>
      <p:sp>
        <p:nvSpPr>
          <p:cNvPr id="9" name="Oval 8"/>
          <p:cNvSpPr/>
          <p:nvPr/>
        </p:nvSpPr>
        <p:spPr>
          <a:xfrm>
            <a:off x="1234440" y="3154680"/>
            <a:ext cx="1261872" cy="1261872"/>
          </a:xfrm>
          <a:prstGeom prst="ellipse">
            <a:avLst/>
          </a:prstGeom>
          <a:solidFill>
            <a:srgbClr val="0F1B2D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3639312"/>
            <a:ext cx="104241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3B82F6"/>
                </a:solidFill>
                <a:latin typeface="Aptos"/>
              </a:rPr>
              <a:t>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3785615"/>
            <a:ext cx="5943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2999232" y="3712463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72968" y="3154680"/>
            <a:ext cx="1261872" cy="1261872"/>
          </a:xfrm>
          <a:prstGeom prst="ellipse">
            <a:avLst/>
          </a:prstGeom>
          <a:solidFill>
            <a:srgbClr val="0F1B2D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2696" y="3639312"/>
            <a:ext cx="104241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8B5CF6"/>
                </a:solidFill>
                <a:latin typeface="Aptos"/>
              </a:rPr>
              <a:t>SCAN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3128" y="3785615"/>
            <a:ext cx="5943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4937759" y="3712463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11496" y="3154680"/>
            <a:ext cx="1261872" cy="1261872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4" y="3639312"/>
            <a:ext cx="104241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00C2D6"/>
                </a:solidFill>
                <a:latin typeface="Aptos"/>
              </a:rPr>
              <a:t>BUILD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91656" y="3785615"/>
            <a:ext cx="5943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6876288" y="3712463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0024" y="3154680"/>
            <a:ext cx="1261872" cy="1261872"/>
          </a:xfrm>
          <a:prstGeom prst="ellipse">
            <a:avLst/>
          </a:prstGeom>
          <a:solidFill>
            <a:srgbClr val="0F1B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3639312"/>
            <a:ext cx="104241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F59E0B"/>
                </a:solidFill>
                <a:latin typeface="Aptos"/>
              </a:rPr>
              <a:t>SIGN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30184" y="3785615"/>
            <a:ext cx="594360" cy="0"/>
          </a:xfrm>
          <a:prstGeom prst="line">
            <a:avLst/>
          </a:prstGeom>
          <a:ln w="19050">
            <a:solidFill>
              <a:srgbClr val="718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8814816" y="3712463"/>
            <a:ext cx="146304" cy="146304"/>
          </a:xfrm>
          <a:prstGeom prst="chevron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88552" y="3154680"/>
            <a:ext cx="1261872" cy="1261872"/>
          </a:xfrm>
          <a:prstGeom prst="ellipse">
            <a:avLst/>
          </a:prstGeom>
          <a:solidFill>
            <a:srgbClr val="0F1B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3639312"/>
            <a:ext cx="104241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22C55E"/>
                </a:solidFill>
                <a:latin typeface="Aptos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9204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8B3C5"/>
                </a:solidFill>
                <a:latin typeface="Aptos"/>
              </a:rPr>
              <a:t>The goal is not “more scans.” The goal is a release process that can prove what changed, what was tested, what was built, who approved it and exactly what reached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